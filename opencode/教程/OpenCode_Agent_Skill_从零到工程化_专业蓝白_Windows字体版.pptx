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6D8"/>
          </a:solidFill>
          <a:ln w="12700">
            <a:solidFill>
              <a:srgbClr val="166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47395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 Agent &amp; Skill · 从零到工程化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6473952"/>
            <a:ext cx="4251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基于教程 DOCX · 版本基线 2026-08-07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E2F50"/>
          </a:solidFill>
          <a:ln w="12700">
            <a:solidFill>
              <a:srgbClr val="0E2F5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197DD"/>
          </a:solidFill>
          <a:ln w="12700">
            <a:solidFill>
              <a:srgbClr val="3197D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1170432"/>
            <a:ext cx="26974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&amp; Skill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D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从零到工程化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入门级实战教程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1298448"/>
            <a:ext cx="69494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基于完整 DOCX 教程重新编排为课堂演示版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07408" y="1901952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Agent → 编写 Agent → 编写 Skill → 权限与调试 → 多 Agent → 企业 Skill Hub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34840" y="3749040"/>
            <a:ext cx="1143000" cy="310896"/>
          </a:xfrm>
          <a:prstGeom prst="rect">
            <a:avLst/>
          </a:prstGeom>
          <a:solidFill>
            <a:srgbClr val="1769D8"/>
          </a:solidFill>
          <a:ln>
            <a:solidFill>
              <a:srgbClr val="1769D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原理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742432" y="3749040"/>
            <a:ext cx="1234440" cy="310896"/>
          </a:xfrm>
          <a:prstGeom prst="rect">
            <a:avLst/>
          </a:prstGeom>
          <a:solidFill>
            <a:srgbClr val="2387BE"/>
          </a:solidFill>
          <a:ln>
            <a:solidFill>
              <a:srgbClr val="2387B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规范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150608" y="3749040"/>
            <a:ext cx="1234440" cy="310896"/>
          </a:xfrm>
          <a:prstGeom prst="rect">
            <a:avLst/>
          </a:prstGeom>
          <a:solidFill>
            <a:srgbClr val="2F7FD3"/>
          </a:solidFill>
          <a:ln>
            <a:solidFill>
              <a:srgbClr val="2F7F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权限安全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558784" y="3749040"/>
            <a:ext cx="1143000" cy="310896"/>
          </a:xfrm>
          <a:prstGeom prst="rect">
            <a:avLst/>
          </a:prstGeom>
          <a:solidFill>
            <a:srgbClr val="4A9DE0"/>
          </a:solidFill>
          <a:ln>
            <a:solidFill>
              <a:srgbClr val="4A9DE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434840" y="4590288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适合对象：第一次接触 OpenCode Agent / Skill 的开发者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4434840" y="5074920"/>
            <a:ext cx="6766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版本基线：2026-08-07 · OpenCode 官方规范 + AI Agent 入门概念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434840" y="5623560"/>
            <a:ext cx="6355080" cy="0"/>
          </a:xfrm>
          <a:prstGeom prst="line">
            <a:avLst/>
          </a:prstGeom>
          <a:noFill/>
          <a:ln w="12700">
            <a:solidFill>
              <a:srgbClr val="C4D7E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34840" y="5788152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目标：看完即可写出第一套可工作的 Agent + Skill，并知道何时该拆分、如何授权、怎样调试。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学习路线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学习路线：四个阶段，从“会用”到“会设计”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不要先背字段；先建立正确心智模型，再逐步增加工程约束。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246888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" y="1499616"/>
            <a:ext cx="54864" cy="412394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62763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048256"/>
            <a:ext cx="2157984" cy="34655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Agent、LLM、工具、规划、上下文、Agent Loop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05456" y="1609344"/>
            <a:ext cx="438912" cy="438912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05456" y="161848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4233672"/>
            <a:ext cx="1993392" cy="6583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先理解“为什么 Agent 能行动”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45536" y="3547872"/>
            <a:ext cx="274320" cy="0"/>
          </a:xfrm>
          <a:prstGeom prst="line">
            <a:avLst/>
          </a:prstGeom>
          <a:noFill/>
          <a:ln w="19050">
            <a:solidFill>
              <a:srgbClr val="A7C3D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74720" y="1481328"/>
            <a:ext cx="246888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493008" y="1499616"/>
            <a:ext cx="54864" cy="412394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75888" y="162763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75888" y="2048256"/>
            <a:ext cx="2157984" cy="34655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 python-teacher Agent + python-beginner Skill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21808" y="1609344"/>
            <a:ext cx="438912" cy="438912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21808" y="161848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03320" y="4233672"/>
            <a:ext cx="1993392" cy="6583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8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先跑通最小例子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61888" y="3547872"/>
            <a:ext cx="274320" cy="0"/>
          </a:xfrm>
          <a:prstGeom prst="line">
            <a:avLst/>
          </a:prstGeom>
          <a:noFill/>
          <a:ln w="19050">
            <a:solidFill>
              <a:srgbClr val="A7C3D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91072" y="1481328"/>
            <a:ext cx="246888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09360" y="1499616"/>
            <a:ext cx="54864" cy="412394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92240" y="162763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2048256"/>
            <a:ext cx="2157984" cy="34655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AGENTS.md、Command、Agent + Skill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1609344"/>
            <a:ext cx="438912" cy="438912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138160" y="161848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19672" y="4233672"/>
            <a:ext cx="1993392" cy="6583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7F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理解职责边界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778240" y="3547872"/>
            <a:ext cx="274320" cy="0"/>
          </a:xfrm>
          <a:prstGeom prst="line">
            <a:avLst/>
          </a:prstGeom>
          <a:noFill/>
          <a:ln w="19050">
            <a:solidFill>
              <a:srgbClr val="A7C3D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107424" y="1481328"/>
            <a:ext cx="246888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125712" y="1499616"/>
            <a:ext cx="54864" cy="4123944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308592" y="162763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08592" y="2048256"/>
            <a:ext cx="2157984" cy="34655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权限、调试、多 Agent、Skill Hub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954512" y="1609344"/>
            <a:ext cx="438912" cy="438912"/>
          </a:xfrm>
          <a:prstGeom prst="ellipse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954512" y="161848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36024" y="4233672"/>
            <a:ext cx="1993392" cy="6583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稳定性优先于“聪明”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143000" y="5806440"/>
            <a:ext cx="9875520" cy="475488"/>
          </a:xfrm>
          <a:prstGeom prst="roundRect">
            <a:avLst>
              <a:gd name="adj" fmla="val 7692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271016" y="5897880"/>
            <a:ext cx="9619488" cy="29260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建议节奏：先用 20 分钟理解概念，再用 30 分钟完成两个实战，最后再看权限与多 Agent。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1161288" y="5824728"/>
            <a:ext cx="54864" cy="43891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核心概念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从聊天机器人到 Agent：差别不只是“更聪明”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关键变化：模型开始围绕目标持续规划、调用工具、观察结果并继续执行。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" y="1435608"/>
            <a:ext cx="54864" cy="4443984"/>
          </a:xfrm>
          <a:prstGeom prst="rect">
            <a:avLst/>
          </a:prstGeom>
          <a:solidFill>
            <a:srgbClr val="5D7EA0"/>
          </a:solidFill>
          <a:ln w="12700">
            <a:solidFill>
              <a:srgbClr val="5D7EA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563624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普通聊天式 LLM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984248"/>
            <a:ext cx="384962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理解问题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生成文字 / 代码片段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通常依赖用户粘贴上下文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很难主动读取仓库、执行命令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结果通常停在“一次回答”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0920" y="141732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79208" y="1435608"/>
            <a:ext cx="54864" cy="444398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62088" y="1563624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 Coding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62088" y="1984248"/>
            <a:ext cx="384962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主动读取项目文件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搜索代码与 Git diff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在权限允许时修改文件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运行测试 / 构建 / Git 命令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根据工具返回继续迭代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38928" y="2423160"/>
            <a:ext cx="1691640" cy="1417320"/>
          </a:xfrm>
          <a:prstGeom prst="chevron">
            <a:avLst/>
          </a:prstGeom>
          <a:solidFill>
            <a:srgbClr val="EAF3FC"/>
          </a:solidFill>
          <a:ln w="12700">
            <a:solidFill>
              <a:srgbClr val="BCD6E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30952" y="2633472"/>
            <a:ext cx="12344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工具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循环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47088" y="5742432"/>
            <a:ext cx="8458200" cy="530352"/>
          </a:xfrm>
          <a:prstGeom prst="roundRect">
            <a:avLst>
              <a:gd name="adj" fmla="val 6897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975104" y="5833872"/>
            <a:ext cx="8202168" cy="34747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一句话：LLM 更像“大脑”；Agent = 大脑 + 可用工具 + 工作规则 + 执行循环。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865376" y="5760720"/>
            <a:ext cx="54864" cy="493776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核心概念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的五个核心部分 + Agent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工程设计真正要控制的是：它能看到什么、能调用什么、如何得到反馈、何时停止。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04672" y="1627632"/>
            <a:ext cx="859536" cy="859536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778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用户请求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/ diff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46504" y="2057400"/>
            <a:ext cx="1078992" cy="0"/>
          </a:xfrm>
          <a:prstGeom prst="line">
            <a:avLst/>
          </a:prstGeom>
          <a:noFill/>
          <a:ln w="1905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07792" y="1627632"/>
            <a:ext cx="859536" cy="859536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0779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6090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9631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9624" y="2057400"/>
            <a:ext cx="1078992" cy="0"/>
          </a:xfrm>
          <a:prstGeom prst="line">
            <a:avLst/>
          </a:prstGeom>
          <a:noFill/>
          <a:ln w="1905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10912" y="1627632"/>
            <a:ext cx="859536" cy="859536"/>
          </a:xfrm>
          <a:prstGeom prst="ellipse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1091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6402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943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52744" y="2057400"/>
            <a:ext cx="1078992" cy="0"/>
          </a:xfrm>
          <a:prstGeom prst="line">
            <a:avLst/>
          </a:prstGeom>
          <a:noFill/>
          <a:ln w="1905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14032" y="1627632"/>
            <a:ext cx="859536" cy="859536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1403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6714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0255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/ edit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/ task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55864" y="2057400"/>
            <a:ext cx="1078992" cy="0"/>
          </a:xfrm>
          <a:prstGeom prst="line">
            <a:avLst/>
          </a:prstGeom>
          <a:noFill/>
          <a:ln w="1905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17152" y="1627632"/>
            <a:ext cx="859536" cy="859536"/>
          </a:xfrm>
          <a:prstGeom prst="ellipse">
            <a:avLst/>
          </a:prstGeom>
          <a:solidFill>
            <a:srgbClr val="1F6FAF"/>
          </a:solidFill>
          <a:ln w="1270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21715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7026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0567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工具返回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" y="39593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Loop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3232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86384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86384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观察当前状态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87168" y="4901184"/>
            <a:ext cx="402336" cy="0"/>
          </a:xfrm>
          <a:prstGeom prst="line">
            <a:avLst/>
          </a:prstGeom>
          <a:noFill/>
          <a:ln w="16510">
            <a:solidFill>
              <a:srgbClr val="AEC5D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944368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017520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7F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017520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选择下一步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18304" y="4901184"/>
            <a:ext cx="402336" cy="0"/>
          </a:xfrm>
          <a:prstGeom prst="line">
            <a:avLst/>
          </a:prstGeom>
          <a:noFill/>
          <a:ln w="16510">
            <a:solidFill>
              <a:srgbClr val="AEC5D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175504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48656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8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248656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49440" y="4901184"/>
            <a:ext cx="402336" cy="0"/>
          </a:xfrm>
          <a:prstGeom prst="line">
            <a:avLst/>
          </a:prstGeom>
          <a:noFill/>
          <a:ln w="16510">
            <a:solidFill>
              <a:srgbClr val="AEC5D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406640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79792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A9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479792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获取反馈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80576" y="4901184"/>
            <a:ext cx="402336" cy="0"/>
          </a:xfrm>
          <a:prstGeom prst="line">
            <a:avLst/>
          </a:prstGeom>
          <a:noFill/>
          <a:ln w="16510">
            <a:solidFill>
              <a:srgbClr val="AEC5D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9637776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710928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6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Continue?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710928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 / 停止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710928" y="5148072"/>
            <a:ext cx="1508760" cy="658368"/>
          </a:xfrm>
          <a:prstGeom prst="arc">
            <a:avLst/>
          </a:prstGeom>
          <a:solidFill>
            <a:srgbClr val="F6F9FC">
              <a:alpha val="0"/>
            </a:srgbClr>
          </a:solidFill>
          <a:ln w="17780">
            <a:solidFill>
              <a:srgbClr val="1769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619488" y="5568696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再观察</a:t>
            </a:r>
            <a:endParaRPr lang="en-US" sz="9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OpenCode 映射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把通用 Agent 概念映射到 OpenCode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理解这张表，后面的目录、Markdown 与权限配置就不再是“死记硬背”。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85800" y="1444752"/>
          <a:ext cx="10789920" cy="4407408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  <a:gridCol w="5394960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通用概念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OpenCode 中的实现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你真正要设计什么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/ 大脑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provider / model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选哪个模型负责判断与生成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 / edit / glob / grep / bash / task…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允许做哪些真实操作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规划 / 循环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指令 + 工具反馈 + steps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任务步骤、预算、停止条件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 + 工具结果 + AGENTS.md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哪些信息长期有效，哪些只属于当前任务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SOP / 方法库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某类任务出现时按需加载的操作手册</a:t>
                      </a:r>
                      <a:endParaRPr lang="en-US" sz="12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685800" y="1444752"/>
            <a:ext cx="10789920" cy="621792"/>
          </a:xfrm>
          <a:prstGeom prst="rect">
            <a:avLst/>
          </a:prstGeom>
          <a:solidFill>
            <a:srgbClr val="E2F0FB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95528" y="1627632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通用概念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926080" y="1627632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 中的实现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81344" y="1627632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你真正要设计什么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43000" y="5961888"/>
            <a:ext cx="9555480" cy="4572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71016" y="6053328"/>
            <a:ext cx="9299448" cy="2743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 Skill 当成“记忆”：Skill 是按需加载的 SOP；AGENTS.md 更像项目长期规则。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1161288" y="5980176"/>
            <a:ext cx="54864" cy="42062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OpenCode 映射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93192"/>
            <a:ext cx="110185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2600" b="1">
                <a:solidFill>
                  <a:srgbClr val="103A63"/>
                </a:solidFill>
                <a:latin typeface="Microsoft YaHei"/>
              </a:rPr>
              <a:t>OpenCode 五个积木：Agent / Skill / AGENTS.md / Command / Tool</a:t>
            </a:r>
            <a:endParaRPr sz="2600" b="1">
              <a:solidFill>
                <a:srgbClr val="103A63"/>
              </a:solidFill>
              <a:latin typeface="Microsoft YaHe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最容易出错的地方，不是语法，而是把职责写错了位置。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81328"/>
            <a:ext cx="54864" cy="418795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专业岗位：Reviewer / Debugger / Planner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97864" y="2057400"/>
            <a:ext cx="658368" cy="658368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97864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谁来执行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852928" y="1481328"/>
            <a:ext cx="54864" cy="4187952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35808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 SOP：代码审查 / 发布流程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02152" y="2057400"/>
            <a:ext cx="658368" cy="658368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02152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990088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F7F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怎么执行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38928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157216" y="1481328"/>
            <a:ext cx="54864" cy="4187952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40096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21808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仓库结构 / 测试命令 / 禁改目录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06440" y="2057400"/>
            <a:ext cx="658368" cy="658368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806440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294376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38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项目长期规则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43216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461504" y="1481328"/>
            <a:ext cx="54864" cy="4187952"/>
          </a:xfrm>
          <a:prstGeom prst="rect">
            <a:avLst/>
          </a:prstGeom>
          <a:solidFill>
            <a:srgbClr val="3C82C3"/>
          </a:solidFill>
          <a:ln w="12700">
            <a:solidFill>
              <a:srgbClr val="3C82C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644384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6096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/review / verify / release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10728" y="2057400"/>
            <a:ext cx="658368" cy="658368"/>
          </a:xfrm>
          <a:prstGeom prst="ellipse">
            <a:avLst/>
          </a:prstGeom>
          <a:solidFill>
            <a:srgbClr val="3C82C3"/>
          </a:solidFill>
          <a:ln w="12700">
            <a:solidFill>
              <a:srgbClr val="3C82C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110728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598664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3C82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如何一键触发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747504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765792" y="1481328"/>
            <a:ext cx="54864" cy="4187952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948672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30384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/ edit / bash / task / skill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415016" y="2057400"/>
            <a:ext cx="658368" cy="658368"/>
          </a:xfrm>
          <a:prstGeom prst="ellipse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415016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902952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4A9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真正做动作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60120" y="5833872"/>
            <a:ext cx="10149840" cy="493776"/>
          </a:xfrm>
          <a:prstGeom prst="roundRect">
            <a:avLst>
              <a:gd name="adj" fmla="val 7407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88136" y="5925312"/>
            <a:ext cx="9893808" cy="310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记忆口诀：Agent = 岗位；Skill = 操作手册；AGENTS.md = 项目宪法；Command = 快捷入口；Tool = 真正的工具。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978408" y="5852160"/>
            <a:ext cx="54864" cy="457200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实战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第一个练习项目：为什么输出 5 和 None？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我们故意选择一个极小问题，只关注 Agent / Skill，而不被业务复杂度干扰。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4846320" cy="3401568"/>
          </a:xfrm>
          <a:prstGeom prst="roundRect">
            <a:avLst>
              <a:gd name="adj" fmla="val 1075"/>
            </a:avLst>
          </a:prstGeom>
          <a:solidFill>
            <a:srgbClr val="142536"/>
          </a:solidFill>
          <a:ln w="12700">
            <a:solidFill>
              <a:srgbClr val="243B5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1536192"/>
            <a:ext cx="73152" cy="73152"/>
          </a:xfrm>
          <a:prstGeom prst="ellipse">
            <a:avLst/>
          </a:prstGeom>
          <a:solidFill>
            <a:srgbClr val="5BA7E6"/>
          </a:solidFill>
          <a:ln w="12700">
            <a:solidFill>
              <a:srgbClr val="5BA7E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2688" y="1536192"/>
            <a:ext cx="73152" cy="73152"/>
          </a:xfrm>
          <a:prstGeom prst="ellipse">
            <a:avLst/>
          </a:prstGeom>
          <a:solidFill>
            <a:srgbClr val="8AC4EE"/>
          </a:solidFill>
          <a:ln w="12700">
            <a:solidFill>
              <a:srgbClr val="8AC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0704" y="1536192"/>
            <a:ext cx="73152" cy="73152"/>
          </a:xfrm>
          <a:prstGeom prst="ellipse">
            <a:avLst/>
          </a:prstGeom>
          <a:solidFill>
            <a:srgbClr val="3B92C9"/>
          </a:solidFill>
          <a:ln w="12700">
            <a:solidFill>
              <a:srgbClr val="3B92C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28216"/>
            <a:ext cx="4517136" cy="296265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 + b)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add(2, 3)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50749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运行结果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5376672"/>
            <a:ext cx="4846320" cy="685800"/>
          </a:xfrm>
          <a:prstGeom prst="roundRect">
            <a:avLst>
              <a:gd name="adj" fmla="val 5333"/>
            </a:avLst>
          </a:prstGeom>
          <a:solidFill>
            <a:srgbClr val="142536"/>
          </a:solidFill>
          <a:ln w="12700">
            <a:solidFill>
              <a:srgbClr val="285F8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4672" y="5495544"/>
            <a:ext cx="73152" cy="73152"/>
          </a:xfrm>
          <a:prstGeom prst="ellipse">
            <a:avLst/>
          </a:prstGeom>
          <a:solidFill>
            <a:srgbClr val="5BA7E6"/>
          </a:solidFill>
          <a:ln w="12700">
            <a:solidFill>
              <a:srgbClr val="5BA7E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32688" y="5495544"/>
            <a:ext cx="73152" cy="73152"/>
          </a:xfrm>
          <a:prstGeom prst="ellipse">
            <a:avLst/>
          </a:prstGeom>
          <a:solidFill>
            <a:srgbClr val="8AC4EE"/>
          </a:solidFill>
          <a:ln w="12700">
            <a:solidFill>
              <a:srgbClr val="8AC4E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60704" y="5495544"/>
            <a:ext cx="73152" cy="73152"/>
          </a:xfrm>
          <a:prstGeom prst="ellipse">
            <a:avLst/>
          </a:prstGeom>
          <a:solidFill>
            <a:srgbClr val="3B92C9"/>
          </a:solidFill>
          <a:ln w="12700">
            <a:solidFill>
              <a:srgbClr val="3B92C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5687568"/>
            <a:ext cx="4517136" cy="24688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897880" y="1417320"/>
            <a:ext cx="5394960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16168" y="1435608"/>
            <a:ext cx="54864" cy="1828800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99048" y="1563624"/>
            <a:ext cx="508406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目标：创建一个“Python 入门老师 Agent”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9048" y="1984248"/>
            <a:ext cx="5084064" cy="117043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它需要：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主动读取 main.py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解释程序执行过程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讲清 print 与 return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给出最小修改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但不要直接修改用户文件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97880" y="3584448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16168" y="3602736"/>
            <a:ext cx="54864" cy="243230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99048" y="3730752"/>
            <a:ext cx="508406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为什么先做 Agent，而不是 Skill？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9048" y="4151376"/>
            <a:ext cx="5084064" cy="17739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因为这里首先需要定义一个“角色”：它是谁、负责什么、允许做什么、输出长什么样。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之后再把“初学者讲解方法”拆成 Skill，供其他角色复用。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实战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 Agent：python-teacher.md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文件 = YAML frontmatter（能力与权限） + Markdown 正文（职责与工作流）。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389888"/>
            <a:ext cx="5074920" cy="4846320"/>
          </a:xfrm>
          <a:prstGeom prst="roundRect">
            <a:avLst>
              <a:gd name="adj" fmla="val 755"/>
            </a:avLst>
          </a:prstGeom>
          <a:solidFill>
            <a:srgbClr val="142536"/>
          </a:solidFill>
          <a:ln w="12700">
            <a:solidFill>
              <a:srgbClr val="243B5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508760"/>
            <a:ext cx="73152" cy="73152"/>
          </a:xfrm>
          <a:prstGeom prst="ellipse">
            <a:avLst/>
          </a:prstGeom>
          <a:solidFill>
            <a:srgbClr val="5BA7E6"/>
          </a:solidFill>
          <a:ln w="12700">
            <a:solidFill>
              <a:srgbClr val="5BA7E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9536" y="1508760"/>
            <a:ext cx="73152" cy="73152"/>
          </a:xfrm>
          <a:prstGeom prst="ellipse">
            <a:avLst/>
          </a:prstGeom>
          <a:solidFill>
            <a:srgbClr val="8AC4EE"/>
          </a:solidFill>
          <a:ln w="12700">
            <a:solidFill>
              <a:srgbClr val="8AC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87552" y="1508760"/>
            <a:ext cx="73152" cy="73152"/>
          </a:xfrm>
          <a:prstGeom prst="ellipse">
            <a:avLst/>
          </a:prstGeom>
          <a:solidFill>
            <a:srgbClr val="3B92C9"/>
          </a:solidFill>
          <a:ln w="12700">
            <a:solidFill>
              <a:srgbClr val="3B92C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700784"/>
            <a:ext cx="4745736" cy="440740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用适合初学者的方式解释 Python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subagent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 0.1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permission: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edit: deny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bash: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"*": ask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"python *": allow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skill: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"python-beginner": allow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你是一名 Python 入门老师...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5989320" y="1444752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007608" y="1463040"/>
            <a:ext cx="54864" cy="87782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90488" y="1591056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90488" y="2011680"/>
            <a:ext cx="5102352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 OpenCode：这个 Agent 做什么、何时该用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5989320" y="2569464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07608" y="2587752"/>
            <a:ext cx="54864" cy="87782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90488" y="2715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mode: subagent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0488" y="3136392"/>
            <a:ext cx="5102352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把它定义为专业子角色，可通过 @python-teacher 调用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5989320" y="3694176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07608" y="3712464"/>
            <a:ext cx="54864" cy="877824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90488" y="3840480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permission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0488" y="4261104"/>
            <a:ext cx="5102352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老师只读解释：edit = deny；运行 python 可允许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5989320" y="4818888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007608" y="4837176"/>
            <a:ext cx="54864" cy="87782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90488" y="4965192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正文工作流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0488" y="5385816"/>
            <a:ext cx="5102352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读取代码 → 加载 Skill → 分步解释 → 最小修改 → 小练习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5989320" y="5943600"/>
            <a:ext cx="5413248" cy="384048"/>
          </a:xfrm>
          <a:prstGeom prst="roundRect">
            <a:avLst>
              <a:gd name="adj" fmla="val 9524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17336" y="6035040"/>
            <a:ext cx="5157216" cy="20116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核心思想：Agent 不是“提示词越长越好”，而是职责、权限、流程、完成标准要清楚。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007608" y="5961888"/>
            <a:ext cx="54864" cy="34747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Agent 规格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配置字段：先掌握这 6 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对于入门项目，这些字段已经覆盖 80% 的设计问题。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" y="1435608"/>
            <a:ext cx="54864" cy="1847088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5636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98424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路由与职责说明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 + 什么时候用 + 关键边界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79976" y="1435608"/>
            <a:ext cx="54864" cy="1847088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62856" y="15636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2856" y="198424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 / subagent / all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决定主角色还是专业子角色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5008" y="1417320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83296" y="1435608"/>
            <a:ext cx="54864" cy="1847088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66176" y="15636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66176" y="198424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provider/model-id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决定由哪个模型当“大脑”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630168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76656" y="3648456"/>
            <a:ext cx="54864" cy="1847088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9536" y="3776472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" y="4197096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随机性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低温更适合 Reviewer / Planner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61688" y="3630168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79976" y="3648456"/>
            <a:ext cx="54864" cy="1847088"/>
          </a:xfrm>
          <a:prstGeom prst="rect">
            <a:avLst/>
          </a:prstGeom>
          <a:solidFill>
            <a:srgbClr val="1F6FAF"/>
          </a:solidFill>
          <a:ln w="1270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62856" y="3776472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62856" y="4197096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Loop 预算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限制最多迭代步数，防成本与死循环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65008" y="3630168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83296" y="3648456"/>
            <a:ext cx="54864" cy="1847088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66176" y="3776472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permission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6176" y="4197096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/ edit / bash / task / skill…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1560" y="5925312"/>
            <a:ext cx="9738360" cy="420624"/>
          </a:xfrm>
          <a:prstGeom prst="roundRect">
            <a:avLst>
              <a:gd name="adj" fmla="val 869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79576" y="6016752"/>
            <a:ext cx="9482328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版本提醒：旧字段 maxSteps 已弃用 → 使用 steps；旧 tools 布尔配置已被 permission 体系逐步取代。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1069848" y="5943600"/>
            <a:ext cx="54864" cy="384048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Skill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 Skill：python-beginner/SKILL.md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不定义“你是谁”，而定义“遇到这类任务时应该怎样做”。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335024"/>
            <a:ext cx="5321808" cy="5029200"/>
          </a:xfrm>
          <a:prstGeom prst="roundRect">
            <a:avLst>
              <a:gd name="adj" fmla="val 727"/>
            </a:avLst>
          </a:prstGeom>
          <a:solidFill>
            <a:srgbClr val="142536"/>
          </a:solidFill>
          <a:ln w="12700">
            <a:solidFill>
              <a:srgbClr val="243B5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1453896"/>
            <a:ext cx="73152" cy="73152"/>
          </a:xfrm>
          <a:prstGeom prst="ellipse">
            <a:avLst/>
          </a:prstGeom>
          <a:solidFill>
            <a:srgbClr val="5BA7E6"/>
          </a:solidFill>
          <a:ln w="12700">
            <a:solidFill>
              <a:srgbClr val="5BA7E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77824" y="1453896"/>
            <a:ext cx="73152" cy="73152"/>
          </a:xfrm>
          <a:prstGeom prst="ellipse">
            <a:avLst/>
          </a:prstGeom>
          <a:solidFill>
            <a:srgbClr val="8AC4EE"/>
          </a:solidFill>
          <a:ln w="12700">
            <a:solidFill>
              <a:srgbClr val="8AC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05840" y="1453896"/>
            <a:ext cx="73152" cy="73152"/>
          </a:xfrm>
          <a:prstGeom prst="ellipse">
            <a:avLst/>
          </a:prstGeom>
          <a:solidFill>
            <a:srgbClr val="3B92C9"/>
          </a:solidFill>
          <a:ln w="12700">
            <a:solidFill>
              <a:srgbClr val="3B92C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8096" y="1645920"/>
            <a:ext cx="4992624" cy="459028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python-beginner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当用户学习或调试基础 Python 时，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用逐步执行、简单比喻和最小示例讲解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compatibility: opencode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audience: beginners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version: "1.0.0"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初学者讲解规范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什么时候使用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基本讲解步骤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重要规则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推荐输出结构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1389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81928" y="1435608"/>
            <a:ext cx="54864" cy="89611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64808" y="1563624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808" y="1984248"/>
            <a:ext cx="4828032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必须与目录名一致；小写 kebab-case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263640" y="2578608"/>
            <a:ext cx="51389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81928" y="2596896"/>
            <a:ext cx="54864" cy="896112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64808" y="2724912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4808" y="3145536"/>
            <a:ext cx="4828032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真正参与“要不要加载”的路由元数据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263640" y="3739896"/>
            <a:ext cx="51389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81928" y="3758184"/>
            <a:ext cx="54864" cy="896112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64808" y="3886200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4808" y="4306824"/>
            <a:ext cx="4828032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什么时候用 / 怎么做 / 失败怎么处理 / 输出格式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263640" y="4901184"/>
            <a:ext cx="51389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81928" y="4919472"/>
            <a:ext cx="54864" cy="896112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64808" y="5047488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64808" y="5468112"/>
            <a:ext cx="4828032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企业扩展可放字符串元数据；复杂治理建议另设文件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263640" y="6007608"/>
            <a:ext cx="5138928" cy="347472"/>
          </a:xfrm>
          <a:prstGeom prst="roundRect">
            <a:avLst>
              <a:gd name="adj" fmla="val 1052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91656" y="6099048"/>
            <a:ext cx="4882896" cy="16459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目录规则：.opencode/skills/python-beginner/SKILL.md；SKILL.md 必须大写。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281928" y="6025896"/>
            <a:ext cx="54864" cy="310896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Skill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为什么可以很多，但上下文不会爆炸？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关键机制：渐进式披露（Progressive Disclosure）——先发现，后加载。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2971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86968" y="1618488"/>
            <a:ext cx="54864" cy="229514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69848" y="174650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2167128"/>
            <a:ext cx="2660904" cy="16367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先看到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 + description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9958" y="1688592"/>
            <a:ext cx="457200" cy="457200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19958" y="170688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86200" y="2706624"/>
            <a:ext cx="502920" cy="0"/>
          </a:xfrm>
          <a:prstGeom prst="line">
            <a:avLst/>
          </a:prstGeom>
          <a:noFill/>
          <a:ln w="2159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26280" y="1600200"/>
            <a:ext cx="2971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44568" y="1618488"/>
            <a:ext cx="54864" cy="229514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27448" y="174650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 Activation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27448" y="2167128"/>
            <a:ext cx="2660904" cy="16367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根据当前任务判断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是否相关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77558" y="1688592"/>
            <a:ext cx="457200" cy="457200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77558" y="170688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3800" y="2706624"/>
            <a:ext cx="502920" cy="0"/>
          </a:xfrm>
          <a:prstGeom prst="line">
            <a:avLst/>
          </a:prstGeom>
          <a:noFill/>
          <a:ln w="2159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83880" y="1600200"/>
            <a:ext cx="2971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02168" y="1618488"/>
            <a:ext cx="54864" cy="229514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85048" y="174650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 Execution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5048" y="2167128"/>
            <a:ext cx="2660904" cy="16367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skill 工具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读取完整 SKILL.md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535158" y="1688592"/>
            <a:ext cx="457200" cy="457200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535158" y="170688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434340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能真正生效的 3 个条件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12" y="4736592"/>
            <a:ext cx="10149840" cy="11430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/ SKILL.md / frontmatter 正确，OpenCode 能发现它</a:t>
            </a:r>
            <a:endParaRPr lang="en-US" sz="1320" dirty="0"/>
          </a:p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Agent 拥有 permission.skill 权限，没有被 deny</a:t>
            </a:r>
            <a:endParaRPr lang="en-US" sz="1320" dirty="0"/>
          </a:p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description 足够清晰，或 Agent 正文明确规定触发条件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1325880" y="5961888"/>
            <a:ext cx="9281160" cy="411480"/>
          </a:xfrm>
          <a:prstGeom prst="roundRect">
            <a:avLst>
              <a:gd name="adj" fmla="val 8889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453896" y="6053328"/>
            <a:ext cx="9025128" cy="22860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description 不是注释，而是“路由索引”。模糊 description 是 Skill 不加载的高频原因。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1344168" y="5980176"/>
            <a:ext cx="54864" cy="37490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职责边界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什么时候写 Agent？什么时候写 Skill？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一个简单判断：是在定义“谁来做”，还是在沉淀“怎么做”？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426464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444752"/>
            <a:ext cx="54864" cy="439826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572768"/>
            <a:ext cx="47640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Agent：定义角色 / 岗位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93392"/>
            <a:ext cx="4764024" cy="3739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适合写：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角色身份与职责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mode / model / steps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工具与权限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工作流程与完成条件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输出证据要求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例：code-reviewer、debugger、planner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426464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19088" y="1444752"/>
            <a:ext cx="54864" cy="439826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01968" y="1572768"/>
            <a:ext cx="47640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Skill：定义可复用方法 / SOP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01968" y="1993392"/>
            <a:ext cx="4764024" cy="3739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适合写：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适用与不适用场景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固定执行步骤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质量检查规则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失败处理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references / scripts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例：code-review、python-quality、git-release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42432" y="2770632"/>
            <a:ext cx="658368" cy="914400"/>
          </a:xfrm>
          <a:prstGeom prst="chevron">
            <a:avLst/>
          </a:prstGeom>
          <a:solidFill>
            <a:srgbClr val="ECF3FA"/>
          </a:solidFill>
          <a:ln w="12700">
            <a:solidFill>
              <a:srgbClr val="C6D8E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874520" y="5989320"/>
            <a:ext cx="8366760" cy="402336"/>
          </a:xfrm>
          <a:prstGeom prst="roundRect">
            <a:avLst>
              <a:gd name="adj" fmla="val 9091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02536" y="6080760"/>
            <a:ext cx="8110728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记住：需要“新的专业角色” → Agent；需要“可复用的方法” → Skill。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892808" y="6007608"/>
            <a:ext cx="54864" cy="365760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实战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工程实战：code-reviewer + code-review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把“只读审查角色”和“审查方法论”拆开，权限与复用都会更清晰。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4114800" cy="44348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4088" y="1435608"/>
            <a:ext cx="54864" cy="439826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" y="1563624"/>
            <a:ext cx="3803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code-reviewer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84248"/>
            <a:ext cx="3803904" cy="3739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角色：高级代码审查员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权限：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read / glob / grep = allow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git diff / status = allow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edit = deny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pytest = ask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输出：按严重级别列问题、证据、建议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7388352" y="1417320"/>
            <a:ext cx="4114800" cy="44348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06640" y="1435608"/>
            <a:ext cx="54864" cy="439826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0" y="1563624"/>
            <a:ext cx="3803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code-review Skill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1984248"/>
            <a:ext cx="3803904" cy="3739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方法：统一 Code Review SOP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先确认 review scope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正确性 / 安全 / 性能 / 可维护性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区分 confirmed defect 与 possible risk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明确严重级别和证据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给出最小修复建议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074920" y="1874520"/>
            <a:ext cx="2029968" cy="347472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49240" y="21031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调用关系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92040" y="2862072"/>
            <a:ext cx="182880" cy="0"/>
          </a:xfrm>
          <a:prstGeom prst="line">
            <a:avLst/>
          </a:prstGeom>
          <a:noFill/>
          <a:ln w="19050">
            <a:solidFill>
              <a:srgbClr val="1769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104888" y="2862072"/>
            <a:ext cx="192024" cy="0"/>
          </a:xfrm>
          <a:prstGeom prst="line">
            <a:avLst/>
          </a:prstGeom>
          <a:noFill/>
          <a:ln w="19050">
            <a:solidFill>
              <a:srgbClr val="2387B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30952" y="2761488"/>
            <a:ext cx="1536192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code-review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0368" y="4407408"/>
            <a:ext cx="171907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 ≠ 方法论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88720" y="5961888"/>
            <a:ext cx="9784080" cy="420624"/>
          </a:xfrm>
          <a:prstGeom prst="roundRect">
            <a:avLst>
              <a:gd name="adj" fmla="val 869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16736" y="6053328"/>
            <a:ext cx="9528048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为什么不合成一个文件？同一套 code-review Skill 还可以被 orchestrator、PR bot、test-helper 复用。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207008" y="5980176"/>
            <a:ext cx="54864" cy="384048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项目工作流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 + Command：把“个人提示词”升级成团队工作流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长期规则放 AGENTS.md；高频操作用 Command 做成一键入口。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4088" y="1389888"/>
            <a:ext cx="54864" cy="448970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" y="1517904"/>
            <a:ext cx="46725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AGENTS.md：项目长期规则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38528"/>
            <a:ext cx="4672584" cy="38313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适合写：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仓库目录结构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Python / Node 版本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lint / typecheck / test 命令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禁止修改的生成目录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数据库迁移约束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Git 操作规则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特点：每个 Agent 会话都可能需要，建议提交 Git。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446520" y="137160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64808" y="1389888"/>
            <a:ext cx="54864" cy="4489704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47688" y="1517904"/>
            <a:ext cx="46725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Command：固定提示词入口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47688" y="1938528"/>
            <a:ext cx="4672584" cy="38313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 .opencode/commands/review.md：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description: Review current Git changes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agent: code-reviewer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subtask: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the current Git changes...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用户只需要输入：/review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87568" y="2926080"/>
            <a:ext cx="640080" cy="914400"/>
          </a:xfrm>
          <a:prstGeom prst="chevron">
            <a:avLst/>
          </a:prstGeom>
          <a:solidFill>
            <a:srgbClr val="F1F6FC"/>
          </a:solidFill>
          <a:ln w="1270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96712" y="3054096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权限与安全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权限设计：allow / ask / deny + 最小权限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工程里，权限边界往往比提示词本身更重要。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336499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408176"/>
            <a:ext cx="54864" cy="2020824"/>
          </a:xfrm>
          <a:prstGeom prst="rect">
            <a:avLst/>
          </a:prstGeom>
          <a:solidFill>
            <a:srgbClr val="1F6FAF"/>
          </a:solidFill>
          <a:ln w="1270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536192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956816"/>
            <a:ext cx="3054096" cy="1362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可直接执行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read、git status、focused tests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4443984" y="1389888"/>
            <a:ext cx="336499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62272" y="1408176"/>
            <a:ext cx="54864" cy="2020824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45152" y="1536192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5152" y="1956816"/>
            <a:ext cx="3054096" cy="1362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执行前需要批准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安装依赖、外部副作用命令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8174736" y="1389888"/>
            <a:ext cx="336499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93024" y="1408176"/>
            <a:ext cx="54864" cy="2020824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75904" y="1536192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F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75904" y="1956816"/>
            <a:ext cx="3054096" cy="1362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禁止执行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Reviewer edit、危险命令、未授权子 Agent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749808" y="38221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按岗位分配权限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4279392"/>
            <a:ext cx="105156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965960" y="4279392"/>
            <a:ext cx="877824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60" b="0">
                <a:solidFill>
                  <a:srgbClr val="1F2D3D"/>
                </a:solidFill>
                <a:latin typeface="Microsoft YaHei"/>
              </a:rPr>
              <a:t>read ✓   edit ×   bash：git diff ✓ / pytest ask</a:t>
            </a:r>
            <a:endParaRPr sz="1260" b="0">
              <a:solidFill>
                <a:srgbClr val="1F2D3D"/>
              </a:solidFill>
              <a:latin typeface="Microsoft YaHe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4672" y="4882896"/>
            <a:ext cx="105156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F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965960" y="4882896"/>
            <a:ext cx="877824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60" b="0">
                <a:solidFill>
                  <a:srgbClr val="1F2D3D"/>
                </a:solidFill>
                <a:latin typeface="Microsoft YaHei"/>
              </a:rPr>
              <a:t>read ✓   edit ×   task：仅允许必要子 Agent</a:t>
            </a:r>
            <a:endParaRPr sz="1260" b="0">
              <a:solidFill>
                <a:srgbClr val="1F2D3D"/>
              </a:solidFill>
              <a:latin typeface="Microsoft YaHe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672" y="5486400"/>
            <a:ext cx="105156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8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965960" y="5486400"/>
            <a:ext cx="877824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60" b="0">
                <a:solidFill>
                  <a:srgbClr val="1F2D3D"/>
                </a:solidFill>
                <a:latin typeface="Microsoft YaHei"/>
              </a:rPr>
              <a:t>edit ✓   focused tests ✓   git push：ask / deny</a:t>
            </a:r>
            <a:endParaRPr sz="1260" b="0">
              <a:solidFill>
                <a:srgbClr val="1F2D3D"/>
              </a:solidFill>
              <a:latin typeface="Microsoft YaHe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572768" y="6035040"/>
            <a:ext cx="8979408" cy="338328"/>
          </a:xfrm>
          <a:prstGeom prst="roundRect">
            <a:avLst>
              <a:gd name="adj" fmla="val 10811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700784" y="6126480"/>
            <a:ext cx="8723376" cy="15544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规则顺序很重要：通常先写 "*": ask，再写更具体的 allow / deny 特例。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1591056" y="6053328"/>
            <a:ext cx="54864" cy="301752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调试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Skill 没有生效？用这张排错图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先排“发现问题”，再排“权限问题”，最后排“路由问题”。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435608"/>
            <a:ext cx="54864" cy="444398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563624"/>
            <a:ext cx="32095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Agent 找不到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84248"/>
            <a:ext cx="320954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文件是否在 .opencode/agents/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Markdown 文件名是否正确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frontmatter 是否有效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mode / hidden 是否影响调用方式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是否重启 / 重新加载配置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61688" y="1435608"/>
            <a:ext cx="54864" cy="444398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44568" y="1563624"/>
            <a:ext cx="32095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Skill 找不到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1984248"/>
            <a:ext cx="320954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文件名是否严格是 SKILL.md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路径是否 .opencode/skills/&lt;name&gt;/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name / description 是否存在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name 是否与目录一致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是否被 permission.skill deny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435608"/>
            <a:ext cx="54864" cy="444398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47888" y="1563624"/>
            <a:ext cx="32095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Skill 存在但不加载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47888" y="1984248"/>
            <a:ext cx="320954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description 是否太模糊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 Agent 是否有 skill 权限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是否明确写了触发规则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是否存在同名 Skill 冲突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用“应触发 / 边界 / 不应触发”三类测试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2194560" y="6016752"/>
            <a:ext cx="7818120" cy="356616"/>
          </a:xfrm>
          <a:prstGeom prst="roundRect">
            <a:avLst>
              <a:gd name="adj" fmla="val 1025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322576" y="6108192"/>
            <a:ext cx="7562088" cy="173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调试顺序：能不能发现 → 能不能访问 → 模型有没有理由加载。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2212848" y="6035040"/>
            <a:ext cx="54864" cy="320040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· 多 Agent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 Agent 到多 Agent：职责隔离，不是角色越多越好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推荐初学者采用“唯一写入者”模式：Primary Builder 写代码，其他子 Agent 只读分析。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69664" y="132588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187952" y="1344168"/>
            <a:ext cx="54864" cy="119786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370832" y="1472184"/>
            <a:ext cx="35295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/ Primary Builder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70832" y="1892808"/>
            <a:ext cx="3529584" cy="5394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理解目标 · 分解任务 · 唯一允许修改核心代码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29718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04088" y="3127248"/>
            <a:ext cx="54864" cy="1536192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86968" y="325526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3675888"/>
            <a:ext cx="2660904" cy="87782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/ 实施步骤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read-only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169664" y="3108960"/>
            <a:ext cx="29718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187952" y="3127248"/>
            <a:ext cx="54864" cy="1536192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70832" y="325526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70832" y="3675888"/>
            <a:ext cx="2660904" cy="87782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失败诊断 / 根因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+ limited bash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653528" y="3108960"/>
            <a:ext cx="29718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671816" y="3127248"/>
            <a:ext cx="54864" cy="1536192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54696" y="325526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54696" y="3675888"/>
            <a:ext cx="2660904" cy="87782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独立复核 / 风险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read-only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 flipH="1">
            <a:off x="2084070" y="2571750"/>
            <a:ext cx="3286125" cy="527050"/>
          </a:xfrm>
          <a:prstGeom prst="line">
            <a:avLst/>
          </a:prstGeom>
          <a:noFill/>
          <a:ln w="17780">
            <a:solidFill>
              <a:srgbClr val="A5C0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650865" y="2578735"/>
            <a:ext cx="635" cy="532130"/>
          </a:xfrm>
          <a:prstGeom prst="line">
            <a:avLst/>
          </a:prstGeom>
          <a:noFill/>
          <a:ln w="17780">
            <a:solidFill>
              <a:srgbClr val="A5C0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089904" y="2578608"/>
            <a:ext cx="3044952" cy="484632"/>
          </a:xfrm>
          <a:prstGeom prst="line">
            <a:avLst/>
          </a:prstGeom>
          <a:noFill/>
          <a:ln w="17780">
            <a:solidFill>
              <a:srgbClr val="A5C0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86384" y="5093208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为什么“唯一写入者”更稳定？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5468112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21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避免多个子 Agent 同时改同一批文件</a:t>
            </a:r>
            <a:endParaRPr lang="en-US" sz="1210" dirty="0"/>
          </a:p>
          <a:p>
            <a:pPr marL="203200" indent="-203200">
              <a:buSzPct val="100000"/>
              <a:buChar char="•"/>
            </a:pPr>
            <a:r>
              <a:rPr lang="en-US" sz="121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Reviewer 不会一边审查一边把问题直接改掉</a:t>
            </a:r>
            <a:endParaRPr lang="en-US" sz="1210" dirty="0"/>
          </a:p>
          <a:p>
            <a:pPr marL="203200" indent="-203200">
              <a:buSzPct val="100000"/>
              <a:buChar char="•"/>
            </a:pPr>
            <a:r>
              <a:rPr lang="en-US" sz="121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 Agent 始终知道变更来源与完成状态</a:t>
            </a:r>
            <a:endParaRPr lang="en-US" sz="121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· 设计原则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 Agent 与好 Skill：最小但完整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目标不是“写很多规则”，而是让职责、触发、边界、验证都足够明确。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344168"/>
            <a:ext cx="5230368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" y="1362456"/>
            <a:ext cx="54864" cy="448970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490472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 Agent：5 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911096"/>
            <a:ext cx="4919472" cy="38313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职责窄而清晰：Reviewer 不顺便部署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权限与职责匹配：只读角色没有 edit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完成条件明确：什么时候可以宣布结束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输出有证据：特别是 Reviewer / Debugger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可委派但不滥委派：简单任务不要硬拆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1072" y="1344168"/>
            <a:ext cx="5230368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09360" y="1362456"/>
            <a:ext cx="54864" cy="448970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490472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 Skill：7 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911096"/>
            <a:ext cx="4919472" cy="38313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name 稳定、符合命名规则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description = 能力 + 触发场景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SKILL.md 只留核心流程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长资料放 references/ 按需读取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确定性逻辑放 scripts/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明确不适用场景与失败处理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用正例 / 边界 / 负例验证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78992" y="5998464"/>
            <a:ext cx="9921240" cy="374904"/>
          </a:xfrm>
          <a:prstGeom prst="roundRect">
            <a:avLst>
              <a:gd name="adj" fmla="val 975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07008" y="6089904"/>
            <a:ext cx="9665208" cy="19202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一个简单公式：角色差异 → Agent；方法复用 → Skill；项目共识 → AGENTS.md；高频触发 → Command。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97280" y="6016752"/>
            <a:ext cx="54864" cy="338328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· 企业化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Skill Hub / GitLab：运行格式与治理元数据分离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规模化之后，问题从“能不能运行”升级为“谁能发布、版本是否可信、脚本是否安全、如何回滚”。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21208" y="1984248"/>
            <a:ext cx="54864" cy="197510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4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GitLab Skill Repo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scripts/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04872" y="2971800"/>
            <a:ext cx="292608" cy="0"/>
          </a:xfrm>
          <a:prstGeom prst="line">
            <a:avLst/>
          </a:prstGeom>
          <a:noFill/>
          <a:ln w="19050">
            <a:solidFill>
              <a:srgbClr val="A8C2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788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07208" y="1984248"/>
            <a:ext cx="54864" cy="197510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90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 / CI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0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scan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90872" y="2971800"/>
            <a:ext cx="292608" cy="0"/>
          </a:xfrm>
          <a:prstGeom prst="line">
            <a:avLst/>
          </a:prstGeom>
          <a:noFill/>
          <a:ln w="19050">
            <a:solidFill>
              <a:srgbClr val="A8C2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74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93208" y="1984248"/>
            <a:ext cx="54864" cy="197510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76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Hub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76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76872" y="2971800"/>
            <a:ext cx="292608" cy="0"/>
          </a:xfrm>
          <a:prstGeom prst="line">
            <a:avLst/>
          </a:prstGeom>
          <a:noFill/>
          <a:ln w="19050">
            <a:solidFill>
              <a:srgbClr val="A8C2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60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79208" y="1984248"/>
            <a:ext cx="54864" cy="1975104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62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/ Plugin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62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Digest 校验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Lockfile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262872" y="2971800"/>
            <a:ext cx="292608" cy="0"/>
          </a:xfrm>
          <a:prstGeom prst="line">
            <a:avLst/>
          </a:prstGeom>
          <a:noFill/>
          <a:ln w="19050">
            <a:solidFill>
              <a:srgbClr val="A8C2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646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665208" y="1984248"/>
            <a:ext cx="54864" cy="1975104"/>
          </a:xfrm>
          <a:prstGeom prst="rect">
            <a:avLst/>
          </a:prstGeom>
          <a:solidFill>
            <a:srgbClr val="1F6FAF"/>
          </a:solidFill>
          <a:ln w="1270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848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48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.opencode/skills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" y="441655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两层文件模型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85800" y="4773168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04088" y="4791456"/>
            <a:ext cx="54864" cy="92354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968" y="4919472"/>
            <a:ext cx="47640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SKILL.md（OpenCode 原生运行层）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86968" y="5340096"/>
            <a:ext cx="4764024" cy="2651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 / description / compatibility / metadata + 执行 SOP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144768" y="4773168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4791456"/>
            <a:ext cx="54864" cy="923544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45936" y="4919472"/>
            <a:ext cx="50383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skillhub.yaml（企业治理层）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345936" y="5340096"/>
            <a:ext cx="5038344" cy="2651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 / version / risk / digest / approval / compatibility / evaluation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1828800" y="5989320"/>
            <a:ext cx="8595360" cy="356616"/>
          </a:xfrm>
          <a:prstGeom prst="roundRect">
            <a:avLst>
              <a:gd name="adj" fmla="val 1025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956816" y="6080760"/>
            <a:ext cx="8339328" cy="173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不要把所有公司字段塞进 SKILL.md 顶层：OpenCode 未识别字段会被忽略。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1847088" y="6007608"/>
            <a:ext cx="54864" cy="320040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· 练习与速查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最后一页：从今天开始怎么练？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按下面顺序完成 7 个动作，你就已经具备一套可持续扩展的 OpenCode Agent / Skill 基础。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7512" y="1344168"/>
            <a:ext cx="347472" cy="347472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7512" y="136245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3000" y="1353312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创建最小 Python 项目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" y="1956816"/>
            <a:ext cx="347472" cy="347472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97510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1965960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python-teacher Agent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" y="2569464"/>
            <a:ext cx="347472" cy="347472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587752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3000" y="2578608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python-beginner Skill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3182112"/>
            <a:ext cx="347472" cy="347472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200400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" y="3191256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Skill 是否按需加载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" y="3794760"/>
            <a:ext cx="347472" cy="347472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7512" y="3813048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3000" y="3803904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 code-reviewer + code-review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" y="4407408"/>
            <a:ext cx="347472" cy="347472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" y="442569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3000" y="4416552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 AGENTS.md + /review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" y="5020056"/>
            <a:ext cx="347472" cy="347472"/>
          </a:xfrm>
          <a:prstGeom prst="ellipse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" y="503834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3000" y="5029200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最后再做 Orchestrator / Skill 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132588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一页速查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178308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需要新角色？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8458200" y="1755648"/>
            <a:ext cx="2148840" cy="310896"/>
          </a:xfrm>
          <a:prstGeom prst="rect">
            <a:avLst/>
          </a:prstGeom>
          <a:solidFill>
            <a:srgbClr val="1769D8"/>
          </a:solidFill>
          <a:ln>
            <a:solidFill>
              <a:srgbClr val="1769D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355080" y="237744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需要复用 SOP？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8458200" y="2350008"/>
            <a:ext cx="2148840" cy="310896"/>
          </a:xfrm>
          <a:prstGeom prst="rect">
            <a:avLst/>
          </a:prstGeom>
          <a:solidFill>
            <a:srgbClr val="2387BE"/>
          </a:solidFill>
          <a:ln>
            <a:solidFill>
              <a:srgbClr val="2387B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355080" y="297180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项目长期规则？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8458200" y="2944368"/>
            <a:ext cx="2148840" cy="310896"/>
          </a:xfrm>
          <a:prstGeom prst="rect">
            <a:avLst/>
          </a:prstGeom>
          <a:solidFill>
            <a:srgbClr val="2F7FD3"/>
          </a:solidFill>
          <a:ln>
            <a:solidFill>
              <a:srgbClr val="2F7F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355080" y="356616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高频一键入口？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8458200" y="3538728"/>
            <a:ext cx="2148840" cy="310896"/>
          </a:xfrm>
          <a:prstGeom prst="rect">
            <a:avLst/>
          </a:prstGeom>
          <a:solidFill>
            <a:srgbClr val="3B83C4"/>
          </a:solidFill>
          <a:ln>
            <a:solidFill>
              <a:srgbClr val="3B83C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355080" y="416052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真正读写 / 执行？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8458200" y="4133088"/>
            <a:ext cx="2148840" cy="310896"/>
          </a:xfrm>
          <a:prstGeom prst="rect">
            <a:avLst/>
          </a:prstGeom>
          <a:solidFill>
            <a:srgbClr val="4A9DE0"/>
          </a:solidFill>
          <a:ln>
            <a:solidFill>
              <a:srgbClr val="4A9DE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355080" y="475488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担心副作用？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8458200" y="4727448"/>
            <a:ext cx="2148840" cy="310896"/>
          </a:xfrm>
          <a:prstGeom prst="rect">
            <a:avLst/>
          </a:prstGeom>
          <a:solidFill>
            <a:srgbClr val="103A63"/>
          </a:solidFill>
          <a:ln>
            <a:solidFill>
              <a:srgbClr val="103A6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permission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309360" y="5532120"/>
            <a:ext cx="4937760" cy="566928"/>
          </a:xfrm>
          <a:prstGeom prst="roundRect">
            <a:avLst>
              <a:gd name="adj" fmla="val 6452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37376" y="5623560"/>
            <a:ext cx="4681728" cy="38404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下一步不是“做更多 Agent”，而是持续验证：职责是否清晰？权限是否最小？Skill 是否真能复用？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6327648" y="5550408"/>
            <a:ext cx="54864" cy="53035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7370</Words>
  <Application>WPS Presentation</Application>
  <PresentationFormat>On-screen Show (16:9)</PresentationFormat>
  <Paragraphs>822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SimSun</vt:lpstr>
      <vt:lpstr>Wingdings</vt:lpstr>
      <vt:lpstr>Microsoft YaHei</vt:lpstr>
      <vt:lpstr>汉仪旗黑</vt:lpstr>
      <vt:lpstr>Microsoft YaHei</vt:lpstr>
      <vt:lpstr>Microsoft YaHei</vt:lpstr>
      <vt:lpstr>Microsoft YaHei</vt:lpstr>
      <vt:lpstr>Consolas</vt:lpstr>
      <vt:lpstr>Consolas</vt:lpstr>
      <vt:lpstr>Consolas</vt:lpstr>
      <vt:lpstr>Microsoft YaHei</vt:lpstr>
      <vt:lpstr>Arial Unicode MS</vt:lpstr>
      <vt:lpstr>苹方-简</vt:lpstr>
      <vt:lpstr>Calibri</vt:lpstr>
      <vt:lpstr>Helvetica Neue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Agent 与 Skill：从零到工程化</dc:title>
  <dc:creator>OpenAI</dc:creator>
  <dc:subject>OpenCode Agent 与 Skill 入门与工程化教程</dc:subject>
  <cp:lastModifiedBy>谢明</cp:lastModifiedBy>
  <cp:revision>4</cp:revision>
  <dcterms:created xsi:type="dcterms:W3CDTF">2026-08-07T03:55:22Z</dcterms:created>
  <dcterms:modified xsi:type="dcterms:W3CDTF">2026-08-07T03:55:22Z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24FFB4CEC44711930D57756A142DD857_42</vt:lpwstr>
  </property>
  <property fmtid="{D5CDD505-2E9C-101B-9397-08002B2CF9AE}" pid="3" name="KSOProductBuildVer">
    <vt:lpwstr>1033-12.1.26050.26050</vt:lpwstr>
  </property>
</Properties>
</file>