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66D8"/>
          </a:solidFill>
          <a:ln w="12700">
            <a:solidFill>
              <a:srgbClr val="1666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473952"/>
            <a:ext cx="5852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7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Agent &amp; Skill · 从零到工程化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06640" y="6473952"/>
            <a:ext cx="4251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7A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基于教程 DOCX · 版本基线 2026-08-07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3794760" cy="6858000"/>
          </a:xfrm>
          <a:prstGeom prst="rect">
            <a:avLst/>
          </a:prstGeom>
          <a:solidFill>
            <a:srgbClr val="0E2F50"/>
          </a:solidFill>
          <a:ln w="12700">
            <a:solidFill>
              <a:srgbClr val="0E2F5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197DD"/>
          </a:solidFill>
          <a:ln w="12700">
            <a:solidFill>
              <a:srgbClr val="3197D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1170432"/>
            <a:ext cx="26974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&amp; Skill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27432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8D7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从零到工程化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333756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7E7F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入门级实战教程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434840" y="1298448"/>
            <a:ext cx="694944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基于完整 DOCX 教程重新编排为课堂演示版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07408" y="1901952"/>
            <a:ext cx="6583680" cy="1280160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 Agent → 编写 Agent → 编写 Skill → 权限与调试 → 多 Agent → 企业 Skill Hub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434840" y="3749040"/>
            <a:ext cx="1143000" cy="310896"/>
          </a:xfrm>
          <a:prstGeom prst="rect">
            <a:avLst/>
          </a:prstGeom>
          <a:solidFill>
            <a:srgbClr val="1769D8"/>
          </a:solidFill>
          <a:ln>
            <a:solidFill>
              <a:srgbClr val="1769D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原理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742432" y="3749040"/>
            <a:ext cx="1234440" cy="310896"/>
          </a:xfrm>
          <a:prstGeom prst="rect">
            <a:avLst/>
          </a:prstGeom>
          <a:solidFill>
            <a:srgbClr val="2387BE"/>
          </a:solidFill>
          <a:ln>
            <a:solidFill>
              <a:srgbClr val="2387BE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 规范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7150608" y="3749040"/>
            <a:ext cx="1234440" cy="310896"/>
          </a:xfrm>
          <a:prstGeom prst="rect">
            <a:avLst/>
          </a:prstGeom>
          <a:solidFill>
            <a:srgbClr val="2F7FD3"/>
          </a:solidFill>
          <a:ln>
            <a:solidFill>
              <a:srgbClr val="2F7FD3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权限安全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8558784" y="3749040"/>
            <a:ext cx="1143000" cy="310896"/>
          </a:xfrm>
          <a:prstGeom prst="rect">
            <a:avLst/>
          </a:prstGeom>
          <a:solidFill>
            <a:srgbClr val="4A9DE0"/>
          </a:solidFill>
          <a:ln>
            <a:solidFill>
              <a:srgbClr val="4A9DE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 Agent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4434840" y="4590288"/>
            <a:ext cx="62179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适合对象：第一次接触 OpenCode Agent / Skill 的开发者</a:t>
            </a:r>
            <a:endParaRPr lang="en-US" sz="1330" dirty="0"/>
          </a:p>
        </p:txBody>
      </p:sp>
      <p:sp>
        <p:nvSpPr>
          <p:cNvPr id="15" name="Text 13"/>
          <p:cNvSpPr/>
          <p:nvPr/>
        </p:nvSpPr>
        <p:spPr>
          <a:xfrm>
            <a:off x="4434840" y="5074920"/>
            <a:ext cx="67665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版本基线：2026-08-07 · OpenCode 官方规范 + AI Agent 入门概念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434840" y="5623560"/>
            <a:ext cx="6355080" cy="0"/>
          </a:xfrm>
          <a:prstGeom prst="line">
            <a:avLst/>
          </a:prstGeom>
          <a:noFill/>
          <a:ln w="12700">
            <a:solidFill>
              <a:srgbClr val="C4D7E9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34840" y="5788152"/>
            <a:ext cx="6858000" cy="658368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目标：看完即可写出第一套可工作的 Agent + Skill，并知道何时该拆分、如何授权、怎样调试。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· 学习路线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学习路线：四个阶段，从“会用”到“会设计”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不要先背字段；先建立正确心智模型，再逐步增加工程约束。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481328"/>
            <a:ext cx="2468880" cy="41605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76656" y="1499616"/>
            <a:ext cx="54864" cy="4123944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59536" y="1627632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" y="2048256"/>
            <a:ext cx="2157984" cy="346557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Agent、LLM、工具、规划、上下文、Agent Loop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05456" y="1609344"/>
            <a:ext cx="438912" cy="438912"/>
          </a:xfrm>
          <a:prstGeom prst="ellipse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505456" y="1618488"/>
            <a:ext cx="438912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6968" y="4233672"/>
            <a:ext cx="1993392" cy="658368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69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先理解“为什么 Agent 能行动”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45536" y="3547872"/>
            <a:ext cx="274320" cy="0"/>
          </a:xfrm>
          <a:prstGeom prst="line">
            <a:avLst/>
          </a:prstGeom>
          <a:noFill/>
          <a:ln w="19050">
            <a:solidFill>
              <a:srgbClr val="A7C3DC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474720" y="1481328"/>
            <a:ext cx="2468880" cy="41605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493008" y="1499616"/>
            <a:ext cx="54864" cy="4123944"/>
          </a:xfrm>
          <a:prstGeom prst="rect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675888" y="1627632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75888" y="2048256"/>
            <a:ext cx="2157984" cy="346557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第一个 python-teacher Agent + python-beginner Skill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21808" y="1609344"/>
            <a:ext cx="438912" cy="438912"/>
          </a:xfrm>
          <a:prstGeom prst="ellipse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21808" y="1618488"/>
            <a:ext cx="438912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03320" y="4233672"/>
            <a:ext cx="1993392" cy="658368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87B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先跑通最小例子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61888" y="3547872"/>
            <a:ext cx="274320" cy="0"/>
          </a:xfrm>
          <a:prstGeom prst="line">
            <a:avLst/>
          </a:prstGeom>
          <a:noFill/>
          <a:ln w="19050">
            <a:solidFill>
              <a:srgbClr val="A7C3DC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291072" y="1481328"/>
            <a:ext cx="2468880" cy="41605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309360" y="1499616"/>
            <a:ext cx="54864" cy="4123944"/>
          </a:xfrm>
          <a:prstGeom prst="rect">
            <a:avLst/>
          </a:prstGeom>
          <a:solidFill>
            <a:srgbClr val="2387BE"/>
          </a:solidFill>
          <a:ln w="1270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92240" y="1627632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组合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2240" y="2048256"/>
            <a:ext cx="2157984" cy="346557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AGENTS.md、Command、Agent + Skill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38160" y="1609344"/>
            <a:ext cx="438912" cy="438912"/>
          </a:xfrm>
          <a:prstGeom prst="ellipse">
            <a:avLst/>
          </a:prstGeom>
          <a:solidFill>
            <a:srgbClr val="2387BE"/>
          </a:solidFill>
          <a:ln w="1270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138160" y="1618488"/>
            <a:ext cx="438912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19672" y="4233672"/>
            <a:ext cx="1993392" cy="658368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7F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理解职责边界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778240" y="3547872"/>
            <a:ext cx="274320" cy="0"/>
          </a:xfrm>
          <a:prstGeom prst="line">
            <a:avLst/>
          </a:prstGeom>
          <a:noFill/>
          <a:ln w="19050">
            <a:solidFill>
              <a:srgbClr val="A7C3DC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107424" y="1481328"/>
            <a:ext cx="2468880" cy="41605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9125712" y="1499616"/>
            <a:ext cx="54864" cy="4123944"/>
          </a:xfrm>
          <a:prstGeom prst="rect">
            <a:avLst/>
          </a:prstGeom>
          <a:solidFill>
            <a:srgbClr val="4A9DE0"/>
          </a:solidFill>
          <a:ln w="12700">
            <a:solidFill>
              <a:srgbClr val="4A9DE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308592" y="1627632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工程化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308592" y="2048256"/>
            <a:ext cx="2157984" cy="346557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权限、调试、多 Agent、Skill Hub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954512" y="1609344"/>
            <a:ext cx="438912" cy="438912"/>
          </a:xfrm>
          <a:prstGeom prst="ellipse">
            <a:avLst/>
          </a:prstGeom>
          <a:solidFill>
            <a:srgbClr val="4A9DE0"/>
          </a:solidFill>
          <a:ln w="12700">
            <a:solidFill>
              <a:srgbClr val="4A9DE0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0954512" y="1618488"/>
            <a:ext cx="438912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336024" y="4233672"/>
            <a:ext cx="1993392" cy="658368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D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稳定性优先于“聪明”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143000" y="5806440"/>
            <a:ext cx="9875520" cy="475488"/>
          </a:xfrm>
          <a:prstGeom prst="roundRect">
            <a:avLst>
              <a:gd name="adj" fmla="val 7692"/>
            </a:avLst>
          </a:prstGeom>
          <a:solidFill>
            <a:srgbClr val="EAF3FC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271016" y="5897880"/>
            <a:ext cx="9619488" cy="292608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建议节奏：先用 20 分钟理解概念，再用 30 分钟完成两个实战，最后再看权限与多 Agent。</a:t>
            </a:r>
            <a:endParaRPr lang="en-US" sz="1120" dirty="0"/>
          </a:p>
        </p:txBody>
      </p:sp>
      <p:sp>
        <p:nvSpPr>
          <p:cNvPr id="38" name="Shape 36"/>
          <p:cNvSpPr/>
          <p:nvPr/>
        </p:nvSpPr>
        <p:spPr>
          <a:xfrm>
            <a:off x="1161288" y="5824728"/>
            <a:ext cx="54864" cy="438912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· 核心概念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从聊天机器人到 Agent：差别不只是“更聪明”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关键变化：模型开始围绕目标持续规划、调用工具、观察结果并继续执行。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4160520" cy="448056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76656" y="1435608"/>
            <a:ext cx="54864" cy="4443984"/>
          </a:xfrm>
          <a:prstGeom prst="rect">
            <a:avLst/>
          </a:prstGeom>
          <a:solidFill>
            <a:srgbClr val="5D7EA0"/>
          </a:solidFill>
          <a:ln w="12700">
            <a:solidFill>
              <a:srgbClr val="5D7EA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59536" y="1563624"/>
            <a:ext cx="384962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普通聊天式 LLM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" y="1984248"/>
            <a:ext cx="3849624" cy="378561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理解问题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生成文字 / 代码片段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通常依赖用户粘贴上下文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很难主动读取仓库、执行命令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结果通常停在“一次回答”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60920" y="1417320"/>
            <a:ext cx="4160520" cy="448056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379208" y="1435608"/>
            <a:ext cx="54864" cy="4443984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562088" y="1563624"/>
            <a:ext cx="384962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Coding Agent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62088" y="1984248"/>
            <a:ext cx="3849624" cy="378561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主动读取项目文件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搜索代码与 Git diff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在权限允许时修改文件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运行测试 / 构建 / Git 命令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根据工具返回继续迭代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56098" y="2334260"/>
            <a:ext cx="1691640" cy="1417320"/>
          </a:xfrm>
          <a:prstGeom prst="chevron">
            <a:avLst/>
          </a:prstGeom>
          <a:solidFill>
            <a:srgbClr val="EAF3FC"/>
          </a:solidFill>
          <a:ln w="12700">
            <a:solidFill>
              <a:srgbClr val="BCD6ED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765292" y="2633472"/>
            <a:ext cx="123444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69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目标驱动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69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 工具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69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 循环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847088" y="5742432"/>
            <a:ext cx="8458200" cy="530352"/>
          </a:xfrm>
          <a:prstGeom prst="roundRect">
            <a:avLst>
              <a:gd name="adj" fmla="val 6897"/>
            </a:avLst>
          </a:prstGeom>
          <a:solidFill>
            <a:srgbClr val="EAF3FC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975104" y="5833872"/>
            <a:ext cx="8202168" cy="347472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一句话：LLM 更像“大脑”；Agent = 大脑 + 可用工具 + 工作规则 + 执行循环。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1865376" y="5760720"/>
            <a:ext cx="54864" cy="493776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· 核心概念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的五个核心部分 + Agent Loop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工程设计真正要控制的是：它能看到什么、能调用什么、如何得到反馈、何时停止。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04672" y="1627632"/>
            <a:ext cx="859536" cy="859536"/>
          </a:xfrm>
          <a:prstGeom prst="ellipse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04672" y="1645920"/>
            <a:ext cx="859536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57784" y="2578608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3192" y="2971800"/>
            <a:ext cx="16824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用户请求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 / diff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746504" y="2057400"/>
            <a:ext cx="1078992" cy="0"/>
          </a:xfrm>
          <a:prstGeom prst="line">
            <a:avLst/>
          </a:prstGeom>
          <a:noFill/>
          <a:ln w="19050">
            <a:solidFill>
              <a:srgbClr val="AFC8E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907792" y="1627632"/>
            <a:ext cx="859536" cy="859536"/>
          </a:xfrm>
          <a:prstGeom prst="ellipse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907792" y="1645920"/>
            <a:ext cx="859536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60904" y="2578608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496312" y="2971800"/>
            <a:ext cx="16824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判断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9624" y="2057400"/>
            <a:ext cx="1078992" cy="0"/>
          </a:xfrm>
          <a:prstGeom prst="line">
            <a:avLst/>
          </a:prstGeom>
          <a:noFill/>
          <a:ln w="19050">
            <a:solidFill>
              <a:srgbClr val="AFC8E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010912" y="1627632"/>
            <a:ext cx="859536" cy="859536"/>
          </a:xfrm>
          <a:prstGeom prst="ellipse">
            <a:avLst/>
          </a:prstGeom>
          <a:solidFill>
            <a:srgbClr val="4A9DE0"/>
          </a:solidFill>
          <a:ln w="12700">
            <a:solidFill>
              <a:srgbClr val="4A9DE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010912" y="1645920"/>
            <a:ext cx="859536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64024" y="2578608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规划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99432" y="2971800"/>
            <a:ext cx="16824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下一步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做什么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52744" y="2057400"/>
            <a:ext cx="1078992" cy="0"/>
          </a:xfrm>
          <a:prstGeom prst="line">
            <a:avLst/>
          </a:prstGeom>
          <a:noFill/>
          <a:ln w="19050">
            <a:solidFill>
              <a:srgbClr val="AFC8E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14032" y="1627632"/>
            <a:ext cx="859536" cy="859536"/>
          </a:xfrm>
          <a:prstGeom prst="ellipse">
            <a:avLst/>
          </a:prstGeom>
          <a:solidFill>
            <a:srgbClr val="2387BE"/>
          </a:solidFill>
          <a:ln w="1270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114032" y="1645920"/>
            <a:ext cx="859536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67144" y="2578608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02552" y="2971800"/>
            <a:ext cx="16824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 / edit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bash / task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55864" y="2057400"/>
            <a:ext cx="1078992" cy="0"/>
          </a:xfrm>
          <a:prstGeom prst="line">
            <a:avLst/>
          </a:prstGeom>
          <a:noFill/>
          <a:ln w="19050">
            <a:solidFill>
              <a:srgbClr val="AFC8E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217152" y="1627632"/>
            <a:ext cx="859536" cy="859536"/>
          </a:xfrm>
          <a:prstGeom prst="ellipse">
            <a:avLst/>
          </a:prstGeom>
          <a:solidFill>
            <a:srgbClr val="1F6FAF"/>
          </a:solidFill>
          <a:ln w="12700">
            <a:solidFill>
              <a:srgbClr val="1F6FA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217152" y="1645920"/>
            <a:ext cx="859536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970264" y="2578608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上下文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805672" y="2971800"/>
            <a:ext cx="168249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会话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工具返回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13232" y="3959352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Loop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13232" y="4498848"/>
            <a:ext cx="1755648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86384" y="4617720"/>
            <a:ext cx="16093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69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Observe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86384" y="4882896"/>
            <a:ext cx="160934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观察当前状态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487168" y="4901184"/>
            <a:ext cx="402336" cy="0"/>
          </a:xfrm>
          <a:prstGeom prst="line">
            <a:avLst/>
          </a:prstGeom>
          <a:noFill/>
          <a:ln w="16510">
            <a:solidFill>
              <a:srgbClr val="AEC5D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2944368" y="4498848"/>
            <a:ext cx="1755648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3017520" y="4617720"/>
            <a:ext cx="16093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7F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Plan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3017520" y="4882896"/>
            <a:ext cx="160934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选择下一步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18304" y="4901184"/>
            <a:ext cx="402336" cy="0"/>
          </a:xfrm>
          <a:prstGeom prst="line">
            <a:avLst/>
          </a:prstGeom>
          <a:noFill/>
          <a:ln w="16510">
            <a:solidFill>
              <a:srgbClr val="AEC5D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5175504" y="4498848"/>
            <a:ext cx="1755648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248656" y="4617720"/>
            <a:ext cx="16093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387B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Act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248656" y="4882896"/>
            <a:ext cx="160934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调用工具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949440" y="4901184"/>
            <a:ext cx="402336" cy="0"/>
          </a:xfrm>
          <a:prstGeom prst="line">
            <a:avLst/>
          </a:prstGeom>
          <a:noFill/>
          <a:ln w="16510">
            <a:solidFill>
              <a:srgbClr val="AEC5D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7406640" y="4498848"/>
            <a:ext cx="1755648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9DE0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479792" y="4617720"/>
            <a:ext cx="16093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A9D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Result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7479792" y="4882896"/>
            <a:ext cx="160934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获取反馈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180576" y="4901184"/>
            <a:ext cx="402336" cy="0"/>
          </a:xfrm>
          <a:prstGeom prst="line">
            <a:avLst/>
          </a:prstGeom>
          <a:noFill/>
          <a:ln w="16510">
            <a:solidFill>
              <a:srgbClr val="AEC5D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9637776" y="4498848"/>
            <a:ext cx="1755648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6FAF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9710928" y="4617720"/>
            <a:ext cx="16093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6F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Continue?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9710928" y="4882896"/>
            <a:ext cx="160934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继续 / 停止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710928" y="5148072"/>
            <a:ext cx="1508760" cy="658368"/>
          </a:xfrm>
          <a:prstGeom prst="arc">
            <a:avLst/>
          </a:prstGeom>
          <a:solidFill>
            <a:srgbClr val="F6F9FC">
              <a:alpha val="0"/>
            </a:srgbClr>
          </a:solidFill>
          <a:ln w="17780">
            <a:solidFill>
              <a:srgbClr val="1769D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9619488" y="5568696"/>
            <a:ext cx="1600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769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失败 → 再观察</a:t>
            </a:r>
            <a:endParaRPr lang="en-US" sz="95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· OpenCode 映射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把通用 Agent 概念映射到 OpenCode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理解这张表，后面的目录、Markdown 与权限配置就不再是“死记硬背”。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685800" y="1444752"/>
          <a:ext cx="10789920" cy="4407408"/>
        </p:xfrm>
        <a:graphic>
          <a:graphicData uri="http://schemas.openxmlformats.org/drawingml/2006/table">
            <a:tbl>
              <a:tblPr/>
              <a:tblGrid>
                <a:gridCol w="2148840"/>
                <a:gridCol w="3246120"/>
                <a:gridCol w="5394960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通用概念</a:t>
                      </a:r>
                      <a:endParaRPr lang="en-US" sz="125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OpenCode 中的实现</a:t>
                      </a:r>
                      <a:endParaRPr lang="en-US" sz="125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你真正要设计什么</a:t>
                      </a:r>
                      <a:endParaRPr lang="en-US" sz="125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LLM / 大脑</a:t>
                      </a:r>
                      <a:endParaRPr lang="en-US" sz="125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provider / model</a:t>
                      </a:r>
                      <a:endParaRPr lang="en-US" sz="125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选哪个模型负责判断与生成</a:t>
                      </a:r>
                      <a:endParaRPr lang="en-US" sz="125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工具</a:t>
                      </a:r>
                      <a:endParaRPr lang="en-US" sz="125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read / edit / glob / grep / bash / task…</a:t>
                      </a:r>
                      <a:endParaRPr lang="en-US" sz="125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允许做哪些真实操作</a:t>
                      </a:r>
                      <a:endParaRPr lang="en-US" sz="125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规划 / 循环</a:t>
                      </a:r>
                      <a:endParaRPr lang="en-US" sz="125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Agent 指令 + 工具反馈 + steps</a:t>
                      </a:r>
                      <a:endParaRPr lang="en-US" sz="125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任务步骤、预算、停止条件</a:t>
                      </a:r>
                      <a:endParaRPr lang="en-US" sz="125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上下文</a:t>
                      </a:r>
                      <a:endParaRPr lang="en-US" sz="125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会话 + 工具结果 + AGENTS.md</a:t>
                      </a:r>
                      <a:endParaRPr lang="en-US" sz="125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哪些信息长期有效，哪些只属于当前任务</a:t>
                      </a:r>
                      <a:endParaRPr lang="en-US" sz="125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SOP / 方法库</a:t>
                      </a:r>
                      <a:endParaRPr lang="en-US" sz="125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Skill</a:t>
                      </a:r>
                      <a:endParaRPr lang="en-US" sz="125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D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某类任务出现时按需加载的操作手册</a:t>
                      </a:r>
                      <a:endParaRPr lang="en-US" sz="125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685800" y="1444752"/>
            <a:ext cx="10789920" cy="621792"/>
          </a:xfrm>
          <a:prstGeom prst="rect">
            <a:avLst/>
          </a:prstGeom>
          <a:solidFill>
            <a:srgbClr val="E2F0FB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95528" y="1627632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通用概念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926080" y="1627632"/>
            <a:ext cx="306324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 中的实现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181344" y="1627632"/>
            <a:ext cx="507492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你真正要设计什么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143000" y="5961888"/>
            <a:ext cx="9555480" cy="457200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71016" y="6053328"/>
            <a:ext cx="9299448" cy="274320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不要把 Skill 当成“记忆”：Skill 是按需加载的 SOP；AGENTS.md 更像项目长期规则。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1161288" y="5980176"/>
            <a:ext cx="54864" cy="420624"/>
          </a:xfrm>
          <a:prstGeom prst="rect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· OpenCode 映射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93192"/>
            <a:ext cx="1101852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2600" b="1">
                <a:solidFill>
                  <a:srgbClr val="103A63"/>
                </a:solidFill>
                <a:latin typeface="Noto Sans CJK SC"/>
              </a:rPr>
              <a:t>OpenCode 五个积木：Agent / Skill / AGENTS.md / Command / Tool</a:t>
            </a:r>
            <a:endParaRPr sz="2600" b="1">
              <a:solidFill>
                <a:srgbClr val="103A63"/>
              </a:solidFill>
              <a:latin typeface="Noto Sans CJK SC"/>
            </a:endParaRPr>
          </a:p>
        </p:txBody>
      </p:sp>
      <p:sp>
        <p:nvSpPr>
          <p:cNvPr id="4" name="Text 2"/>
          <p:cNvSpPr/>
          <p:nvPr/>
        </p:nvSpPr>
        <p:spPr>
          <a:xfrm>
            <a:off x="585216" y="896112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最容易出错的地方，不是语法，而是把职责写错了位置。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30352" y="1463040"/>
            <a:ext cx="1993392" cy="4224528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481328"/>
            <a:ext cx="54864" cy="4187952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627632"/>
            <a:ext cx="168249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2907792"/>
            <a:ext cx="1627632" cy="868680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1320" b="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专业岗位：Reviewer / Debugger / Planner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197864" y="2057400"/>
            <a:ext cx="658368" cy="658368"/>
          </a:xfrm>
          <a:prstGeom prst="ellipse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197864" y="2066544"/>
            <a:ext cx="658368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85800" y="4507992"/>
            <a:ext cx="1682496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769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谁来执行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834640" y="1463040"/>
            <a:ext cx="1993392" cy="4224528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852928" y="1481328"/>
            <a:ext cx="54864" cy="4187952"/>
          </a:xfrm>
          <a:prstGeom prst="rect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035808" y="1627632"/>
            <a:ext cx="168249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17520" y="2907792"/>
            <a:ext cx="1627632" cy="868680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1320" b="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可复用 SOP：代码审查 / 发布流程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502152" y="2057400"/>
            <a:ext cx="658368" cy="658368"/>
          </a:xfrm>
          <a:prstGeom prst="ellipse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02152" y="2066544"/>
            <a:ext cx="658368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法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2990088" y="4507992"/>
            <a:ext cx="1682496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2F7F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怎么执行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138928" y="1463040"/>
            <a:ext cx="1993392" cy="4224528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157216" y="1481328"/>
            <a:ext cx="54864" cy="4187952"/>
          </a:xfrm>
          <a:prstGeom prst="rect">
            <a:avLst/>
          </a:prstGeom>
          <a:solidFill>
            <a:srgbClr val="2387BE"/>
          </a:solidFill>
          <a:ln w="1270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340096" y="1627632"/>
            <a:ext cx="168249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AGENTS.md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21808" y="2907792"/>
            <a:ext cx="1627632" cy="868680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1320" b="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仓库结构 / 测试命令 / 禁改目录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06440" y="2057400"/>
            <a:ext cx="658368" cy="658368"/>
          </a:xfrm>
          <a:prstGeom prst="ellipse">
            <a:avLst/>
          </a:prstGeom>
          <a:solidFill>
            <a:srgbClr val="2387BE"/>
          </a:solidFill>
          <a:ln w="1270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806440" y="2066544"/>
            <a:ext cx="658368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5294376" y="4507992"/>
            <a:ext cx="1682496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2387B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项目长期规则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443216" y="1463040"/>
            <a:ext cx="1993392" cy="4224528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461504" y="1481328"/>
            <a:ext cx="54864" cy="4187952"/>
          </a:xfrm>
          <a:prstGeom prst="rect">
            <a:avLst/>
          </a:prstGeom>
          <a:solidFill>
            <a:srgbClr val="3C82C3"/>
          </a:solidFill>
          <a:ln w="12700">
            <a:solidFill>
              <a:srgbClr val="3C82C3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644384" y="1627632"/>
            <a:ext cx="168249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Command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26096" y="2907792"/>
            <a:ext cx="1627632" cy="868680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1320" b="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/review / verify / release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10728" y="2057400"/>
            <a:ext cx="658368" cy="658368"/>
          </a:xfrm>
          <a:prstGeom prst="ellipse">
            <a:avLst/>
          </a:prstGeom>
          <a:solidFill>
            <a:srgbClr val="3C82C3"/>
          </a:solidFill>
          <a:ln w="12700">
            <a:solidFill>
              <a:srgbClr val="3C82C3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110728" y="2066544"/>
            <a:ext cx="658368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令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7598664" y="4507992"/>
            <a:ext cx="1682496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3C82C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如何一键触发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747504" y="1463040"/>
            <a:ext cx="1993392" cy="4224528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9765792" y="1481328"/>
            <a:ext cx="54864" cy="4187952"/>
          </a:xfrm>
          <a:prstGeom prst="rect">
            <a:avLst/>
          </a:prstGeom>
          <a:solidFill>
            <a:srgbClr val="4A9DE0"/>
          </a:solidFill>
          <a:ln w="12700">
            <a:solidFill>
              <a:srgbClr val="4A9DE0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9948672" y="1627632"/>
            <a:ext cx="168249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Tool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930384" y="2907792"/>
            <a:ext cx="1627632" cy="868680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1320" b="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 / edit / bash / task / skill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0415016" y="2057400"/>
            <a:ext cx="658368" cy="658368"/>
          </a:xfrm>
          <a:prstGeom prst="ellipse">
            <a:avLst/>
          </a:prstGeom>
          <a:solidFill>
            <a:srgbClr val="4A9DE0"/>
          </a:solidFill>
          <a:ln w="12700">
            <a:solidFill>
              <a:srgbClr val="4A9DE0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0415016" y="2066544"/>
            <a:ext cx="658368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器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9902952" y="4507992"/>
            <a:ext cx="1682496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4A9D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真正做动作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60120" y="5833872"/>
            <a:ext cx="10149840" cy="493776"/>
          </a:xfrm>
          <a:prstGeom prst="roundRect">
            <a:avLst>
              <a:gd name="adj" fmla="val 7407"/>
            </a:avLst>
          </a:prstGeom>
          <a:solidFill>
            <a:srgbClr val="EAF3FC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1088136" y="5925312"/>
            <a:ext cx="9893808" cy="31089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记忆口诀：Agent = 岗位；Skill = 操作手册；AGENTS.md = 项目宪法；Command = 快捷入口；Tool = 真正的工具。</a:t>
            </a:r>
            <a:endParaRPr lang="en-US" sz="1120" dirty="0"/>
          </a:p>
        </p:txBody>
      </p:sp>
      <p:sp>
        <p:nvSpPr>
          <p:cNvPr id="42" name="Shape 40"/>
          <p:cNvSpPr/>
          <p:nvPr/>
        </p:nvSpPr>
        <p:spPr>
          <a:xfrm>
            <a:off x="978408" y="5852160"/>
            <a:ext cx="54864" cy="457200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· 实战 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第一个练习项目：为什么输出 5 和 None？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我们故意选择一个极小问题，只关注 Agent / Skill，而不被业务复杂度干扰。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4846320" cy="3401568"/>
          </a:xfrm>
          <a:prstGeom prst="roundRect">
            <a:avLst>
              <a:gd name="adj" fmla="val 1075"/>
            </a:avLst>
          </a:prstGeom>
          <a:solidFill>
            <a:srgbClr val="142536"/>
          </a:solidFill>
          <a:ln w="12700">
            <a:solidFill>
              <a:srgbClr val="243B5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4672" y="1536192"/>
            <a:ext cx="73152" cy="73152"/>
          </a:xfrm>
          <a:prstGeom prst="ellipse">
            <a:avLst/>
          </a:prstGeom>
          <a:solidFill>
            <a:srgbClr val="5BA7E6"/>
          </a:solidFill>
          <a:ln w="12700">
            <a:solidFill>
              <a:srgbClr val="5BA7E6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32688" y="1536192"/>
            <a:ext cx="73152" cy="73152"/>
          </a:xfrm>
          <a:prstGeom prst="ellipse">
            <a:avLst/>
          </a:prstGeom>
          <a:solidFill>
            <a:srgbClr val="8AC4EE"/>
          </a:solidFill>
          <a:ln w="12700">
            <a:solidFill>
              <a:srgbClr val="8AC4EE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60704" y="1536192"/>
            <a:ext cx="73152" cy="73152"/>
          </a:xfrm>
          <a:prstGeom prst="ellipse">
            <a:avLst/>
          </a:prstGeom>
          <a:solidFill>
            <a:srgbClr val="3B92C9"/>
          </a:solidFill>
          <a:ln w="12700">
            <a:solidFill>
              <a:srgbClr val="3B92C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1728216"/>
            <a:ext cx="4517136" cy="2962656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7EF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def add(a, b):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7EF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print(a + b)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7EF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result = add(2, 3)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7EF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print(result)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4672" y="50749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运行结果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495" y="5376545"/>
            <a:ext cx="4846320" cy="861060"/>
          </a:xfrm>
          <a:prstGeom prst="roundRect">
            <a:avLst>
              <a:gd name="adj" fmla="val 5333"/>
            </a:avLst>
          </a:prstGeom>
          <a:solidFill>
            <a:srgbClr val="142536"/>
          </a:solidFill>
          <a:ln w="12700">
            <a:solidFill>
              <a:srgbClr val="285F8D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04672" y="5495544"/>
            <a:ext cx="73152" cy="73152"/>
          </a:xfrm>
          <a:prstGeom prst="ellipse">
            <a:avLst/>
          </a:prstGeom>
          <a:solidFill>
            <a:srgbClr val="5BA7E6"/>
          </a:solidFill>
          <a:ln w="12700">
            <a:solidFill>
              <a:srgbClr val="5BA7E6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32688" y="5495544"/>
            <a:ext cx="73152" cy="73152"/>
          </a:xfrm>
          <a:prstGeom prst="ellipse">
            <a:avLst/>
          </a:prstGeom>
          <a:solidFill>
            <a:srgbClr val="8AC4EE"/>
          </a:solidFill>
          <a:ln w="12700">
            <a:solidFill>
              <a:srgbClr val="8AC4EE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60704" y="5495544"/>
            <a:ext cx="73152" cy="73152"/>
          </a:xfrm>
          <a:prstGeom prst="ellipse">
            <a:avLst/>
          </a:prstGeom>
          <a:solidFill>
            <a:srgbClr val="3B92C9"/>
          </a:solidFill>
          <a:ln w="12700">
            <a:solidFill>
              <a:srgbClr val="3B92C9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5687568"/>
            <a:ext cx="4517136" cy="246888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7EF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5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7EF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None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897880" y="1417320"/>
            <a:ext cx="5394960" cy="1865376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916168" y="1435608"/>
            <a:ext cx="54864" cy="1828800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099048" y="1563624"/>
            <a:ext cx="508406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目标：创建一个“Python 入门老师 Agent”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9048" y="1984248"/>
            <a:ext cx="5084064" cy="1170432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它需要：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主动读取 main.py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解释程序执行过程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讲清 print 与 return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给出最小修改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但不要直接修改用户文件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897880" y="3584448"/>
            <a:ext cx="539496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916168" y="3602736"/>
            <a:ext cx="54864" cy="2432304"/>
          </a:xfrm>
          <a:prstGeom prst="rect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099048" y="3730752"/>
            <a:ext cx="508406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为什么先做 Agent，而不是 Skill？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9048" y="4151376"/>
            <a:ext cx="5084064" cy="177393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因为这里首先需要定义一个“角色”：它是谁、负责什么、允许做什么、输出长什么样。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之后再把“初学者讲解方法”拆成 Skill，供其他角色复用。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· 实战 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第一个 Agent：python-teacher.md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文件 = YAML frontmatter（能力与权限） + Markdown 正文（职责与工作流）。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85216" y="1389888"/>
            <a:ext cx="5074920" cy="4846320"/>
          </a:xfrm>
          <a:prstGeom prst="roundRect">
            <a:avLst>
              <a:gd name="adj" fmla="val 755"/>
            </a:avLst>
          </a:prstGeom>
          <a:solidFill>
            <a:srgbClr val="142536"/>
          </a:solidFill>
          <a:ln w="12700">
            <a:solidFill>
              <a:srgbClr val="243B5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31520" y="1508760"/>
            <a:ext cx="73152" cy="73152"/>
          </a:xfrm>
          <a:prstGeom prst="ellipse">
            <a:avLst/>
          </a:prstGeom>
          <a:solidFill>
            <a:srgbClr val="5BA7E6"/>
          </a:solidFill>
          <a:ln w="12700">
            <a:solidFill>
              <a:srgbClr val="5BA7E6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59536" y="1508760"/>
            <a:ext cx="73152" cy="73152"/>
          </a:xfrm>
          <a:prstGeom prst="ellipse">
            <a:avLst/>
          </a:prstGeom>
          <a:solidFill>
            <a:srgbClr val="8AC4EE"/>
          </a:solidFill>
          <a:ln w="12700">
            <a:solidFill>
              <a:srgbClr val="8AC4EE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87552" y="1508760"/>
            <a:ext cx="73152" cy="73152"/>
          </a:xfrm>
          <a:prstGeom prst="ellipse">
            <a:avLst/>
          </a:prstGeom>
          <a:solidFill>
            <a:srgbClr val="3B92C9"/>
          </a:solidFill>
          <a:ln w="12700">
            <a:solidFill>
              <a:srgbClr val="3B92C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49808" y="1700784"/>
            <a:ext cx="4745736" cy="4407408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---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description: 用适合初学者的方式解释 Python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mode: subagent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temperature: 0.1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permission: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edit: deny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bash: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"*": ask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"python *": allow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skill: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"python-beginner": allow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---</a:t>
            </a:r>
            <a:endParaRPr lang="en-US" sz="1360" dirty="0"/>
          </a:p>
          <a:p>
            <a:pPr marL="0" indent="0">
              <a:buNone/>
            </a:pP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你是一名 Python 入门老师...</a:t>
            </a:r>
            <a:endParaRPr lang="en-US" sz="1360" dirty="0"/>
          </a:p>
        </p:txBody>
      </p:sp>
      <p:sp>
        <p:nvSpPr>
          <p:cNvPr id="10" name="Shape 8"/>
          <p:cNvSpPr/>
          <p:nvPr/>
        </p:nvSpPr>
        <p:spPr>
          <a:xfrm>
            <a:off x="5989320" y="1444752"/>
            <a:ext cx="541324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007608" y="1463040"/>
            <a:ext cx="54864" cy="877824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90488" y="1591056"/>
            <a:ext cx="510235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description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90488" y="2011680"/>
            <a:ext cx="5102352" cy="21945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告诉 OpenCode：这个 Agent 做什么、何时该用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5989320" y="2569464"/>
            <a:ext cx="541324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007608" y="2587752"/>
            <a:ext cx="54864" cy="877824"/>
          </a:xfrm>
          <a:prstGeom prst="rect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90488" y="2715768"/>
            <a:ext cx="510235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mode: subagent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90488" y="3136392"/>
            <a:ext cx="5102352" cy="21945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把它定义为专业子角色，可通过 @python-teacher 调用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5989320" y="3694176"/>
            <a:ext cx="541324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007608" y="3712464"/>
            <a:ext cx="54864" cy="877824"/>
          </a:xfrm>
          <a:prstGeom prst="rect">
            <a:avLst/>
          </a:prstGeom>
          <a:solidFill>
            <a:srgbClr val="0F5F9D"/>
          </a:solidFill>
          <a:ln w="12700">
            <a:solidFill>
              <a:srgbClr val="0F5F9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190488" y="3840480"/>
            <a:ext cx="510235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permission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90488" y="4261104"/>
            <a:ext cx="5102352" cy="21945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老师只读解释：edit = deny；运行 python 可允许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5989320" y="4818888"/>
            <a:ext cx="541324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007608" y="4837176"/>
            <a:ext cx="54864" cy="877824"/>
          </a:xfrm>
          <a:prstGeom prst="rect">
            <a:avLst/>
          </a:prstGeom>
          <a:solidFill>
            <a:srgbClr val="2387BE"/>
          </a:solidFill>
          <a:ln w="1270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190488" y="4965192"/>
            <a:ext cx="510235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正文工作流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90488" y="5385816"/>
            <a:ext cx="5102352" cy="21945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读取代码 → 加载 Skill → 分步解释 → 最小修改 → 小练习</a:t>
            </a:r>
            <a:endParaRPr lang="en-US" sz="1070" dirty="0"/>
          </a:p>
        </p:txBody>
      </p:sp>
      <p:sp>
        <p:nvSpPr>
          <p:cNvPr id="26" name="Shape 24"/>
          <p:cNvSpPr/>
          <p:nvPr/>
        </p:nvSpPr>
        <p:spPr>
          <a:xfrm>
            <a:off x="5989320" y="5943600"/>
            <a:ext cx="5413248" cy="384048"/>
          </a:xfrm>
          <a:prstGeom prst="roundRect">
            <a:avLst>
              <a:gd name="adj" fmla="val 9524"/>
            </a:avLst>
          </a:prstGeom>
          <a:solidFill>
            <a:srgbClr val="EAF3FC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117336" y="6035040"/>
            <a:ext cx="5157216" cy="201168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核心思想：Agent 不是“提示词越长越好”，而是职责、权限、流程、完成标准要清楚。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6007608" y="5961888"/>
            <a:ext cx="54864" cy="347472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· Agent 规格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配置字段：先掌握这 6 个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对于入门项目，这些字段已经覆盖 80% 的设计问题。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3401568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76656" y="1435608"/>
            <a:ext cx="54864" cy="1847088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59536" y="156362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description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" y="1984248"/>
            <a:ext cx="3090672" cy="1188720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路由与职责说明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做什么 + 什么时候用 + 关键边界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1688" y="1417320"/>
            <a:ext cx="3401568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79976" y="1435608"/>
            <a:ext cx="54864" cy="1847088"/>
          </a:xfrm>
          <a:prstGeom prst="rect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62856" y="156362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62856" y="1984248"/>
            <a:ext cx="3090672" cy="1188720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primary / subagent / all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决定主角色还是专业子角色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65008" y="1417320"/>
            <a:ext cx="3401568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83296" y="1435608"/>
            <a:ext cx="54864" cy="1847088"/>
          </a:xfrm>
          <a:prstGeom prst="rect">
            <a:avLst/>
          </a:prstGeom>
          <a:solidFill>
            <a:srgbClr val="2387BE"/>
          </a:solidFill>
          <a:ln w="1270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66176" y="1563624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model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66176" y="1984248"/>
            <a:ext cx="3090672" cy="1188720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provider/model-id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决定由哪个模型当“大脑”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" y="3630168"/>
            <a:ext cx="3401568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76656" y="3648456"/>
            <a:ext cx="54864" cy="1847088"/>
          </a:xfrm>
          <a:prstGeom prst="rect">
            <a:avLst/>
          </a:prstGeom>
          <a:solidFill>
            <a:srgbClr val="4A9DE0"/>
          </a:solidFill>
          <a:ln w="12700">
            <a:solidFill>
              <a:srgbClr val="4A9DE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59536" y="3776472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temperature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9536" y="4197096"/>
            <a:ext cx="3090672" cy="1188720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随机性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低温更适合 Reviewer / Planner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61688" y="3630168"/>
            <a:ext cx="3401568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379976" y="3648456"/>
            <a:ext cx="54864" cy="1847088"/>
          </a:xfrm>
          <a:prstGeom prst="rect">
            <a:avLst/>
          </a:prstGeom>
          <a:solidFill>
            <a:srgbClr val="1F6FAF"/>
          </a:solidFill>
          <a:ln w="12700">
            <a:solidFill>
              <a:srgbClr val="1F6FA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562856" y="3776472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62856" y="4197096"/>
            <a:ext cx="3090672" cy="1188720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Loop 预算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限制最多迭代步数，防成本与死循环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65008" y="3630168"/>
            <a:ext cx="3401568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083296" y="3648456"/>
            <a:ext cx="54864" cy="1847088"/>
          </a:xfrm>
          <a:prstGeom prst="rect">
            <a:avLst/>
          </a:prstGeom>
          <a:solidFill>
            <a:srgbClr val="0F5F9D"/>
          </a:solidFill>
          <a:ln w="12700">
            <a:solidFill>
              <a:srgbClr val="0F5F9D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266176" y="3776472"/>
            <a:ext cx="30906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permission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66176" y="4197096"/>
            <a:ext cx="3090672" cy="1188720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能力边界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 / edit / bash / task / skill…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51560" y="5925312"/>
            <a:ext cx="9738360" cy="420624"/>
          </a:xfrm>
          <a:prstGeom prst="roundRect">
            <a:avLst>
              <a:gd name="adj" fmla="val 8696"/>
            </a:avLst>
          </a:prstGeom>
          <a:solidFill>
            <a:srgbClr val="EAF3FC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179576" y="6016752"/>
            <a:ext cx="9482328" cy="237744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版本提醒：旧字段 maxSteps 已弃用 → 使用 steps；旧 tools 布尔配置已被 permission 体系逐步取代。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1069848" y="5943600"/>
            <a:ext cx="54864" cy="384048"/>
          </a:xfrm>
          <a:prstGeom prst="rect">
            <a:avLst/>
          </a:prstGeom>
          <a:solidFill>
            <a:srgbClr val="4A9DE0"/>
          </a:solidFill>
          <a:ln w="12700">
            <a:solidFill>
              <a:srgbClr val="4A9DE0"/>
            </a:solidFill>
            <a:prstDash val="solid"/>
          </a:ln>
        </p:spPr>
        <p:txBody>
          <a:bodyPr/>
          <a:p/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· Skill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第一个 Skill：python-beginner/SKILL.md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 不定义“你是谁”，而定义“遇到这类任务时应该怎样做”。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03504" y="1335024"/>
            <a:ext cx="5321808" cy="5029200"/>
          </a:xfrm>
          <a:prstGeom prst="roundRect">
            <a:avLst>
              <a:gd name="adj" fmla="val 727"/>
            </a:avLst>
          </a:prstGeom>
          <a:solidFill>
            <a:srgbClr val="142536"/>
          </a:solidFill>
          <a:ln w="12700">
            <a:solidFill>
              <a:srgbClr val="243B5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49808" y="1453896"/>
            <a:ext cx="73152" cy="73152"/>
          </a:xfrm>
          <a:prstGeom prst="ellipse">
            <a:avLst/>
          </a:prstGeom>
          <a:solidFill>
            <a:srgbClr val="5BA7E6"/>
          </a:solidFill>
          <a:ln w="12700">
            <a:solidFill>
              <a:srgbClr val="5BA7E6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77824" y="1453896"/>
            <a:ext cx="73152" cy="73152"/>
          </a:xfrm>
          <a:prstGeom prst="ellipse">
            <a:avLst/>
          </a:prstGeom>
          <a:solidFill>
            <a:srgbClr val="8AC4EE"/>
          </a:solidFill>
          <a:ln w="12700">
            <a:solidFill>
              <a:srgbClr val="8AC4EE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05840" y="1453896"/>
            <a:ext cx="73152" cy="73152"/>
          </a:xfrm>
          <a:prstGeom prst="ellipse">
            <a:avLst/>
          </a:prstGeom>
          <a:solidFill>
            <a:srgbClr val="3B92C9"/>
          </a:solidFill>
          <a:ln w="12700">
            <a:solidFill>
              <a:srgbClr val="3B92C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68096" y="1645920"/>
            <a:ext cx="4992624" cy="4590288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---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name: python-beginner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description: 当用户学习或调试基础 Python 时，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用逐步执行、简单比喻和最小示例讲解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compatibility: opencode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metadata: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audience: beginners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version: "1.0.0"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---</a:t>
            </a:r>
            <a:endParaRPr lang="en-US" sz="1360" dirty="0"/>
          </a:p>
          <a:p>
            <a:pPr marL="0" indent="0">
              <a:buNone/>
            </a:pP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 Python 初学者讲解规范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## 什么时候使用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## 基本讲解步骤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## 重要规则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E7EF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## 推荐输出结构</a:t>
            </a:r>
            <a:endParaRPr lang="en-US" sz="136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5138928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281928" y="1435608"/>
            <a:ext cx="54864" cy="896112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64808" y="1563624"/>
            <a:ext cx="482803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name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64808" y="1984248"/>
            <a:ext cx="4828032" cy="237744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必须与目录名一致；小写 kebab-case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6263640" y="2578608"/>
            <a:ext cx="5138928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281928" y="2596896"/>
            <a:ext cx="54864" cy="896112"/>
          </a:xfrm>
          <a:prstGeom prst="rect">
            <a:avLst/>
          </a:prstGeom>
          <a:solidFill>
            <a:srgbClr val="2387BE"/>
          </a:solidFill>
          <a:ln w="1270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64808" y="2724912"/>
            <a:ext cx="482803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description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64808" y="3145536"/>
            <a:ext cx="4828032" cy="237744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真正参与“要不要加载”的路由元数据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6263640" y="3739896"/>
            <a:ext cx="5138928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281928" y="3758184"/>
            <a:ext cx="54864" cy="896112"/>
          </a:xfrm>
          <a:prstGeom prst="rect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64808" y="3886200"/>
            <a:ext cx="482803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正文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64808" y="4306824"/>
            <a:ext cx="4828032" cy="237744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什么时候用 / 怎么做 / 失败怎么处理 / 输出格式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6263640" y="4901184"/>
            <a:ext cx="5138928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281928" y="4919472"/>
            <a:ext cx="54864" cy="896112"/>
          </a:xfrm>
          <a:prstGeom prst="rect">
            <a:avLst/>
          </a:prstGeom>
          <a:solidFill>
            <a:srgbClr val="4A9DE0"/>
          </a:solidFill>
          <a:ln w="12700">
            <a:solidFill>
              <a:srgbClr val="4A9DE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64808" y="5047488"/>
            <a:ext cx="482803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metadata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64808" y="5468112"/>
            <a:ext cx="4828032" cy="237744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企业扩展可放字符串元数据；复杂治理建议另设文件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6263640" y="6007608"/>
            <a:ext cx="5138928" cy="347472"/>
          </a:xfrm>
          <a:prstGeom prst="roundRect">
            <a:avLst>
              <a:gd name="adj" fmla="val 10526"/>
            </a:avLst>
          </a:prstGeom>
          <a:solidFill>
            <a:srgbClr val="EAF3FC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391656" y="6099048"/>
            <a:ext cx="4882896" cy="164592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目录规则：.opencode/skills/python-beginner/SKILL.md；SKILL.md 必须大写。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6281928" y="6025896"/>
            <a:ext cx="54864" cy="310896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· Skill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 为什么可以很多，但上下文不会爆炸？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关键机制：渐进式披露（Progressive Disclosure）——先发现，后加载。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68680" y="1600200"/>
            <a:ext cx="297180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86968" y="1618488"/>
            <a:ext cx="54864" cy="2295144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69848" y="1746504"/>
            <a:ext cx="266090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发现 Discovery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9848" y="2167128"/>
            <a:ext cx="2660904" cy="163677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先看到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name + description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32023" y="1675892"/>
            <a:ext cx="457200" cy="457200"/>
          </a:xfrm>
          <a:prstGeom prst="ellipse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232023" y="1694180"/>
            <a:ext cx="4572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86200" y="2706624"/>
            <a:ext cx="502920" cy="0"/>
          </a:xfrm>
          <a:prstGeom prst="line">
            <a:avLst/>
          </a:prstGeom>
          <a:noFill/>
          <a:ln w="21590">
            <a:solidFill>
              <a:srgbClr val="AFC8E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26280" y="1600200"/>
            <a:ext cx="297180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44568" y="1618488"/>
            <a:ext cx="54864" cy="2295144"/>
          </a:xfrm>
          <a:prstGeom prst="rect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727448" y="1746504"/>
            <a:ext cx="266090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判断 Activation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27448" y="2167128"/>
            <a:ext cx="2660904" cy="163677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根据当前任务判断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是否相关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89623" y="1675892"/>
            <a:ext cx="457200" cy="457200"/>
          </a:xfrm>
          <a:prstGeom prst="ellipse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889623" y="1694180"/>
            <a:ext cx="4572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43800" y="2706624"/>
            <a:ext cx="502920" cy="0"/>
          </a:xfrm>
          <a:prstGeom prst="line">
            <a:avLst/>
          </a:prstGeom>
          <a:noFill/>
          <a:ln w="21590">
            <a:solidFill>
              <a:srgbClr val="AFC8E0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183880" y="1600200"/>
            <a:ext cx="297180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02168" y="1618488"/>
            <a:ext cx="54864" cy="2295144"/>
          </a:xfrm>
          <a:prstGeom prst="rect">
            <a:avLst/>
          </a:prstGeom>
          <a:solidFill>
            <a:srgbClr val="2387BE"/>
          </a:solidFill>
          <a:ln w="1270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385048" y="1746504"/>
            <a:ext cx="266090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加载 Execution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85048" y="2167128"/>
            <a:ext cx="2660904" cy="163677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 skill 工具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读取完整 SKILL.md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547223" y="1675892"/>
            <a:ext cx="457200" cy="457200"/>
          </a:xfrm>
          <a:prstGeom prst="ellipse">
            <a:avLst/>
          </a:prstGeom>
          <a:solidFill>
            <a:srgbClr val="2387BE"/>
          </a:solidFill>
          <a:ln w="1270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547223" y="1694180"/>
            <a:ext cx="4572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" y="434340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 能真正生效的 3 个条件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96112" y="4736592"/>
            <a:ext cx="10149840" cy="114300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32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路径 / SKILL.md / frontmatter 正确，OpenCode 能发现它</a:t>
            </a:r>
            <a:endParaRPr lang="en-US" sz="1320" dirty="0"/>
          </a:p>
          <a:p>
            <a:pPr marL="203200" indent="-203200">
              <a:buSzPct val="100000"/>
              <a:buChar char="•"/>
            </a:pPr>
            <a:r>
              <a:rPr lang="en-US" sz="132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 Agent 拥有 permission.skill 权限，没有被 deny</a:t>
            </a:r>
            <a:endParaRPr lang="en-US" sz="1320" dirty="0"/>
          </a:p>
          <a:p>
            <a:pPr marL="203200" indent="-203200">
              <a:buSzPct val="100000"/>
              <a:buChar char="•"/>
            </a:pPr>
            <a:r>
              <a:rPr lang="en-US" sz="132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description 足够清晰，或 Agent 正文明确规定触发条件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1325880" y="5961888"/>
            <a:ext cx="9281160" cy="411480"/>
          </a:xfrm>
          <a:prstGeom prst="roundRect">
            <a:avLst>
              <a:gd name="adj" fmla="val 8889"/>
            </a:avLst>
          </a:prstGeom>
          <a:solidFill>
            <a:srgbClr val="EAF3FC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453896" y="6053328"/>
            <a:ext cx="9025128" cy="228600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description 不是注释，而是“路由索引”。模糊 description 是 Skill 不加载的高频原因。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1344168" y="5980176"/>
            <a:ext cx="54864" cy="374904"/>
          </a:xfrm>
          <a:prstGeom prst="rect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· 职责边界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什么时候写 Agent？什么时候写 Skill？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一个简单判断：是在定义“谁来做”，还是在沉淀“怎么做”？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13232" y="1426464"/>
            <a:ext cx="507492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31520" y="1444752"/>
            <a:ext cx="54864" cy="4398264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1572768"/>
            <a:ext cx="476402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Agent：定义角色 / 岗位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993392"/>
            <a:ext cx="4764024" cy="373989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适合写：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角色身份与职责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mode / model / steps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工具与权限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工作流程与完成条件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输出证据要求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例：code-reviewer、debugger、planner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426464"/>
            <a:ext cx="507492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19088" y="1444752"/>
            <a:ext cx="54864" cy="4398264"/>
          </a:xfrm>
          <a:prstGeom prst="rect">
            <a:avLst/>
          </a:prstGeom>
          <a:solidFill>
            <a:srgbClr val="2387BE"/>
          </a:solidFill>
          <a:ln w="1270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01968" y="1572768"/>
            <a:ext cx="476402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Skill：定义可复用方法 / SOP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01968" y="1993392"/>
            <a:ext cx="4764024" cy="373989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适合写：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适用与不适用场景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固定执行步骤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质量检查规则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失败处理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references / scripts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例：code-review、python-quality、git-release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42432" y="2770632"/>
            <a:ext cx="658368" cy="914400"/>
          </a:xfrm>
          <a:prstGeom prst="chevron">
            <a:avLst/>
          </a:prstGeom>
          <a:solidFill>
            <a:srgbClr val="ECF3FA"/>
          </a:solidFill>
          <a:ln w="12700">
            <a:solidFill>
              <a:srgbClr val="C6D8E8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874520" y="5989320"/>
            <a:ext cx="8366760" cy="402336"/>
          </a:xfrm>
          <a:prstGeom prst="roundRect">
            <a:avLst>
              <a:gd name="adj" fmla="val 9091"/>
            </a:avLst>
          </a:prstGeom>
          <a:solidFill>
            <a:srgbClr val="EAF3FC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002536" y="6080760"/>
            <a:ext cx="8110728" cy="21945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记住：需要“新的专业角色” → Agent；需要“可复用的方法” → Skill。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1892808" y="6007608"/>
            <a:ext cx="54864" cy="365760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· 实战 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工程实战：code-reviewer + code-review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把“只读审查角色”和“审查方法论”拆开，权限与复用都会更清晰。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4114800" cy="443484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04088" y="1435608"/>
            <a:ext cx="54864" cy="4398264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86968" y="1563624"/>
            <a:ext cx="380390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code-reviewer Agent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1984248"/>
            <a:ext cx="3803904" cy="373989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角色：高级代码审查员</a:t>
            </a:r>
            <a:endParaRPr lang="en-US" sz="1240" dirty="0"/>
          </a:p>
          <a:p>
            <a:pPr marL="0" indent="0">
              <a:buNone/>
            </a:pP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权限：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read / glob / grep = allow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git diff / status = allow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edit = deny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pytest = ask</a:t>
            </a:r>
            <a:endParaRPr lang="en-US" sz="1240" dirty="0"/>
          </a:p>
          <a:p>
            <a:pPr marL="0" indent="0">
              <a:buNone/>
            </a:pP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输出：按严重级别列问题、证据、建议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7388352" y="1417320"/>
            <a:ext cx="4114800" cy="443484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406640" y="1435608"/>
            <a:ext cx="54864" cy="4398264"/>
          </a:xfrm>
          <a:prstGeom prst="rect">
            <a:avLst/>
          </a:prstGeom>
          <a:solidFill>
            <a:srgbClr val="2387BE"/>
          </a:solidFill>
          <a:ln w="1270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589520" y="1563624"/>
            <a:ext cx="380390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code-review Skill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89520" y="1984248"/>
            <a:ext cx="3803904" cy="373989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方法：统一 Code Review SOP</a:t>
            </a:r>
            <a:endParaRPr lang="en-US" sz="1240" dirty="0"/>
          </a:p>
          <a:p>
            <a:pPr marL="0" indent="0">
              <a:buNone/>
            </a:pP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规则：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先确认 review scope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正确性 / 安全 / 性能 / 可维护性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区分 confirmed defect 与 possible risk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明确严重级别和证据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给出最小修复建议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5074920" y="1874520"/>
            <a:ext cx="2029968" cy="3474720"/>
          </a:xfrm>
          <a:prstGeom prst="roundRect">
            <a:avLst/>
          </a:prstGeom>
          <a:solidFill>
            <a:srgbClr val="F1F6FC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349240" y="210312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调用关系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892040" y="2862072"/>
            <a:ext cx="182880" cy="0"/>
          </a:xfrm>
          <a:prstGeom prst="line">
            <a:avLst/>
          </a:prstGeom>
          <a:noFill/>
          <a:ln w="19050">
            <a:solidFill>
              <a:srgbClr val="1769D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104888" y="2862072"/>
            <a:ext cx="192024" cy="0"/>
          </a:xfrm>
          <a:prstGeom prst="line">
            <a:avLst/>
          </a:prstGeom>
          <a:noFill/>
          <a:ln w="19050">
            <a:solidFill>
              <a:srgbClr val="2387BE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330952" y="2761488"/>
            <a:ext cx="1536192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69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Reviewer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69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加载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69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code-review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69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30368" y="4407408"/>
            <a:ext cx="171907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角色权限 ≠ 方法论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188720" y="5961888"/>
            <a:ext cx="9784080" cy="420624"/>
          </a:xfrm>
          <a:prstGeom prst="roundRect">
            <a:avLst>
              <a:gd name="adj" fmla="val 8696"/>
            </a:avLst>
          </a:prstGeom>
          <a:solidFill>
            <a:srgbClr val="EAF3FC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316736" y="6053328"/>
            <a:ext cx="9528048" cy="237744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为什么不合成一个文件？同一套 code-review Skill 还可以被 orchestrator、PR bot、test-helper 复用。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1207008" y="5980176"/>
            <a:ext cx="54864" cy="384048"/>
          </a:xfrm>
          <a:prstGeom prst="rect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 · 项目工作流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AGENTS.md + Command：把“个人提示词”升级成团队工作流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长期规则放 AGENTS.md；高频操作用 Command 做成一键入口。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371600"/>
            <a:ext cx="498348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04088" y="1389888"/>
            <a:ext cx="54864" cy="4489704"/>
          </a:xfrm>
          <a:prstGeom prst="rect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86968" y="1517904"/>
            <a:ext cx="467258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AGENTS.md：项目长期规则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1938528"/>
            <a:ext cx="4672584" cy="383133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适合写：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仓库目录结构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Python / Node 版本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lint / typecheck / test 命令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禁止修改的生成目录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数据库迁移约束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Git 操作规则</a:t>
            </a:r>
            <a:endParaRPr lang="en-US" sz="1260" dirty="0"/>
          </a:p>
          <a:p>
            <a:pPr marL="0" indent="0">
              <a:buNone/>
            </a:pP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特点：每个 Agent 会话都可能需要，建议提交 Git。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6446520" y="1371600"/>
            <a:ext cx="498348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64808" y="1389888"/>
            <a:ext cx="54864" cy="4489704"/>
          </a:xfrm>
          <a:prstGeom prst="rect">
            <a:avLst/>
          </a:prstGeom>
          <a:solidFill>
            <a:srgbClr val="4A9DE0"/>
          </a:solidFill>
          <a:ln w="12700">
            <a:solidFill>
              <a:srgbClr val="4A9DE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47688" y="1517904"/>
            <a:ext cx="467258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Command：固定提示词入口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47688" y="1938528"/>
            <a:ext cx="4672584" cy="383133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例如 .opencode/commands/review.md：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---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description: Review current Git changes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agent: code-reviewer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subtask: true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---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Review the current Git changes...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用户只需要输入：/review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94248" y="2875280"/>
            <a:ext cx="640080" cy="914400"/>
          </a:xfrm>
          <a:prstGeom prst="chevron">
            <a:avLst/>
          </a:prstGeom>
          <a:solidFill>
            <a:srgbClr val="F1F6FC"/>
          </a:solidFill>
          <a:ln w="12700">
            <a:solidFill>
              <a:srgbClr val="C7DAE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877687" y="3054096"/>
            <a:ext cx="594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</a:t>
            </a:r>
            <a:endParaRPr lang="en-US" sz="1130" dirty="0"/>
          </a:p>
          <a:p>
            <a:pPr marL="0" indent="0" algn="ctr">
              <a:buNone/>
            </a:pPr>
            <a:r>
              <a:rPr lang="en-US" sz="113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</a:t>
            </a:r>
            <a:endParaRPr lang="en-US" sz="1130" dirty="0"/>
          </a:p>
          <a:p>
            <a:pPr marL="0" indent="0" algn="ctr">
              <a:buNone/>
            </a:pPr>
            <a:r>
              <a:rPr lang="en-US" sz="113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入口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· 权限与安全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权限设计：allow / ask / deny + 最小权限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工程里，权限边界往往比提示词本身更重要。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13232" y="1389888"/>
            <a:ext cx="3364992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31520" y="1408176"/>
            <a:ext cx="54864" cy="2020824"/>
          </a:xfrm>
          <a:prstGeom prst="rect">
            <a:avLst/>
          </a:prstGeom>
          <a:solidFill>
            <a:srgbClr val="1F6FAF"/>
          </a:solidFill>
          <a:ln w="12700">
            <a:solidFill>
              <a:srgbClr val="1F6FA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1536192"/>
            <a:ext cx="305409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6FA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allow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956816"/>
            <a:ext cx="3054096" cy="136245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可直接执行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read、git status、focused tests</a:t>
            </a:r>
            <a:endParaRPr lang="en-US" sz="1170" dirty="0"/>
          </a:p>
        </p:txBody>
      </p:sp>
      <p:sp>
        <p:nvSpPr>
          <p:cNvPr id="9" name="Shape 7"/>
          <p:cNvSpPr/>
          <p:nvPr/>
        </p:nvSpPr>
        <p:spPr>
          <a:xfrm>
            <a:off x="4443984" y="1389888"/>
            <a:ext cx="3364992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462272" y="1408176"/>
            <a:ext cx="54864" cy="2020824"/>
          </a:xfrm>
          <a:prstGeom prst="rect">
            <a:avLst/>
          </a:prstGeom>
          <a:solidFill>
            <a:srgbClr val="4A9DE0"/>
          </a:solidFill>
          <a:ln w="12700">
            <a:solidFill>
              <a:srgbClr val="4A9DE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45152" y="1536192"/>
            <a:ext cx="305409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9DE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45152" y="1956816"/>
            <a:ext cx="3054096" cy="136245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执行前需要批准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安装依赖、外部副作用命令</a:t>
            </a:r>
            <a:endParaRPr lang="en-US" sz="1170" dirty="0"/>
          </a:p>
        </p:txBody>
      </p:sp>
      <p:sp>
        <p:nvSpPr>
          <p:cNvPr id="13" name="Shape 11"/>
          <p:cNvSpPr/>
          <p:nvPr/>
        </p:nvSpPr>
        <p:spPr>
          <a:xfrm>
            <a:off x="8174736" y="1389888"/>
            <a:ext cx="3364992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193024" y="1408176"/>
            <a:ext cx="54864" cy="2020824"/>
          </a:xfrm>
          <a:prstGeom prst="rect">
            <a:avLst/>
          </a:prstGeom>
          <a:solidFill>
            <a:srgbClr val="0F5F9D"/>
          </a:solidFill>
          <a:ln w="12700">
            <a:solidFill>
              <a:srgbClr val="0F5F9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75904" y="1536192"/>
            <a:ext cx="305409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5F9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deny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75904" y="1956816"/>
            <a:ext cx="3054096" cy="136245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禁止执行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Reviewer edit、危险命令、未授权子 Agent</a:t>
            </a:r>
            <a:endParaRPr lang="en-US" sz="1170" dirty="0"/>
          </a:p>
        </p:txBody>
      </p:sp>
      <p:sp>
        <p:nvSpPr>
          <p:cNvPr id="17" name="Text 15"/>
          <p:cNvSpPr/>
          <p:nvPr/>
        </p:nvSpPr>
        <p:spPr>
          <a:xfrm>
            <a:off x="749808" y="382219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按岗位分配权限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4672" y="4279392"/>
            <a:ext cx="1051560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69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Reviewer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965960" y="4279392"/>
            <a:ext cx="8778240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260" b="0">
                <a:solidFill>
                  <a:srgbClr val="1F2D3D"/>
                </a:solidFill>
                <a:latin typeface="Noto Sans CJK SC"/>
              </a:rPr>
              <a:t>read ✓   edit ×   bash：git diff ✓ / pytest ask</a:t>
            </a:r>
            <a:endParaRPr sz="1260" b="0">
              <a:solidFill>
                <a:srgbClr val="1F2D3D"/>
              </a:solidFill>
              <a:latin typeface="Noto Sans CJK SC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04672" y="4882896"/>
            <a:ext cx="1051560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7FD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Planner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965960" y="4882896"/>
            <a:ext cx="8778240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260" b="0">
                <a:solidFill>
                  <a:srgbClr val="1F2D3D"/>
                </a:solidFill>
                <a:latin typeface="Noto Sans CJK SC"/>
              </a:rPr>
              <a:t>read ✓   edit ×   task：仅允许必要子 Agent</a:t>
            </a:r>
            <a:endParaRPr sz="1260" b="0">
              <a:solidFill>
                <a:srgbClr val="1F2D3D"/>
              </a:solidFill>
              <a:latin typeface="Noto Sans CJK SC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04672" y="5486400"/>
            <a:ext cx="1051560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87B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Builder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965960" y="5486400"/>
            <a:ext cx="8778240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260" b="0">
                <a:solidFill>
                  <a:srgbClr val="1F2D3D"/>
                </a:solidFill>
                <a:latin typeface="Noto Sans CJK SC"/>
              </a:rPr>
              <a:t>edit ✓   focused tests ✓   git push：ask / deny</a:t>
            </a:r>
            <a:endParaRPr sz="1260" b="0">
              <a:solidFill>
                <a:srgbClr val="1F2D3D"/>
              </a:solidFill>
              <a:latin typeface="Noto Sans CJK SC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572768" y="6035040"/>
            <a:ext cx="8979408" cy="338328"/>
          </a:xfrm>
          <a:prstGeom prst="roundRect">
            <a:avLst>
              <a:gd name="adj" fmla="val 10811"/>
            </a:avLst>
          </a:prstGeom>
          <a:solidFill>
            <a:srgbClr val="EAF3FC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700784" y="6126480"/>
            <a:ext cx="8723376" cy="155448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规则顺序很重要：通常先写 "*": ask，再写更具体的 allow / deny 特例。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1591056" y="6053328"/>
            <a:ext cx="54864" cy="301752"/>
          </a:xfrm>
          <a:prstGeom prst="rect">
            <a:avLst/>
          </a:prstGeom>
          <a:solidFill>
            <a:srgbClr val="0F5F9D"/>
          </a:solidFill>
          <a:ln w="12700">
            <a:solidFill>
              <a:srgbClr val="0F5F9D"/>
            </a:solidFill>
            <a:prstDash val="solid"/>
          </a:ln>
        </p:spPr>
        <p:txBody>
          <a:bodyPr/>
          <a:p/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 · 调试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/ Skill 没有生效？用这张排错图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先排“发现问题”，再排“权限问题”，最后排“路由问题”。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520440" cy="448056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58368" y="1435608"/>
            <a:ext cx="54864" cy="4443984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41248" y="1563624"/>
            <a:ext cx="320954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① Agent 找不到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984248"/>
            <a:ext cx="3209544" cy="378561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检查：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文件是否在 .opencode/agents/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Markdown 文件名是否正确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frontmatter 是否有效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mode / hidden 是否影响调用方式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是否重启 / 重新加载配置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4343400" y="1417320"/>
            <a:ext cx="3520440" cy="448056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61688" y="1435608"/>
            <a:ext cx="54864" cy="4443984"/>
          </a:xfrm>
          <a:prstGeom prst="rect">
            <a:avLst/>
          </a:prstGeom>
          <a:solidFill>
            <a:srgbClr val="2387BE"/>
          </a:solidFill>
          <a:ln w="1270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44568" y="1563624"/>
            <a:ext cx="320954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② Skill 找不到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44568" y="1984248"/>
            <a:ext cx="3209544" cy="378561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检查：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文件名是否严格是 SKILL.md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路径是否 .opencode/skills/&lt;name&gt;/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name / description 是否存在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name 是否与目录一致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是否被 permission.skill deny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8046720" y="1417320"/>
            <a:ext cx="3520440" cy="448056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65008" y="1435608"/>
            <a:ext cx="54864" cy="4443984"/>
          </a:xfrm>
          <a:prstGeom prst="rect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47888" y="1563624"/>
            <a:ext cx="320954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③ Skill 存在但不加载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47888" y="1984248"/>
            <a:ext cx="3209544" cy="378561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重点：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description 是否太模糊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当前 Agent 是否有 skill 权限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是否明确写了触发规则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是否存在同名 Skill 冲突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用“应触发 / 边界 / 不应触发”三类测试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2194560" y="6016752"/>
            <a:ext cx="7818120" cy="356616"/>
          </a:xfrm>
          <a:prstGeom prst="roundRect">
            <a:avLst>
              <a:gd name="adj" fmla="val 10256"/>
            </a:avLst>
          </a:prstGeom>
          <a:solidFill>
            <a:srgbClr val="EAF3FC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322576" y="6108192"/>
            <a:ext cx="7562088" cy="17373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调试顺序：能不能发现 → 能不能访问 → 模型有没有理由加载。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2212848" y="6035040"/>
            <a:ext cx="54864" cy="320040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 · 多 Agent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从单 Agent 到多 Agent：职责隔离，不是角色越多越好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推荐初学者采用“唯一写入者”模式：Primary Builder 写代码，其他子 Agent 只读分析。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169664" y="1325880"/>
            <a:ext cx="38404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187952" y="1344168"/>
            <a:ext cx="54864" cy="1197864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370832" y="1472184"/>
            <a:ext cx="352958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Orchestrator / Primary Builder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70832" y="1892808"/>
            <a:ext cx="3529584" cy="53949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理解目标 · 分解任务 · 唯一允许修改核心代码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108960"/>
            <a:ext cx="297180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04088" y="3127248"/>
            <a:ext cx="54864" cy="1536192"/>
          </a:xfrm>
          <a:prstGeom prst="rect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86968" y="3255264"/>
            <a:ext cx="266090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Planner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6968" y="3675888"/>
            <a:ext cx="2660904" cy="877824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架构 / 实施步骤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read-only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4169664" y="3108960"/>
            <a:ext cx="297180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187952" y="3127248"/>
            <a:ext cx="54864" cy="1536192"/>
          </a:xfrm>
          <a:prstGeom prst="rect">
            <a:avLst/>
          </a:prstGeom>
          <a:solidFill>
            <a:srgbClr val="4A9DE0"/>
          </a:solidFill>
          <a:ln w="12700">
            <a:solidFill>
              <a:srgbClr val="4A9DE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370832" y="3255264"/>
            <a:ext cx="266090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Debugger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70832" y="3675888"/>
            <a:ext cx="2660904" cy="877824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失败诊断 / 根因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 + limited bash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7653528" y="3108960"/>
            <a:ext cx="297180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671816" y="3127248"/>
            <a:ext cx="54864" cy="1536192"/>
          </a:xfrm>
          <a:prstGeom prst="rect">
            <a:avLst/>
          </a:prstGeom>
          <a:solidFill>
            <a:srgbClr val="2387BE"/>
          </a:solidFill>
          <a:ln w="1270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854696" y="3255264"/>
            <a:ext cx="266090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Code Reviewer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854696" y="3675888"/>
            <a:ext cx="2660904" cy="877824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独立复核 / 风险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read-only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 flipH="1">
            <a:off x="1954530" y="2541905"/>
            <a:ext cx="3352165" cy="558165"/>
          </a:xfrm>
          <a:prstGeom prst="line">
            <a:avLst/>
          </a:prstGeom>
          <a:noFill/>
          <a:ln w="17780">
            <a:solidFill>
              <a:srgbClr val="A5C0D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650865" y="2578735"/>
            <a:ext cx="635" cy="532130"/>
          </a:xfrm>
          <a:prstGeom prst="line">
            <a:avLst/>
          </a:prstGeom>
          <a:noFill/>
          <a:ln w="17780">
            <a:solidFill>
              <a:srgbClr val="A5C0D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089904" y="2578608"/>
            <a:ext cx="3044952" cy="484632"/>
          </a:xfrm>
          <a:prstGeom prst="line">
            <a:avLst/>
          </a:prstGeom>
          <a:noFill/>
          <a:ln w="17780">
            <a:solidFill>
              <a:srgbClr val="A5C0D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86384" y="5093208"/>
            <a:ext cx="30175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为什么“唯一写入者”更稳定？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68680" y="5468112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21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避免多个子 Agent 同时改同一批文件</a:t>
            </a:r>
            <a:endParaRPr lang="en-US" sz="1210" dirty="0"/>
          </a:p>
          <a:p>
            <a:pPr marL="203200" indent="-203200">
              <a:buSzPct val="100000"/>
              <a:buChar char="•"/>
            </a:pPr>
            <a:r>
              <a:rPr lang="en-US" sz="121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Reviewer 不会一边审查一边把问题直接改掉</a:t>
            </a:r>
            <a:endParaRPr lang="en-US" sz="1210" dirty="0"/>
          </a:p>
          <a:p>
            <a:pPr marL="203200" indent="-203200">
              <a:buSzPct val="100000"/>
              <a:buChar char="•"/>
            </a:pPr>
            <a:r>
              <a:rPr lang="en-US" sz="121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 Agent 始终知道变更来源与完成状态</a:t>
            </a:r>
            <a:endParaRPr lang="en-US" sz="121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 · 设计原则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好 Agent 与好 Skill：最小但完整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目标不是“写很多规则”，而是让职责、触发、边界、验证都足够明确。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344168"/>
            <a:ext cx="5230368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76656" y="1362456"/>
            <a:ext cx="54864" cy="4489704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59536" y="1490472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好 Agent：5 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" y="1911096"/>
            <a:ext cx="4919472" cy="383133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 职责窄而清晰：Reviewer 不顺便部署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 权限与职责匹配：只读角色没有 edit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 完成条件明确：什么时候可以宣布结束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 输出有证据：特别是 Reviewer / Debugger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 可委派但不滥委派：简单任务不要硬拆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91072" y="1344168"/>
            <a:ext cx="5230368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309360" y="1362456"/>
            <a:ext cx="54864" cy="4489704"/>
          </a:xfrm>
          <a:prstGeom prst="rect">
            <a:avLst/>
          </a:prstGeom>
          <a:solidFill>
            <a:srgbClr val="2387BE"/>
          </a:solidFill>
          <a:ln w="1270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92240" y="1490472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好 Skill：7 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1911096"/>
            <a:ext cx="4919472" cy="383133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 name 稳定、符合命名规则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 description = 能力 + 触发场景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 SKILL.md 只留核心流程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 长资料放 references/ 按需读取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 确定性逻辑放 scripts/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6. 明确不适用场景与失败处理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7. 用正例 / 边界 / 负例验证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78992" y="5998464"/>
            <a:ext cx="9921240" cy="374904"/>
          </a:xfrm>
          <a:prstGeom prst="roundRect">
            <a:avLst>
              <a:gd name="adj" fmla="val 9756"/>
            </a:avLst>
          </a:prstGeom>
          <a:solidFill>
            <a:srgbClr val="EAF3FC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207008" y="6089904"/>
            <a:ext cx="9665208" cy="192024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一个简单公式：角色差异 → Agent；方法复用 → Skill；项目共识 → AGENTS.md；高频触发 → Command。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1097280" y="6016752"/>
            <a:ext cx="54864" cy="338328"/>
          </a:xfrm>
          <a:prstGeom prst="rect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 · 企业化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企业级 Skill Hub / GitLab：运行格式与治理元数据分离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规模化之后，问题从“能不能运行”升级为“谁能发布、版本是否可信、脚本是否安全、如何回滚”。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1874520" cy="201168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21208" y="1984248"/>
            <a:ext cx="54864" cy="1975104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04088" y="2112264"/>
            <a:ext cx="156362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GitLab Skill Repo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4088" y="2532888"/>
            <a:ext cx="1563624" cy="131673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SKILL.md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references/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scripts/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404872" y="2971800"/>
            <a:ext cx="292608" cy="0"/>
          </a:xfrm>
          <a:prstGeom prst="line">
            <a:avLst/>
          </a:prstGeom>
          <a:noFill/>
          <a:ln w="19050">
            <a:solidFill>
              <a:srgbClr val="A8C2D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788920" y="1965960"/>
            <a:ext cx="1874520" cy="201168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807208" y="1984248"/>
            <a:ext cx="54864" cy="1975104"/>
          </a:xfrm>
          <a:prstGeom prst="rect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990088" y="2112264"/>
            <a:ext cx="156362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审核 / CI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90088" y="2532888"/>
            <a:ext cx="1563624" cy="131673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test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risk scan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90872" y="2971800"/>
            <a:ext cx="292608" cy="0"/>
          </a:xfrm>
          <a:prstGeom prst="line">
            <a:avLst/>
          </a:prstGeom>
          <a:noFill/>
          <a:ln w="19050">
            <a:solidFill>
              <a:srgbClr val="A8C2D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074920" y="1965960"/>
            <a:ext cx="1874520" cy="201168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093208" y="1984248"/>
            <a:ext cx="54864" cy="1975104"/>
          </a:xfrm>
          <a:prstGeom prst="rect">
            <a:avLst/>
          </a:prstGeom>
          <a:solidFill>
            <a:srgbClr val="2387BE"/>
          </a:solidFill>
          <a:ln w="1270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276088" y="2112264"/>
            <a:ext cx="156362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 Hub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76088" y="2532888"/>
            <a:ext cx="1563624" cy="131673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版本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元数据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76872" y="2971800"/>
            <a:ext cx="292608" cy="0"/>
          </a:xfrm>
          <a:prstGeom prst="line">
            <a:avLst/>
          </a:prstGeom>
          <a:noFill/>
          <a:ln w="19050">
            <a:solidFill>
              <a:srgbClr val="A8C2D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360920" y="1965960"/>
            <a:ext cx="1874520" cy="201168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379208" y="1984248"/>
            <a:ext cx="54864" cy="1975104"/>
          </a:xfrm>
          <a:prstGeom prst="rect">
            <a:avLst/>
          </a:prstGeom>
          <a:solidFill>
            <a:srgbClr val="4A9DE0"/>
          </a:solidFill>
          <a:ln w="12700">
            <a:solidFill>
              <a:srgbClr val="4A9DE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562088" y="2112264"/>
            <a:ext cx="156362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CLI / Plugin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62088" y="2532888"/>
            <a:ext cx="1563624" cy="131673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安装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Digest 校验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Lockfile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262872" y="2971800"/>
            <a:ext cx="292608" cy="0"/>
          </a:xfrm>
          <a:prstGeom prst="line">
            <a:avLst/>
          </a:prstGeom>
          <a:noFill/>
          <a:ln w="19050">
            <a:solidFill>
              <a:srgbClr val="A8C2D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646920" y="1965960"/>
            <a:ext cx="1874520" cy="201168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665208" y="1984248"/>
            <a:ext cx="54864" cy="1975104"/>
          </a:xfrm>
          <a:prstGeom prst="rect">
            <a:avLst/>
          </a:prstGeom>
          <a:solidFill>
            <a:srgbClr val="1F6FAF"/>
          </a:solidFill>
          <a:ln w="12700">
            <a:solidFill>
              <a:srgbClr val="1F6FA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848088" y="2112264"/>
            <a:ext cx="156362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OpenCode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848088" y="2532888"/>
            <a:ext cx="1563624" cy="131673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.opencode/skills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58368" y="4416552"/>
            <a:ext cx="1828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两层文件模型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685800" y="4773168"/>
            <a:ext cx="50749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04088" y="4791456"/>
            <a:ext cx="54864" cy="923544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86968" y="4919472"/>
            <a:ext cx="476402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SKILL.md（OpenCode 原生运行层）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86968" y="5340096"/>
            <a:ext cx="4764024" cy="26517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name / description / compatibility / metadata + 执行 SOP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6144768" y="4773168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163056" y="4791456"/>
            <a:ext cx="54864" cy="923544"/>
          </a:xfrm>
          <a:prstGeom prst="rect">
            <a:avLst/>
          </a:prstGeom>
          <a:solidFill>
            <a:srgbClr val="0F5F9D"/>
          </a:solidFill>
          <a:ln w="12700">
            <a:solidFill>
              <a:srgbClr val="0F5F9D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345936" y="4919472"/>
            <a:ext cx="503834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skillhub.yaml（企业治理层）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345936" y="5340096"/>
            <a:ext cx="5038344" cy="26517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owner / version / risk / digest / approval / compatibility / evaluation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1828800" y="5989320"/>
            <a:ext cx="8595360" cy="356616"/>
          </a:xfrm>
          <a:prstGeom prst="roundRect">
            <a:avLst>
              <a:gd name="adj" fmla="val 10256"/>
            </a:avLst>
          </a:prstGeom>
          <a:solidFill>
            <a:srgbClr val="EAF3FC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956816" y="6080760"/>
            <a:ext cx="8339328" cy="173736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不要把所有公司字段塞进 SKILL.md 顶层：OpenCode 未识别字段会被忽略。</a:t>
            </a:r>
            <a:endParaRPr lang="en-US" sz="1120" dirty="0"/>
          </a:p>
        </p:txBody>
      </p:sp>
      <p:sp>
        <p:nvSpPr>
          <p:cNvPr id="40" name="Shape 38"/>
          <p:cNvSpPr/>
          <p:nvPr/>
        </p:nvSpPr>
        <p:spPr>
          <a:xfrm>
            <a:off x="1847088" y="6007608"/>
            <a:ext cx="54864" cy="320040"/>
          </a:xfrm>
          <a:prstGeom prst="rect">
            <a:avLst/>
          </a:prstGeom>
          <a:solidFill>
            <a:srgbClr val="0F5F9D"/>
          </a:solidFill>
          <a:ln w="12700">
            <a:solidFill>
              <a:srgbClr val="0F5F9D"/>
            </a:solidFill>
            <a:prstDash val="solid"/>
          </a:ln>
        </p:spPr>
        <p:txBody>
          <a:bodyPr/>
          <a:p/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01168"/>
            <a:ext cx="1325880" cy="256032"/>
          </a:xfrm>
          <a:prstGeom prst="rect">
            <a:avLst/>
          </a:prstGeom>
          <a:solidFill>
            <a:srgbClr val="EAF3FC"/>
          </a:solidFill>
          <a:ln>
            <a:solidFill>
              <a:srgbClr val="EAF3F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69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 · 练习与速查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最后一页：从今天开始怎么练？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859536"/>
            <a:ext cx="106984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按下面顺序完成 7 个动作，你就已经具备一套可持续扩展的 OpenCode Agent / Skill 基础。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67512" y="1344168"/>
            <a:ext cx="347472" cy="347472"/>
          </a:xfrm>
          <a:prstGeom prst="ellipse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67512" y="1362456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43000" y="1353312"/>
            <a:ext cx="47091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创建最小 Python 项目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67512" y="1956816"/>
            <a:ext cx="347472" cy="347472"/>
          </a:xfrm>
          <a:prstGeom prst="ellipse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67512" y="1975104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43000" y="1965960"/>
            <a:ext cx="47091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 python-teacher Agent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7512" y="2569464"/>
            <a:ext cx="347472" cy="347472"/>
          </a:xfrm>
          <a:prstGeom prst="ellipse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" y="2587752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43000" y="2578608"/>
            <a:ext cx="47091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 python-beginner Skill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7512" y="3182112"/>
            <a:ext cx="347472" cy="347472"/>
          </a:xfrm>
          <a:prstGeom prst="ellipse">
            <a:avLst/>
          </a:prstGeom>
          <a:solidFill>
            <a:srgbClr val="2F7FD3"/>
          </a:solidFill>
          <a:ln w="12700">
            <a:solidFill>
              <a:srgbClr val="2F7FD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7512" y="3200400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43000" y="3191256"/>
            <a:ext cx="47091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 Skill 是否按需加载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7512" y="3794760"/>
            <a:ext cx="347472" cy="347472"/>
          </a:xfrm>
          <a:prstGeom prst="ellipse">
            <a:avLst/>
          </a:prstGeom>
          <a:solidFill>
            <a:srgbClr val="2387BE"/>
          </a:solidFill>
          <a:ln w="1270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67512" y="3813048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43000" y="3803904"/>
            <a:ext cx="47091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加入 code-reviewer + code-review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7512" y="4407408"/>
            <a:ext cx="347472" cy="347472"/>
          </a:xfrm>
          <a:prstGeom prst="ellipse">
            <a:avLst/>
          </a:prstGeom>
          <a:solidFill>
            <a:srgbClr val="2387BE"/>
          </a:solidFill>
          <a:ln w="12700">
            <a:solidFill>
              <a:srgbClr val="2387B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67512" y="4425696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43000" y="4416552"/>
            <a:ext cx="47091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加入 AGENTS.md + /review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7512" y="5020056"/>
            <a:ext cx="347472" cy="347472"/>
          </a:xfrm>
          <a:prstGeom prst="ellipse">
            <a:avLst/>
          </a:prstGeom>
          <a:solidFill>
            <a:srgbClr val="4A9DE0"/>
          </a:solidFill>
          <a:ln w="12700">
            <a:solidFill>
              <a:srgbClr val="4A9DE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" y="5038344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43000" y="5029200"/>
            <a:ext cx="47091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D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最后再做 Orchestrator / Skill 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09360" y="1325880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一页速查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55080" y="1783080"/>
            <a:ext cx="20574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需要新角色？</a:t>
            </a:r>
            <a:endParaRPr lang="en-US" sz="1180" dirty="0"/>
          </a:p>
        </p:txBody>
      </p:sp>
      <p:sp>
        <p:nvSpPr>
          <p:cNvPr id="28" name="Text 26"/>
          <p:cNvSpPr/>
          <p:nvPr/>
        </p:nvSpPr>
        <p:spPr>
          <a:xfrm>
            <a:off x="8458200" y="1755648"/>
            <a:ext cx="2148840" cy="310896"/>
          </a:xfrm>
          <a:prstGeom prst="rect">
            <a:avLst/>
          </a:prstGeom>
          <a:solidFill>
            <a:srgbClr val="1769D8"/>
          </a:solidFill>
          <a:ln>
            <a:solidFill>
              <a:srgbClr val="1769D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6355080" y="2377440"/>
            <a:ext cx="20574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需要复用 SOP？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8458200" y="2350008"/>
            <a:ext cx="2148840" cy="310896"/>
          </a:xfrm>
          <a:prstGeom prst="rect">
            <a:avLst/>
          </a:prstGeom>
          <a:solidFill>
            <a:srgbClr val="2387BE"/>
          </a:solidFill>
          <a:ln>
            <a:solidFill>
              <a:srgbClr val="2387BE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6355080" y="2971800"/>
            <a:ext cx="20574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项目长期规则？</a:t>
            </a:r>
            <a:endParaRPr lang="en-US" sz="1180" dirty="0"/>
          </a:p>
        </p:txBody>
      </p:sp>
      <p:sp>
        <p:nvSpPr>
          <p:cNvPr id="32" name="Text 30"/>
          <p:cNvSpPr/>
          <p:nvPr/>
        </p:nvSpPr>
        <p:spPr>
          <a:xfrm>
            <a:off x="8458200" y="2944368"/>
            <a:ext cx="2148840" cy="310896"/>
          </a:xfrm>
          <a:prstGeom prst="rect">
            <a:avLst/>
          </a:prstGeom>
          <a:solidFill>
            <a:srgbClr val="2F7FD3"/>
          </a:solidFill>
          <a:ln>
            <a:solidFill>
              <a:srgbClr val="2F7FD3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AGENTS.md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6355080" y="3566160"/>
            <a:ext cx="20574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高频一键入口？</a:t>
            </a:r>
            <a:endParaRPr lang="en-US" sz="1180" dirty="0"/>
          </a:p>
        </p:txBody>
      </p:sp>
      <p:sp>
        <p:nvSpPr>
          <p:cNvPr id="34" name="Text 32"/>
          <p:cNvSpPr/>
          <p:nvPr/>
        </p:nvSpPr>
        <p:spPr>
          <a:xfrm>
            <a:off x="8458200" y="3538728"/>
            <a:ext cx="2148840" cy="310896"/>
          </a:xfrm>
          <a:prstGeom prst="rect">
            <a:avLst/>
          </a:prstGeom>
          <a:solidFill>
            <a:srgbClr val="3B83C4"/>
          </a:solidFill>
          <a:ln>
            <a:solidFill>
              <a:srgbClr val="3B83C4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Command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6355080" y="4160520"/>
            <a:ext cx="20574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真正读写 / 执行？</a:t>
            </a:r>
            <a:endParaRPr lang="en-US" sz="1180" dirty="0"/>
          </a:p>
        </p:txBody>
      </p:sp>
      <p:sp>
        <p:nvSpPr>
          <p:cNvPr id="36" name="Text 34"/>
          <p:cNvSpPr/>
          <p:nvPr/>
        </p:nvSpPr>
        <p:spPr>
          <a:xfrm>
            <a:off x="8458200" y="4133088"/>
            <a:ext cx="2148840" cy="310896"/>
          </a:xfrm>
          <a:prstGeom prst="rect">
            <a:avLst/>
          </a:prstGeom>
          <a:solidFill>
            <a:srgbClr val="4A9DE0"/>
          </a:solidFill>
          <a:ln>
            <a:solidFill>
              <a:srgbClr val="4A9DE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Tool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6355080" y="4754880"/>
            <a:ext cx="20574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6275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担心副作用？</a:t>
            </a:r>
            <a:endParaRPr lang="en-US" sz="1180" dirty="0"/>
          </a:p>
        </p:txBody>
      </p:sp>
      <p:sp>
        <p:nvSpPr>
          <p:cNvPr id="38" name="Text 36"/>
          <p:cNvSpPr/>
          <p:nvPr/>
        </p:nvSpPr>
        <p:spPr>
          <a:xfrm>
            <a:off x="8458200" y="4727448"/>
            <a:ext cx="2148840" cy="310896"/>
          </a:xfrm>
          <a:prstGeom prst="rect">
            <a:avLst/>
          </a:prstGeom>
          <a:solidFill>
            <a:srgbClr val="103A63"/>
          </a:solidFill>
          <a:ln>
            <a:solidFill>
              <a:srgbClr val="103A63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permission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6309360" y="5532120"/>
            <a:ext cx="4937760" cy="566928"/>
          </a:xfrm>
          <a:prstGeom prst="roundRect">
            <a:avLst>
              <a:gd name="adj" fmla="val 6452"/>
            </a:avLst>
          </a:prstGeom>
          <a:solidFill>
            <a:srgbClr val="EAF3FC"/>
          </a:solidFill>
          <a:ln w="12700">
            <a:solidFill>
              <a:srgbClr val="C9DDF2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437376" y="5623560"/>
            <a:ext cx="4681728" cy="384048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103A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下一步不是“做更多 Agent”，而是持续验证：职责是否清晰？权限是否最小？Skill 是否真能复用？</a:t>
            </a:r>
            <a:endParaRPr lang="en-US" sz="1120" dirty="0"/>
          </a:p>
        </p:txBody>
      </p:sp>
      <p:sp>
        <p:nvSpPr>
          <p:cNvPr id="41" name="Shape 39"/>
          <p:cNvSpPr/>
          <p:nvPr/>
        </p:nvSpPr>
        <p:spPr>
          <a:xfrm>
            <a:off x="6327648" y="5550408"/>
            <a:ext cx="54864" cy="530352"/>
          </a:xfrm>
          <a:prstGeom prst="rect">
            <a:avLst/>
          </a:prstGeom>
          <a:solidFill>
            <a:srgbClr val="1769D8"/>
          </a:solidFill>
          <a:ln w="12700">
            <a:solidFill>
              <a:srgbClr val="1769D8"/>
            </a:solidFill>
            <a:prstDash val="solid"/>
          </a:ln>
        </p:spPr>
        <p:txBody>
          <a:bodyPr/>
          <a:p/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7370</Words>
  <Application>WPS Presentation</Application>
  <PresentationFormat>On-screen Show (16:9)</PresentationFormat>
  <Paragraphs>822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40" baseType="lpstr">
      <vt:lpstr>Arial</vt:lpstr>
      <vt:lpstr>SimSun</vt:lpstr>
      <vt:lpstr>Wingdings</vt:lpstr>
      <vt:lpstr>Noto Sans</vt:lpstr>
      <vt:lpstr>Thonburi</vt:lpstr>
      <vt:lpstr>Noto Sans CJK SC</vt:lpstr>
      <vt:lpstr>苹方-简</vt:lpstr>
      <vt:lpstr>Noto Sans CJK SC</vt:lpstr>
      <vt:lpstr>Noto Sans CJK SC</vt:lpstr>
      <vt:lpstr>Noto Sans CJK SC</vt:lpstr>
      <vt:lpstr>DejaVu Sans Mono</vt:lpstr>
      <vt:lpstr>DejaVu Sans Mono</vt:lpstr>
      <vt:lpstr>DejaVu Sans Mono</vt:lpstr>
      <vt:lpstr>Microsoft YaHei</vt:lpstr>
      <vt:lpstr>汉仪旗黑</vt:lpstr>
      <vt:lpstr>Arial Unicode MS</vt:lpstr>
      <vt:lpstr>宋体-简</vt:lpstr>
      <vt:lpstr>Calibri</vt:lpstr>
      <vt:lpstr>Helvetica Neue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OpenCode Agent 与 Skill：从零到工程化</dc:title>
  <dc:creator>OpenAI</dc:creator>
  <dc:subject>OpenCode Agent 与 Skill 入门与工程化教程</dc:subject>
  <cp:lastModifiedBy>谢明</cp:lastModifiedBy>
  <cp:revision>4</cp:revision>
  <dcterms:created xsi:type="dcterms:W3CDTF">2026-08-07T03:15:37Z</dcterms:created>
  <dcterms:modified xsi:type="dcterms:W3CDTF">2026-08-07T03:15:37Z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1033-12.1.26050.26050</vt:lpwstr>
  </property>
  <property fmtid="{D5CDD505-2E9C-101B-9397-08002B2CF9AE}" pid="3" name="ICV">
    <vt:lpwstr>BF27A5D776BEF6939B4D756A74E74488_42</vt:lpwstr>
  </property>
</Properties>
</file>