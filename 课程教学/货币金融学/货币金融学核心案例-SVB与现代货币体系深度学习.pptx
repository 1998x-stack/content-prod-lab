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86384"/>
            <a:ext cx="6126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货币金融学核心案例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76656" y="1417320"/>
            <a:ext cx="7223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SVB 倒闭理解基础货币、M2、准备金、货币创造与金融危机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94944" y="2331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395728"/>
            <a:ext cx="186537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真实案例：2023 SVB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52928" y="23317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395728"/>
            <a:ext cx="20482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资产负债表方法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93792" y="23317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D96C06"/>
          </a:solidFill>
          <a:ln w="12700">
            <a:solidFill>
              <a:srgbClr val="D96C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2395728"/>
            <a:ext cx="186537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深度学习路线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4005072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8F2FE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05656"/>
            <a:ext cx="26151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央行货币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 + 准备金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05072" y="4005072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AF7F5"/>
          </a:solidFill>
          <a:ln w="12700">
            <a:solidFill>
              <a:srgbClr val="C3E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4105656"/>
            <a:ext cx="26151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银行信用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贷款创造存款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96912" y="4005072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4E0"/>
          </a:solidFill>
          <a:ln w="12700">
            <a:solidFill>
              <a:srgbClr val="F4D1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4105656"/>
            <a:ext cx="26151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金融危机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信心 + 流动性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21024" y="4581144"/>
            <a:ext cx="338328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12864" y="4581144"/>
            <a:ext cx="338328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13232" y="6144768"/>
            <a:ext cx="5852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学习版 PPT｜核心概念 + 因果链 + 研究框架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为什么一个银行案例能讲完整门课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 不是单一“坏账故事”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" y="1874520"/>
            <a:ext cx="374904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低利率时期：存款暴涨，资产端买入长期证券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加息时期：收益率上升，旧债价格下跌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挤兑时期：未保险存款集中流出，迫使卖资产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政策时期：存款保护、最后贷款人与流动性工具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15087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1609344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1609344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738360" y="150876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48088" y="1609344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84848" y="1828800"/>
            <a:ext cx="466344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08008" y="1828800"/>
            <a:ext cx="466344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0600" y="2971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072384"/>
            <a:ext cx="17007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基础货币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0" y="2971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3072384"/>
            <a:ext cx="17007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存款货币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29800" y="297180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9528" y="3072384"/>
            <a:ext cx="17007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银行挤兑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金融稳定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84848" y="3346704"/>
            <a:ext cx="466344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99448" y="3346704"/>
            <a:ext cx="466344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 的因果链：低利率繁荣到数字挤兑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112264"/>
            <a:ext cx="1197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存款暴涨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057400" y="2423160"/>
            <a:ext cx="41148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20116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2112264"/>
            <a:ext cx="1197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长期证券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977640" y="2423160"/>
            <a:ext cx="41148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34840" y="20116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6E6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112264"/>
            <a:ext cx="1197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快速加息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897880" y="2423160"/>
            <a:ext cx="41148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20116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2112264"/>
            <a:ext cx="1197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价格下跌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818120" y="2423160"/>
            <a:ext cx="41148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75320" y="20116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5048" y="2112264"/>
            <a:ext cx="1197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提款流出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738360" y="2423160"/>
            <a:ext cx="41148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95560" y="20116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EDEF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05288" y="2112264"/>
            <a:ext cx="11978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监管接管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真正的冲击不是“资产会违约”，而是“长期安全资产也会因利率上升而跌价”。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0120" y="45720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4672584"/>
            <a:ext cx="27066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资产端：久期风险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17720" y="45720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4672584"/>
            <a:ext cx="27066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负债端：未保险存款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75320" y="45720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4672584"/>
            <a:ext cx="27066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信心端：抢跑逻辑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货币层级：央行货币 vs 商业银行货币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459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E8F2FE"/>
          </a:solidFill>
          <a:ln w="12700">
            <a:solidFill>
              <a:srgbClr val="B8D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46504"/>
            <a:ext cx="2980944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央行货币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现金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银行准备金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最终结算层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EAF7F5"/>
          </a:solidFill>
          <a:ln w="12700">
            <a:solidFill>
              <a:srgbClr val="BFE4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746504"/>
            <a:ext cx="2980944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商业银行货币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活期存款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储蓄/定期存款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M2 的主体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21040" y="164592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4E0"/>
          </a:solidFill>
          <a:ln w="12700">
            <a:solidFill>
              <a:srgbClr val="F1D0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746504"/>
            <a:ext cx="2980944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市场信用资产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债券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贷款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证券化产品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价格会波动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69080" y="3337560"/>
            <a:ext cx="448056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18120" y="3337560"/>
            <a:ext cx="448056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5806440"/>
            <a:ext cx="10332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SVB的客户看到的是“银行存款=钱”；SVB资产负债表上看到的是“存款=随时可能被取走的负债”。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商业银行资产负债表：所有问题都从这里开始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资产：银行把钱投向哪里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负债与资本：钱从哪里来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75104"/>
            <a:ext cx="4169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 / 准备金：最高流动性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6060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706624"/>
            <a:ext cx="4169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贷款：收益高，但信用风险高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438144"/>
            <a:ext cx="4169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长期债券 / MBS：信用低风险，利率高风险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1975104"/>
            <a:ext cx="4169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活期 / 企业存款：可随时流出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260604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706624"/>
            <a:ext cx="4169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同业融资：市场情绪影响大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33756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3438144"/>
            <a:ext cx="4169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股东资本：吸收亏损的垫子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3063240"/>
            <a:ext cx="96012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40680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匹配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或错配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5029200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FFFDF6"/>
          </a:solidFill>
          <a:ln w="12700">
            <a:solidFill>
              <a:srgbClr val="E8C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5129784"/>
            <a:ext cx="92903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银行脆弱性 = 短期可赎回负债 + 长期不完全流动资产 + 有限资本缓冲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货币创造：贷款会同时创造存款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0876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09344"/>
            <a:ext cx="325526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银行资产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企业贷款 +100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26680" y="150876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1609344"/>
            <a:ext cx="325526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银行负债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企业存款 +100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26280" y="2011680"/>
            <a:ext cx="3108960" cy="0"/>
          </a:xfrm>
          <a:prstGeom prst="line">
            <a:avLst/>
          </a:prstGeom>
          <a:noFill/>
          <a:ln w="2032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46320" y="2240280"/>
            <a:ext cx="2560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同一笔会计分录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企业拿到可支付的银行存款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银行拿到一项贷款资产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整个银行体系的存款货币增加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但银行仍受资本、流动性、风险和监管约束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34290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FFF4E0"/>
          </a:solidFill>
          <a:ln w="12700">
            <a:solidFill>
              <a:srgbClr val="E8C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3529584"/>
            <a:ext cx="416966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不要机械理解“存100贷90”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更准确：银行在约束下创造信用与存款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准备金：银行体系内部的最终清算货币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9384"/>
            <a:ext cx="21579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客户甲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A银行账户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2040" y="18288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1929384"/>
            <a:ext cx="21579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央行准备金账户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→ 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0" y="1828800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0848" y="1929384"/>
            <a:ext cx="21579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客户乙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B银行账户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203704"/>
            <a:ext cx="150876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2203704"/>
            <a:ext cx="150876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0120" y="3886200"/>
            <a:ext cx="9875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986784"/>
            <a:ext cx="96560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表层：客户只是转账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底层：A银行必须把准备金转给B银行完成最终结算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5715000"/>
            <a:ext cx="9601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准备金不足不会简单等于“不能贷款”，但会影响清算、流动性和银行间资金价格。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央行资产负债表：基础货币从哪里来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53312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央行资产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29400" y="1353312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央行负债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18288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929384"/>
            <a:ext cx="3986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国债 / MBS / 外汇资产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27432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43784"/>
            <a:ext cx="3986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对商业银行贷款：贴现窗口、BTFP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18288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1929384"/>
            <a:ext cx="3986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商业银行准备金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29400" y="27432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2843784"/>
            <a:ext cx="3986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流通中的现金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49240" y="3063240"/>
            <a:ext cx="1188720" cy="0"/>
          </a:xfrm>
          <a:prstGeom prst="line">
            <a:avLst/>
          </a:prstGeom>
          <a:noFill/>
          <a:ln w="20320">
            <a:solidFill>
              <a:srgbClr val="D96C0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34440" y="4754880"/>
            <a:ext cx="9509760" cy="868680"/>
          </a:xfrm>
          <a:prstGeom prst="roundRect">
            <a:avLst>
              <a:gd name="adj" fmla="val 8421"/>
            </a:avLst>
          </a:prstGeom>
          <a:solidFill>
            <a:srgbClr val="FDFDFD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4855464"/>
            <a:ext cx="929030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危机时央行扩大资产端 → 负债端创造准备金 → 向银行体系提供流动性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公开市场操作：央行如何牵引短端利率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55064"/>
            <a:ext cx="1975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央行买入证券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27248" y="1883664"/>
            <a:ext cx="1033272" cy="0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55448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1655064"/>
            <a:ext cx="1975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准备金增加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65392" y="1883664"/>
            <a:ext cx="1024128" cy="0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80960" y="155448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1655064"/>
            <a:ext cx="1975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短端利率下行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346704"/>
            <a:ext cx="1975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央行卖出证券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27248" y="3575304"/>
            <a:ext cx="1033272" cy="0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51960" y="324612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3346704"/>
            <a:ext cx="1975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准备金减少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65392" y="3575304"/>
            <a:ext cx="1024128" cy="0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324612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0688" y="3346704"/>
            <a:ext cx="197510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短端利率上行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21208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现代“充裕准备金”框架下，央行还通过准备金利率、隔夜逆回购等工具形成利率走廊。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银行间市场：流动性在银行之间流动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20824"/>
            <a:ext cx="21579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准备金短缺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2040" y="19202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2020824"/>
            <a:ext cx="21579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银行间市场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拆借 / 回购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0" y="19202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0848" y="2020824"/>
            <a:ext cx="21579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银行B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准备金富余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313432"/>
            <a:ext cx="150876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69680" y="2313432"/>
            <a:ext cx="-150876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4048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正常时期：市场平滑个别银行的流动性波动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80160" y="4206240"/>
            <a:ext cx="9509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4306824"/>
            <a:ext cx="92903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压力时期：银行互不信任 → 拆借意愿下降 → 央行流动性工具使用上升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收益率曲线：利率风险如何进入银行账本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简化曲线：加息前 vs 加息后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5212080"/>
            <a:ext cx="4754880" cy="0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5212080"/>
            <a:ext cx="0" cy="-3017520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4572000"/>
            <a:ext cx="4389120" cy="-822960"/>
          </a:xfrm>
          <a:prstGeom prst="line">
            <a:avLst/>
          </a:prstGeom>
          <a:noFill/>
          <a:ln w="38100">
            <a:solidFill>
              <a:srgbClr val="087E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794760"/>
            <a:ext cx="4389120" cy="-1097280"/>
          </a:xfrm>
          <a:prstGeom prst="line">
            <a:avLst/>
          </a:prstGeom>
          <a:noFill/>
          <a:ln w="38100">
            <a:solidFill>
              <a:srgbClr val="D96C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44068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544068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2743200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加息后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加息前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700784"/>
            <a:ext cx="41696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利率上升 → 旧债价格下跌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6492240" y="283464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935224"/>
            <a:ext cx="41696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久期越长 → 跌幅越大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492240" y="406908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4169664"/>
            <a:ext cx="416966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卖出资产 → 未实现亏损变成已实现亏损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银行挤兑：抢跑逻辑如何自我实现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46504"/>
            <a:ext cx="17922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别人提款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16459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746504"/>
            <a:ext cx="17922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银行卖资产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32120" y="16459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746504"/>
            <a:ext cx="17922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确认亏损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09560" y="16459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9288" y="1746504"/>
            <a:ext cx="17922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资本下降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9160" y="39319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4032504"/>
            <a:ext cx="179222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我也提款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16352" y="1965960"/>
            <a:ext cx="27432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3792" y="1965960"/>
            <a:ext cx="27432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71232" y="1965960"/>
            <a:ext cx="27432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15400" y="2331720"/>
            <a:ext cx="-3108960" cy="1536192"/>
          </a:xfrm>
          <a:prstGeom prst="line">
            <a:avLst/>
          </a:prstGeom>
          <a:noFill/>
          <a:ln w="16510">
            <a:solidFill>
              <a:srgbClr val="B23A4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17720" y="4251960"/>
            <a:ext cx="-2834640" cy="-1856232"/>
          </a:xfrm>
          <a:prstGeom prst="line">
            <a:avLst/>
          </a:prstGeom>
          <a:noFill/>
          <a:ln w="16510">
            <a:solidFill>
              <a:srgbClr val="B23A4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" y="525780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FFDF6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358384"/>
            <a:ext cx="97475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挤兑的核心不是“所有人都认为银行一定破产”，而是“担心自己晚一步会吃亏”。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存款保险与最后贷款人：两道防火墙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EAF7F5"/>
          </a:solidFill>
          <a:ln w="12700">
            <a:solidFill>
              <a:srgbClr val="BFE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92224"/>
            <a:ext cx="426110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存款保险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目标：稳定小额储户预期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方法：承诺保险范围内存款安全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效果：切断“别人跑我也跑”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代价：可能带来道德风险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0" y="1691640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E8F2FE"/>
          </a:solidFill>
          <a:ln w="12700">
            <a:solidFill>
              <a:srgbClr val="B8D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6288" y="1792224"/>
            <a:ext cx="4261104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最后贷款人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目标：给合格银行临时流动性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方法：以抵押品换取央行资金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效果：避免被迫贱卖资产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代价：需要防止救助无偿付能力机构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0680" y="3429000"/>
            <a:ext cx="1234440" cy="0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51560" y="5532120"/>
            <a:ext cx="9326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危机治理的难点：既要阻止恐慌扩散，又不能鼓励银行未来承担更高风险。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 后的政策工具：BTFP 的逻辑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00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007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银行持有长期国债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面值 100 / 市价 80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1984248"/>
            <a:ext cx="100584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1600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7007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市场卖出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只能拿回 80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35240" y="1984248"/>
            <a:ext cx="100584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1600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42248" y="17007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亏损实现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资本受损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BTFP 替代路径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374904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849624"/>
            <a:ext cx="279806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合格抵押品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按面值估值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77640" y="4133088"/>
            <a:ext cx="109728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37490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384962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央行贷款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最长一年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4133088"/>
            <a:ext cx="914400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37490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16568" y="3849624"/>
            <a:ext cx="22494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缓解被迫卖出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金融危机五阶段：从繁荣到政策处置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29384"/>
            <a:ext cx="165506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繁荣期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信用扩张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风险感下降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06040" y="2834640"/>
            <a:ext cx="329184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90088" y="18288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929384"/>
            <a:ext cx="165506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触发点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加息/违约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价格下跌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10328" y="2834640"/>
            <a:ext cx="329184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94376" y="18288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1929384"/>
            <a:ext cx="165506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流动性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争抢现金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抛售资产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14616" y="2834640"/>
            <a:ext cx="329184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98664" y="18288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1929384"/>
            <a:ext cx="165506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信心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挤兑/拆借收缩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对手方谨慎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18904" y="2834640"/>
            <a:ext cx="329184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02952" y="18288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1929384"/>
            <a:ext cx="165506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央行/财政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处置与改革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" y="4892040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FFFDF6"/>
          </a:solidFill>
          <a:ln w="12700">
            <a:solidFill>
              <a:srgbClr val="E8C6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992624"/>
            <a:ext cx="10021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系统性风险 = 相似资产 + 相似融资 + 相似预期 + 同时去杠杆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把货币金融学记成一个循环系统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41732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96128" y="1517904"/>
            <a:ext cx="1289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22402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39328" y="2340864"/>
            <a:ext cx="1289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基础货币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457200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4672584"/>
            <a:ext cx="1289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商业银行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0" y="457200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4672584"/>
            <a:ext cx="1289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M2 / 存款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342900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6C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529584"/>
            <a:ext cx="1289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金融市场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1554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5963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4368" y="1655064"/>
            <a:ext cx="1289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实体经济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22592" y="1737360"/>
            <a:ext cx="1161288" cy="64008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41080" y="2852928"/>
            <a:ext cx="-274320" cy="1673352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4846320"/>
            <a:ext cx="-2148840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4754880"/>
            <a:ext cx="-1600200" cy="-96012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194560" y="3383280"/>
            <a:ext cx="822960" cy="-123444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43400" y="1783080"/>
            <a:ext cx="1097280" cy="-9144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5806440"/>
            <a:ext cx="10424160" cy="384048"/>
          </a:xfrm>
          <a:prstGeom prst="roundRect">
            <a:avLst>
              <a:gd name="adj" fmla="val 19048"/>
            </a:avLst>
          </a:prstGeom>
          <a:solidFill>
            <a:srgbClr val="EAF2F8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907024"/>
            <a:ext cx="102047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央行调利率 → 市场重定价 → 银行资产负债表变化 → 信贷与M2变化 → 反过来影响经济与金融稳定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货币金融学案例学习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760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银行危机分析清单：12 个必问问题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06424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52120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存款是否集中？未保险存款比例多高？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资产久期、信用风险、行业集中度如何？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收益率上升100/200/300bp时，资本是否仍充足？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现金、准备金、高流动性证券能覆盖几天提款？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客户是否高度互联，是否容易集体行动？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央行工具、存款保险、处置机制如何分摊损失？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37960" y="16002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7688" y="1700784"/>
            <a:ext cx="4078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核心不是预测“哪家一定倒闭”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37960" y="27889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2889504"/>
            <a:ext cx="4078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而是识别“哪条反馈链最脆弱”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37960" y="39776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4078224"/>
            <a:ext cx="4078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资产价格、流动性、信心谁先断？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841248"/>
            <a:ext cx="9784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最后记住一条主线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192024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E8F2FE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" y="2020824"/>
            <a:ext cx="17007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货币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889504" y="2276856"/>
            <a:ext cx="630936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11880" y="192024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EAF7F5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1608" y="2020824"/>
            <a:ext cx="17007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87E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32704" y="2276856"/>
            <a:ext cx="630936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55080" y="192024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4E0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2020824"/>
            <a:ext cx="17007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6C0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利率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375904" y="2276856"/>
            <a:ext cx="630936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192024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DEBE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08008" y="2020824"/>
            <a:ext cx="17007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资产负债表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794760"/>
            <a:ext cx="99669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A5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SVB 的核心启示：安全资产也有价格风险；银行若用短期负债持有长期资产，一旦信心崩溃，流动性风险会把账面亏损变成真实危机。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6080760"/>
            <a:ext cx="9144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学习下一步：用同一框架分析 2008 雷曼、1997 亚洲金融危机、1982 拉美债务危机。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货币金融学核心案例</dc:title>
  <dc:subject>货币金融学核心案例：SVB与现代货币体系</dc:subject>
  <dc:creator>OpenAI</dc:creator>
  <cp:lastModifiedBy>OpenAI</cp:lastModifiedBy>
  <cp:revision>1</cp:revision>
  <dcterms:created xsi:type="dcterms:W3CDTF">2026-08-20T06:52:52Z</dcterms:created>
  <dcterms:modified xsi:type="dcterms:W3CDTF">2026-08-20T06:52:52Z</dcterms:modified>
</cp:coreProperties>
</file>