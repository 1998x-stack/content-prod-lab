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5992" cy="603504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85800"/>
            <a:ext cx="27432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A53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53035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</a:t>
            </a:r>
            <a:endParaRPr lang="en-US" sz="4100" dirty="0"/>
          </a:p>
          <a:p>
            <a:pPr algn="l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“美元荒”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61264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美元核心货币 → 欧洲美元 → FX Swap → Swap Line → 美债抛售 → 无限QE → 全球央行体系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06640" y="1115568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61504" y="1143000"/>
            <a:ext cx="3227832" cy="5394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全球信用以美元计价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079992" y="1792224"/>
            <a:ext cx="0" cy="694944"/>
          </a:xfrm>
          <a:prstGeom prst="line">
            <a:avLst/>
          </a:prstGeom>
          <a:noFill/>
          <a:ln w="21590">
            <a:solidFill>
              <a:srgbClr val="D6A53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06640" y="260604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FFF2CC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61504" y="2633472"/>
            <a:ext cx="3227832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最终央行美元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只能由Fed创造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079992" y="3456432"/>
            <a:ext cx="0" cy="704088"/>
          </a:xfrm>
          <a:prstGeom prst="line">
            <a:avLst/>
          </a:prstGeom>
          <a:noFill/>
          <a:ln w="21590">
            <a:solidFill>
              <a:srgbClr val="D6A53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06640" y="429768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DDEBF7"/>
          </a:solidFill>
          <a:ln w="13970">
            <a:solidFill>
              <a:srgbClr val="40A6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61504" y="4325112"/>
            <a:ext cx="3227832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危机时：所有人向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货币层级顶端奔跑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9808" y="5760720"/>
            <a:ext cx="99669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核心命题：美元荒不是“美元数量消失”，而是私人金融体系将美元资产转为美元现金的能力突然不够。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从第三个案例看完整货币金融地图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E2F0D9"/>
          </a:solidFill>
          <a:ln w="13970">
            <a:solidFill>
              <a:srgbClr val="3B8C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56232"/>
            <a:ext cx="2450592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SVB 2023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商业银行货币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520440" y="2258568"/>
            <a:ext cx="77724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89120" y="182880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FF2CC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1856232"/>
            <a:ext cx="2724912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Lehman 2008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市场/影子银行货币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60920" y="2258568"/>
            <a:ext cx="77724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0" y="18288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1856232"/>
            <a:ext cx="2633472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美元荒 2020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国际美元货币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0120" y="3794760"/>
            <a:ext cx="10058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867912"/>
            <a:ext cx="9838944" cy="9052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第一层解释：一家银行为什么挤兑。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第二层解释：没有储户排队，金融体系也能挤兑。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第三层解释：全世界为什么会同时抢美元。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5230368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这一讲把“货币创造”从银行资产负债表，推进到全球美元资产负债表。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真正的矛盾：全球美元使用 &gt; Fed直接管辖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581912"/>
            <a:ext cx="171907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全球贸易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美元计价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770632"/>
            <a:ext cx="171907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美元债务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跨境融资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959352"/>
            <a:ext cx="171907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美债/Repo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抵押品体系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51206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5148072"/>
            <a:ext cx="171907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FX Swap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表外美元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606040" y="1920240"/>
            <a:ext cx="2057400" cy="139903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06040" y="3108960"/>
            <a:ext cx="2057400" cy="21031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606040" y="4297680"/>
            <a:ext cx="2057400" cy="-97840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606040" y="5486400"/>
            <a:ext cx="2057400" cy="-216712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09160" y="2788920"/>
            <a:ext cx="2423160" cy="1024128"/>
          </a:xfrm>
          <a:prstGeom prst="roundRect">
            <a:avLst>
              <a:gd name="adj" fmla="val 7143"/>
            </a:avLst>
          </a:prstGeom>
          <a:solidFill>
            <a:srgbClr val="FFF2CC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4024" y="2816352"/>
            <a:ext cx="2313432" cy="9692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美元需求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是全球性的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269480" y="3310128"/>
            <a:ext cx="9601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75320" y="2697480"/>
            <a:ext cx="2880360" cy="1170432"/>
          </a:xfrm>
          <a:prstGeom prst="roundRect">
            <a:avLst>
              <a:gd name="adj" fmla="val 6250"/>
            </a:avLst>
          </a:prstGeom>
          <a:solidFill>
            <a:srgbClr val="FCE4D6"/>
          </a:solidFill>
          <a:ln w="13970">
            <a:solidFill>
              <a:srgbClr val="C659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0184" y="2724912"/>
            <a:ext cx="2770632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最终央行美元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只有Fed创造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880360" y="5029200"/>
            <a:ext cx="8092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90088" y="5102352"/>
            <a:ext cx="7872984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平时由私人银行、Dealer、货币基金、外汇掉期市场完成中介；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危机时这些私人资产负债表突然收缩，缺口只能由公共资产负债表补上。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美元为什么是全球核心货币：网络效应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2F0D9"/>
          </a:solidFill>
          <a:ln w="13970">
            <a:solidFill>
              <a:srgbClr val="3B8C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536192"/>
            <a:ext cx="1810512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支付货币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贸易结算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71800" y="150876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26664" y="1536192"/>
            <a:ext cx="1810512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融资货币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美元债/贷款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66360" y="150876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FF2CC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21224" y="1536192"/>
            <a:ext cx="1810512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储备货币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央行外储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60920" y="150876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CE4D6"/>
          </a:solidFill>
          <a:ln w="13970">
            <a:solidFill>
              <a:srgbClr val="C659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15784" y="1536192"/>
            <a:ext cx="1810512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抵押品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美债/Repo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55480" y="150876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3970">
            <a:solidFill>
              <a:srgbClr val="40A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10344" y="1536192"/>
            <a:ext cx="1810512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定价基准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收益率曲线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737360" y="2423160"/>
            <a:ext cx="2194560" cy="146304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931920" y="2423160"/>
            <a:ext cx="1463040" cy="146304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6480" y="2423160"/>
            <a:ext cx="182880" cy="146304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21040" y="2423160"/>
            <a:ext cx="-1097280" cy="146304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515600" y="2423160"/>
            <a:ext cx="-2743200" cy="146304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743200" y="3886200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98064" y="3913632"/>
            <a:ext cx="683971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美元市场越深 → 成本越低 → 越多人使用 → 市场更深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097280" y="5349240"/>
            <a:ext cx="100584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这不是“美国强大”一句话能解释的，而是多重金融基础设施共同形成的锁定效应。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美元的三重身份：支付、融资、抵押品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2286000" cy="530352"/>
          </a:xfrm>
          <a:prstGeom prst="roundRect">
            <a:avLst>
              <a:gd name="adj" fmla="val 13793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444752"/>
            <a:ext cx="2176272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支付货币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029968"/>
            <a:ext cx="233172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全球贸易、商品计价、跨境结算。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即使双方都不是美国人，也常用美元。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40480" y="1417320"/>
            <a:ext cx="2286000" cy="530352"/>
          </a:xfrm>
          <a:prstGeom prst="roundRect">
            <a:avLst>
              <a:gd name="adj" fmla="val 13793"/>
            </a:avLst>
          </a:prstGeom>
          <a:solidFill>
            <a:srgbClr val="FFF2CC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95344" y="1444752"/>
            <a:ext cx="2176272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融资货币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886200" y="2029968"/>
            <a:ext cx="233172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美元贷款、美元债、商业票据。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非美企业也可能有美元负债。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0" y="1417320"/>
            <a:ext cx="2743200" cy="530352"/>
          </a:xfrm>
          <a:prstGeom prst="roundRect">
            <a:avLst>
              <a:gd name="adj" fmla="val 13793"/>
            </a:avLst>
          </a:prstGeom>
          <a:solidFill>
            <a:srgbClr val="E2F0D9"/>
          </a:solidFill>
          <a:ln w="13970">
            <a:solidFill>
              <a:srgbClr val="3B8C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444752"/>
            <a:ext cx="2633472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抵押品/储备货币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903720" y="2029968"/>
            <a:ext cx="27432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美债既是央行储备，也是Repo、保证金和衍生品抵押品。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417320" y="4160520"/>
            <a:ext cx="9509760" cy="749808"/>
          </a:xfrm>
          <a:prstGeom prst="roundRect">
            <a:avLst>
              <a:gd name="adj" fmla="val 9756"/>
            </a:avLst>
          </a:prstGeom>
          <a:solidFill>
            <a:srgbClr val="FCE4D6"/>
          </a:solidFill>
          <a:ln w="13970">
            <a:solidFill>
              <a:srgbClr val="C659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72184" y="4187952"/>
            <a:ext cx="9400032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危机时，这三重身份会同时变成现金需求。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8961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贸易要付款、债务要滚动、抵押品要补保证金、储备要用于汇率干预。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欧洲美元：境外也能创造“美元承诺”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2514600" cy="640080"/>
          </a:xfrm>
          <a:prstGeom prst="roundRect">
            <a:avLst>
              <a:gd name="adj" fmla="val 11429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10512"/>
            <a:ext cx="2404872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伦敦/东京/新加坡银行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114300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2CC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8304" y="1810512"/>
            <a:ext cx="2267712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发放100万美元贷款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0" y="2103120"/>
            <a:ext cx="109728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321040" y="1691640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3970">
            <a:solidFill>
              <a:srgbClr val="3B8C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1719072"/>
            <a:ext cx="2679192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负债端出现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美元存款/美元债权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3364992"/>
            <a:ext cx="4754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C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能创造：美元存款、美元债权、美元信用。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51560" y="4160520"/>
            <a:ext cx="53949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2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不能创造：美联储准备金，即最终央行美元。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629400" y="3246120"/>
            <a:ext cx="4343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9128" y="3319272"/>
            <a:ext cx="4123944" cy="11795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美元荒的制度根源：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离岸体系能扩张美元负债，但危机时需要的是顶层的央行美元。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货币层级：危机时“1美元”不再都等价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17720" y="1143000"/>
            <a:ext cx="2926080" cy="457200"/>
          </a:xfrm>
          <a:prstGeom prst="trapezoid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161288"/>
            <a:ext cx="29260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Fed Reserves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美联储准备金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77640" y="1783080"/>
            <a:ext cx="4206240" cy="475488"/>
          </a:xfrm>
          <a:prstGeom prst="trapezoid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801368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Bank Deposits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银行存款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2487168"/>
            <a:ext cx="5486400" cy="475488"/>
          </a:xfrm>
          <a:prstGeom prst="trapezoid">
            <a:avLst/>
          </a:prstGeom>
          <a:solidFill>
            <a:srgbClr val="40A6D9"/>
          </a:solidFill>
          <a:ln w="12700">
            <a:solidFill>
              <a:srgbClr val="40A6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505456"/>
            <a:ext cx="5486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Treasury Bills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短期美债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97480" y="3200400"/>
            <a:ext cx="6766560" cy="475488"/>
          </a:xfrm>
          <a:prstGeom prst="trapezoid">
            <a:avLst/>
          </a:prstGeom>
          <a:solidFill>
            <a:srgbClr val="D6A531"/>
          </a:solidFill>
          <a:ln w="12700">
            <a:solidFill>
              <a:srgbClr val="D6A5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3218688"/>
            <a:ext cx="6766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 / MMF / CP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市场型货币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57400" y="3931920"/>
            <a:ext cx="8046720" cy="475488"/>
          </a:xfrm>
          <a:prstGeom prst="trapezoid">
            <a:avLst/>
          </a:prstGeom>
          <a:solidFill>
            <a:srgbClr val="C65911"/>
          </a:solidFill>
          <a:ln w="12700">
            <a:solidFill>
              <a:srgbClr val="C659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3950208"/>
            <a:ext cx="8046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FX Swap Dollar Funding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外汇掉期美元融资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417320" y="4681728"/>
            <a:ext cx="9326880" cy="475488"/>
          </a:xfrm>
          <a:prstGeom prst="trapezoid">
            <a:avLst/>
          </a:prstGeom>
          <a:solidFill>
            <a:srgbClr val="A23A3A"/>
          </a:solidFill>
          <a:ln w="12700">
            <a:solidFill>
              <a:srgbClr val="A2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4700016"/>
            <a:ext cx="93268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Long-term 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长期美元债券/贷款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1143000"/>
            <a:ext cx="3200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越往上：越像最终支付手段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046720" y="5376672"/>
            <a:ext cx="35661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23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越往下：越依赖信用和流动性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FX Swap：表面是换汇，本质常像美元融资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" y="169164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719072"/>
            <a:ext cx="1901952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今天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JPY → USD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108960" y="2029968"/>
            <a:ext cx="169164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37760" y="1691640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FFF2CC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92624" y="1719072"/>
            <a:ext cx="2313432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购买美债/美元资产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0" y="2029968"/>
            <a:ext cx="164592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281160" y="169164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36024" y="1719072"/>
            <a:ext cx="1810512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USD → JPY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3749040"/>
            <a:ext cx="9784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3822192"/>
            <a:ext cx="9564624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经济效果：用本币资金来源，短期获得美元。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当所有机构同时续作/抢美元，FX Swap价格会急剧恶化。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5074920"/>
            <a:ext cx="9784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Cross-Currency Basis = 全球美元融资压力温度计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2020年3月时间线：从冲击到无限QE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10515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770632"/>
            <a:ext cx="219456" cy="21945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200400"/>
            <a:ext cx="1417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3/3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紧急降息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26080" y="2770632"/>
            <a:ext cx="219456" cy="21945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3200400"/>
            <a:ext cx="1417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3/15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降至0-0.25%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扩大Swap Line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0" y="2770632"/>
            <a:ext cx="219456" cy="21945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3200400"/>
            <a:ext cx="1417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3/19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临时Swap Line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扩大到9家央行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23760" y="2770632"/>
            <a:ext cx="219456" cy="219456"/>
          </a:xfrm>
          <a:prstGeom prst="ellipse">
            <a:avLst/>
          </a:prstGeom>
          <a:solidFill>
            <a:srgbClr val="C65911"/>
          </a:solidFill>
          <a:ln w="12700">
            <a:solidFill>
              <a:srgbClr val="C659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200400"/>
            <a:ext cx="1417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59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3/23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659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“按所需规模”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659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无限QE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509760" y="2770632"/>
            <a:ext cx="219456" cy="21945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3200400"/>
            <a:ext cx="1417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3/31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FIMA Repo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34440" y="4937760"/>
            <a:ext cx="9784080" cy="73152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4168" y="5010912"/>
            <a:ext cx="9564624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重点：Fed不是只“降息”，而是同时修复Dealer、外国银行、外国央行和美债/MBS市场四条水管。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Dash for Cash：所有人同时想把资产变成美元现金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444752"/>
            <a:ext cx="176479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动用授信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34640" y="1700784"/>
            <a:ext cx="1737360" cy="1353312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2423160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450592"/>
            <a:ext cx="176479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基金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面对赎回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34640" y="2706624"/>
            <a:ext cx="1737360" cy="347472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3429000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456432"/>
            <a:ext cx="176479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保证金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Margin Call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834640" y="3712464"/>
            <a:ext cx="1737360" cy="-658368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" y="4434840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4462272"/>
            <a:ext cx="176479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Prime MMF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资金外流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834640" y="4718304"/>
            <a:ext cx="1737360" cy="-1664208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09160" y="2514600"/>
            <a:ext cx="2286000" cy="1078992"/>
          </a:xfrm>
          <a:prstGeom prst="roundRect">
            <a:avLst>
              <a:gd name="adj" fmla="val 6780"/>
            </a:avLst>
          </a:prstGeom>
          <a:solidFill>
            <a:srgbClr val="FCE4D6"/>
          </a:solidFill>
          <a:ln w="13970">
            <a:solidFill>
              <a:srgbClr val="C659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4024" y="2542032"/>
            <a:ext cx="217627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美元现金需求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突然爆炸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132320" y="3054096"/>
            <a:ext cx="118872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458200" y="2514600"/>
            <a:ext cx="2423160" cy="1078992"/>
          </a:xfrm>
          <a:prstGeom prst="roundRect">
            <a:avLst>
              <a:gd name="adj" fmla="val 6780"/>
            </a:avLst>
          </a:prstGeom>
          <a:solidFill>
            <a:srgbClr val="FFF2CC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13064" y="2542032"/>
            <a:ext cx="231343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银行/Dealer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中介能力收缩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834640" y="525780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44368" y="5330952"/>
            <a:ext cx="6272784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美元荒 = Dollar Demand ↑ + Private Intermediation 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Prime MMF外流：非美银行美元水管收缩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CE4D6"/>
          </a:solidFill>
          <a:ln w="13970">
            <a:solidFill>
              <a:srgbClr val="C659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56232"/>
            <a:ext cx="1993392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投资者赎回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Prime MMF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063240" y="2203704"/>
            <a:ext cx="105156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51960" y="1755648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06824" y="1783080"/>
            <a:ext cx="2404872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货币基金减少购买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银行CD/CP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903720" y="2203704"/>
            <a:ext cx="105156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92440" y="1755648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1783080"/>
            <a:ext cx="2450592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欧洲/日本银行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美元短融压力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372600" y="2788920"/>
            <a:ext cx="0" cy="109728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92440" y="4005072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CE4D6"/>
          </a:solidFill>
          <a:ln w="13970">
            <a:solidFill>
              <a:srgbClr val="C659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7304" y="4032504"/>
            <a:ext cx="2450592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转向FX Swap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抢美元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5303520"/>
            <a:ext cx="9875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一个美国货币基金赎回事件，可以传导成全球银行美元融资压力。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为什么美国国债也被抛售：安全资产不等于现金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2F0D9"/>
          </a:solidFill>
          <a:ln w="13970">
            <a:solidFill>
              <a:srgbClr val="3B8C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536192"/>
            <a:ext cx="2633472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美国国债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Credit Safety高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40480" y="1901952"/>
            <a:ext cx="114300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20640" y="141732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2CC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75504" y="1444752"/>
            <a:ext cx="2633472" cy="9052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但支付保证金/赎回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需要Cash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046720" y="1901952"/>
            <a:ext cx="114300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326880" y="15087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CE4D6"/>
          </a:solidFill>
          <a:ln w="13970">
            <a:solidFill>
              <a:srgbClr val="C659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1744" y="1536192"/>
            <a:ext cx="1947672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卖出美债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换取美元现金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188720" y="3703320"/>
            <a:ext cx="9784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3776472"/>
            <a:ext cx="9564624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危机时资产层级变化：Cash &gt; Treasury &gt; 其他资产。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最安全的资产，往往最先被卖，因为它最容易变现。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三股卖压同时冲击美债市场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719072"/>
            <a:ext cx="2862072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外国央行/官方机构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稳定汇率、提供美元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17720" y="16916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2CC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2584" y="1719072"/>
            <a:ext cx="2359152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共同基金/ETF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应对赎回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5280" y="169164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CE4D6"/>
          </a:solidFill>
          <a:ln w="13970">
            <a:solidFill>
              <a:srgbClr val="C659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10144" y="1719072"/>
            <a:ext cx="2724912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对冲基金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Basis Trade去杠杆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0" y="2743200"/>
            <a:ext cx="3566160" cy="109728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52160" y="2743200"/>
            <a:ext cx="0" cy="109728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326880" y="2743200"/>
            <a:ext cx="-3474720" cy="109728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63240" y="3886200"/>
            <a:ext cx="57607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18104" y="3913632"/>
            <a:ext cx="5650992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客户卖盘大于Dealer承接能力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Bid-Ask扩大 · 市场深度下降 · 价格发现受损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5349240"/>
            <a:ext cx="9784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美债市场失灵 = 全球美元抵押品和定价基准失灵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Dealer资产负债表：市场流动性的瓶颈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6002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CE4D6"/>
          </a:solidFill>
          <a:ln w="13970">
            <a:solidFill>
              <a:srgbClr val="C659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627632"/>
            <a:ext cx="1719072" cy="5394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客户A卖美债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80360" y="1901952"/>
            <a:ext cx="1280160" cy="0"/>
          </a:xfrm>
          <a:prstGeom prst="line">
            <a:avLst/>
          </a:prstGeom>
          <a:noFill/>
          <a:ln w="1651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97680" y="150876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52544" y="1536192"/>
            <a:ext cx="2267712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Dealer承接库存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12280" y="1901952"/>
            <a:ext cx="1280160" cy="0"/>
          </a:xfrm>
          <a:prstGeom prst="line">
            <a:avLst/>
          </a:prstGeom>
          <a:noFill/>
          <a:ln w="1651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0" y="16002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E2F0D9"/>
          </a:solidFill>
          <a:ln w="13970">
            <a:solidFill>
              <a:srgbClr val="3B8C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1627632"/>
            <a:ext cx="1719072" cy="5394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客户B买美债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34440" y="3246120"/>
            <a:ext cx="9601200" cy="96012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44168" y="3319272"/>
            <a:ext cx="9381744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正常时期：Dealer像缓冲器，临时吃下库存。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2020年3月：卖盘太大，资本、杠杆率、风险限额和融资能力同时约束。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86000" y="4892040"/>
            <a:ext cx="7498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659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于是“安全资产”也出现流动性折价。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美联储四种工具：分别修复四条水管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444752"/>
            <a:ext cx="194767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美国Dealer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54680" y="141732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 w="13970">
            <a:solidFill>
              <a:srgbClr val="3B8C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9544" y="1444752"/>
            <a:ext cx="194767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Swap Line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外国银行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77840" y="141732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32704" y="1444752"/>
            <a:ext cx="194767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FIMA Repo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外国央行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01000" y="1417320"/>
            <a:ext cx="2423160" cy="731520"/>
          </a:xfrm>
          <a:prstGeom prst="roundRect">
            <a:avLst>
              <a:gd name="adj" fmla="val 10000"/>
            </a:avLst>
          </a:prstGeom>
          <a:solidFill>
            <a:srgbClr val="FCE4D6"/>
          </a:solidFill>
          <a:ln w="13970">
            <a:solidFill>
              <a:srgbClr val="C659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55864" y="1444752"/>
            <a:ext cx="231343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美债/MBS市场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788920"/>
            <a:ext cx="9875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抵押资产换美元现金</a:t>
            </a:r>
            <a:endParaRPr lang="en-US" sz="1900" dirty="0"/>
          </a:p>
          <a:p>
            <a:r>
              <a:rPr lang="en-US" sz="19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Fed → 外国央行 → 当地银行</a:t>
            </a:r>
            <a:endParaRPr lang="en-US" sz="1900" dirty="0"/>
          </a:p>
          <a:p>
            <a:r>
              <a:rPr lang="en-US" sz="19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抵押美债拿美元，避免卖美债</a:t>
            </a:r>
            <a:endParaRPr lang="en-US" sz="1900" dirty="0"/>
          </a:p>
          <a:p>
            <a:r>
              <a:rPr lang="en-US" sz="19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Fed直接买走证券，成为最后买家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965960" y="5166360"/>
            <a:ext cx="8138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75688" y="5239512"/>
            <a:ext cx="791870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四种工具不是同义词；它们对应四个不同的金融堵点。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Swap Line：国际版最后贷款人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CE4D6"/>
          </a:solidFill>
          <a:ln w="13970">
            <a:solidFill>
              <a:srgbClr val="C659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59152"/>
            <a:ext cx="1719072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创造美元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88920" y="2724912"/>
            <a:ext cx="11887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114800" y="224028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9664" y="2267712"/>
            <a:ext cx="2724912" cy="9052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外国央行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ECB / BoJ / BoE...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086600" y="2724912"/>
            <a:ext cx="11887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12480" y="233172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2F0D9"/>
          </a:solidFill>
          <a:ln w="13970">
            <a:solidFill>
              <a:srgbClr val="3B8C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67344" y="2359152"/>
            <a:ext cx="1947672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当地银行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美元拍卖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188720" y="4343400"/>
            <a:ext cx="9601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4416552"/>
            <a:ext cx="9381744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Fed不直接判断每家外国银行风险；当地央行承担本国银行信用风险，Fed提供美元源头。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34440" y="5394960"/>
            <a:ext cx="9509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危机中，Swap Line把美元准备金从美国核心输送到全球银行体系。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FIMA Repo：不用卖美债，也能获得美元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856232"/>
            <a:ext cx="2176272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外国官方机构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持有美债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37560" y="2212848"/>
            <a:ext cx="132588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00600" y="18288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2CC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5464" y="1856232"/>
            <a:ext cx="2176272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抵押美债给Fed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23760" y="2212848"/>
            <a:ext cx="132588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0" y="17373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2F0D9"/>
          </a:solidFill>
          <a:ln w="13970">
            <a:solidFill>
              <a:srgbClr val="3B8C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41664" y="1764792"/>
            <a:ext cx="2404872" cy="9052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获得美元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避免公开市场抛售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" y="4069080"/>
            <a:ext cx="9875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2728" y="4142232"/>
            <a:ext cx="9656064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如果没有FIMA：缺美元 → 卖美债 → 美债市场恶化。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有FIMA：缺美元 → 抵押美债 → 借美元。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17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无限QE：从“固定额度”到“恢复市场功能”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CE4D6"/>
          </a:solidFill>
          <a:ln w="13970">
            <a:solidFill>
              <a:srgbClr val="C659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627632"/>
            <a:ext cx="2359152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私人市场卖盘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Dealer接不住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132588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37760" y="16002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92624" y="1627632"/>
            <a:ext cx="2359152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Fed买入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Treasury/MBS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543800" y="2011680"/>
            <a:ext cx="132588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06840" y="16002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3970">
            <a:solidFill>
              <a:srgbClr val="3B8C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61704" y="1627632"/>
            <a:ext cx="2359152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准备金增加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市场功能恢复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97280" y="3886200"/>
            <a:ext cx="10058400" cy="96012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3959352"/>
            <a:ext cx="9838944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会计本质：Fed资产端增加国债/MBS；负债端增加银行准备金。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经济本质：公共资产负债表替代受限的私人资产负债表。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34440" y="5349240"/>
            <a:ext cx="9692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2020年3月的QE，初期首先是Market Functioning QE。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18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全球央行体系：美元流动性的分层网络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1143000"/>
            <a:ext cx="2468880" cy="530352"/>
          </a:xfrm>
          <a:prstGeom prst="roundRect">
            <a:avLst>
              <a:gd name="adj" fmla="val 13793"/>
            </a:avLst>
          </a:prstGeom>
          <a:solidFill>
            <a:srgbClr val="FCE4D6"/>
          </a:solidFill>
          <a:ln w="13970">
            <a:solidFill>
              <a:srgbClr val="C659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01184" y="1170432"/>
            <a:ext cx="2359152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Federal Reserve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0" cy="411480"/>
          </a:xfrm>
          <a:prstGeom prst="line">
            <a:avLst/>
          </a:prstGeom>
          <a:noFill/>
          <a:ln w="1651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160520" y="224028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15384" y="2267712"/>
            <a:ext cx="3730752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永久Swap Line央行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ECB · BoJ · BoE · BoC · SNB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2971800"/>
            <a:ext cx="0" cy="411480"/>
          </a:xfrm>
          <a:prstGeom prst="line">
            <a:avLst/>
          </a:prstGeom>
          <a:noFill/>
          <a:ln w="1651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77640" y="3493008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FF2CC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32504" y="3520440"/>
            <a:ext cx="409651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临时Swap Line / FIMA Repo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80760" y="4133088"/>
            <a:ext cx="0" cy="420624"/>
          </a:xfrm>
          <a:prstGeom prst="line">
            <a:avLst/>
          </a:prstGeom>
          <a:noFill/>
          <a:ln w="1651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40480" y="4663440"/>
            <a:ext cx="4480560" cy="603504"/>
          </a:xfrm>
          <a:prstGeom prst="roundRect">
            <a:avLst>
              <a:gd name="adj" fmla="val 12121"/>
            </a:avLst>
          </a:prstGeom>
          <a:solidFill>
            <a:srgbClr val="E2F0D9"/>
          </a:solidFill>
          <a:ln w="13970">
            <a:solidFill>
              <a:srgbClr val="3B8C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95344" y="4690872"/>
            <a:ext cx="437083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当地商业银行 / 基金 / 企业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2240280"/>
            <a:ext cx="31089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Fed不是法律意义上的世界央行，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但它是全球美元体系的最终流动性提供者。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49640" y="3017520"/>
            <a:ext cx="2926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659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接入层级本身，体现国际金融体系的不对称性。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19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完整因果链：从疫情冲击到全球美元流动性救援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2359152"/>
            <a:ext cx="13075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COVID冲击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84248" y="2688336"/>
            <a:ext cx="3657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94560" y="23317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9424" y="2359152"/>
            <a:ext cx="13075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全球Dash for Cash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75888" y="2688336"/>
            <a:ext cx="3657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86200" y="23317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41064" y="2359152"/>
            <a:ext cx="13075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美元需求暴涨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67528" y="2688336"/>
            <a:ext cx="3657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77840" y="23317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32704" y="2359152"/>
            <a:ext cx="13075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FX Swap basis恶化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59168" y="2688336"/>
            <a:ext cx="3657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69480" y="23317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2CC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24344" y="2359152"/>
            <a:ext cx="13075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美债被抛售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50808" y="2688336"/>
            <a:ext cx="3657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61120" y="23317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2CC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15984" y="2359152"/>
            <a:ext cx="13075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Dealer承接能力不足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442448" y="2688336"/>
            <a:ext cx="3657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652760" y="23317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CE4D6"/>
          </a:solidFill>
          <a:ln w="13970">
            <a:solidFill>
              <a:srgbClr val="C659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07624" y="2359152"/>
            <a:ext cx="13075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Fed四工具分层救援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05840" y="4160520"/>
            <a:ext cx="10149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5568" y="4233672"/>
            <a:ext cx="9930384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关键不是“降息”一个动作，而是Fed同时成为：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美国Dealer的融资方、外国央行的美元源头、美债市场的最后买家。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20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三个案例合并后的货币金融学模型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E2F0D9"/>
          </a:solidFill>
          <a:ln w="13970">
            <a:solidFill>
              <a:srgbClr val="3B8C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444752"/>
            <a:ext cx="2267712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银行货币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Loans → Deposits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46120" y="1847088"/>
            <a:ext cx="91440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97680" y="1417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2CC"/>
          </a:solidFill>
          <a:ln w="13970">
            <a:solidFill>
              <a:srgbClr val="D6A5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52544" y="1444752"/>
            <a:ext cx="2450592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市场货币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Collateral → Repo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95160" y="1847088"/>
            <a:ext cx="91440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46720" y="14173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DDEBF7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01584" y="1444752"/>
            <a:ext cx="2633472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国际货币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Eurodollar → FX Swap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25880" y="3767328"/>
            <a:ext cx="9692640" cy="777240"/>
          </a:xfrm>
          <a:prstGeom prst="roundRect">
            <a:avLst>
              <a:gd name="adj" fmla="val 9412"/>
            </a:avLst>
          </a:prstGeom>
          <a:solidFill>
            <a:srgbClr val="FCE4D6"/>
          </a:solidFill>
          <a:ln w="13970">
            <a:solidFill>
              <a:srgbClr val="C659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0744" y="3794760"/>
            <a:ext cx="9582912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危机方向：所有人向上层、更安全、更现金化的美元资产奔跑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5074920"/>
            <a:ext cx="9692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SVB解释一家银行；Lehman解释影子银行；2020美元荒解释全球美元体系。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21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货币金融学第三案例 · 2020年3月美元荒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参考来源与延伸阅读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75320" y="603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第三层：银行货币 → 市场货币 → 国际货币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1074420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Federal Reserve: The international role of the U.S. dollar, FEDS Notes, 2021-10-06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BIS: US dollar funding markets during the Covid-19 crisis, BIS Bulletin No.14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BIS Annual Economic Report 2020: dollar funding and FX swaps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Federal Reserve: Swap Lines FAQs; March 2020 dollar liquidity arrangement press releases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Federal Reserve: FIMA Repo Facility, March 31, 2020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Federal Reserve / New York Fed: March 2020 Treasury market dysfunction staff reports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Federal Reserve: Monetary Policy Report 2020 and balance sheet developments during COVID-19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5486400"/>
            <a:ext cx="9692640" cy="530352"/>
          </a:xfrm>
          <a:prstGeom prst="rect">
            <a:avLst/>
          </a:prstGeom>
          <a:solidFill>
            <a:srgbClr val="DDEBF7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5559552"/>
            <a:ext cx="947318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使用方式：先用PPT掌握结构，再用PDF报告补充概念、资产负债表和自测题。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29800" y="65653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2020年3月美元荒 | 22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货币金融学第三案例：2020年3月美元荒</dc:title>
  <dc:subject>2020年3月美元荒</dc:subject>
  <dc:creator>OpenAI</dc:creator>
  <cp:lastModifiedBy>OpenAI</cp:lastModifiedBy>
  <cp:revision>1</cp:revision>
  <dcterms:created xsi:type="dcterms:W3CDTF">2026-08-20T07:26:05Z</dcterms:created>
  <dcterms:modified xsi:type="dcterms:W3CDTF">2026-08-20T07:26:05Z</dcterms:modified>
</cp:coreProperties>
</file>