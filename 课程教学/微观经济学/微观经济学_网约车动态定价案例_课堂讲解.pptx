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开场：用一个非常具体的场景带入。强调不是平台先制造稀缺，而是需求瞬间超过附近可用车辆。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这一页建立全局地图。后面每个模块都围绕这条链条展开。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用简单数字建立直觉：短期供给不变，需求瞬间扩大。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解释全成本，不要只看车费。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这页是核心图。讲出需求右移，供给向上，价格既配给又激励。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强调弹性的生活意义。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讲清楚边际收益和边际成本。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动态定价是一套反馈系统。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解释平台不是单边公司。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这个表帮助理解平台的复杂目标函数。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网络效应是平台经济最重要概念之一。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讲产业组织：完全竞争、寡头、垄断。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 payoff matrix。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讲福利经济学，效率 vs 公平。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监管设计必须同时处理市场失灵和政府失灵。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这一页帮助用户连接上一案例。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收束成可复用方法。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结束：强调可迁移的经济学思维。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urban_scene_in_the_rain_at_dus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927">
              <a:alpha val="82000"/>
            </a:srgbClr>
          </a:solidFill>
          <a:ln w="12700">
            <a:solidFill>
              <a:srgbClr val="07192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6692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E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微观经济学真实案例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21792" y="1051560"/>
            <a:ext cx="6766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网约车高峰期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动态加价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27706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6F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从一次雨夜打车，看懂：供需 · 弹性 · 边际决策 · 双边市场 · 网络效应 · 平台监管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349240"/>
            <a:ext cx="749808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核心问题：当车辆稀缺时，价格如何同时完成“配给、激励、信息传递和空间调度”？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一页看懂：本案例覆盖的微观经济学地图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把“打车涨价”拆成一条机制链，而不是停留在情绪判断。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783080" cy="960120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需求冲击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暴雨/高峰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叫车人数上升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41448" y="2304288"/>
            <a:ext cx="457200" cy="0"/>
          </a:xfrm>
          <a:prstGeom prst="line">
            <a:avLst/>
          </a:prstGeom>
          <a:noFill/>
          <a:ln w="22860">
            <a:solidFill>
              <a:srgbClr val="829AB1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898648" y="1828800"/>
            <a:ext cx="1783080" cy="960120"/>
          </a:xfrm>
          <a:prstGeom prst="rect">
            <a:avLst/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价格上升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动态定价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显性化稀缺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45736" y="2304288"/>
            <a:ext cx="457200" cy="0"/>
          </a:xfrm>
          <a:prstGeom prst="line">
            <a:avLst/>
          </a:prstGeom>
          <a:noFill/>
          <a:ln w="22860">
            <a:solidFill>
              <a:srgbClr val="829AB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202936" y="1828800"/>
            <a:ext cx="1783080" cy="9601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乘客筛选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低支付意愿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延后/换方式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50024" y="2304288"/>
            <a:ext cx="457200" cy="0"/>
          </a:xfrm>
          <a:prstGeom prst="line">
            <a:avLst/>
          </a:prstGeom>
          <a:noFill/>
          <a:ln w="22860">
            <a:solidFill>
              <a:srgbClr val="829AB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507224" y="1828800"/>
            <a:ext cx="1783080" cy="96012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司机激励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上线/转场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供给回流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54312" y="2304288"/>
            <a:ext cx="457200" cy="0"/>
          </a:xfrm>
          <a:prstGeom prst="line">
            <a:avLst/>
          </a:prstGeom>
          <a:noFill/>
          <a:ln w="22860">
            <a:solidFill>
              <a:srgbClr val="829AB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811512" y="1828800"/>
            <a:ext cx="1783080" cy="96012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新均衡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等待下降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价格回落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703320"/>
          <a:ext cx="10607040" cy="2011680"/>
        </p:xfrm>
        <a:graphic>
          <a:graphicData uri="http://schemas.openxmlformats.org/drawingml/2006/table">
            <a:tbl>
              <a:tblPr/>
              <a:tblGrid>
                <a:gridCol w="3535680"/>
                <a:gridCol w="3535680"/>
                <a:gridCol w="353568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层次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核心概念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本案例观察点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价格理论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供给、需求、弹性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雨夜需求右移，短期司机供给有限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企业/劳动者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边际收益 MR 与边际成本 MC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司机是否接下一单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产业组织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双边市场、网络效应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平台连接乘客与司机，规模带来优势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博弈论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补贴战、策略互动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平台互相预判，可能陷入囚徒困境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监管经济学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市场失灵与政府失灵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效率、公平、安全与算法透明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场景：周五雨夜，需求突然涌入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关键不是“价格先涨”，而是“同一时间、同一区域的车辆变得稀缺”。</a:t>
            </a:r>
            <a:endParaRPr lang="en-US" sz="1350" dirty="0"/>
          </a:p>
        </p:txBody>
      </p:sp>
      <p:pic>
        <p:nvPicPr>
          <p:cNvPr id="4" name="Image 0" descr="/mnt/data/a_wide_cinematic_urban_scene_in_the_rain_at_dusk.png">    </p:cNvPr>
          <p:cNvPicPr>
            <a:picLocks noChangeAspect="1"/>
          </p:cNvPicPr>
          <p:nvPr/>
        </p:nvPicPr>
        <p:blipFill>
          <a:blip r:embed="rId1"/>
          <a:srcRect l="7607" r="7607" t="0" b="0"/>
          <a:stretch/>
        </p:blipFill>
        <p:spPr>
          <a:xfrm>
            <a:off x="548640" y="1143000"/>
            <a:ext cx="530352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188720"/>
            <a:ext cx="2468880" cy="1143000"/>
          </a:xfrm>
          <a:prstGeom prst="rect">
            <a:avLst/>
          </a:prstGeom>
          <a:solidFill>
            <a:srgbClr val="EAF6FF"/>
          </a:solidFill>
          <a:ln w="12700">
            <a:solidFill>
              <a:srgbClr val="B8D8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 辆空车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 名乘客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元左右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006840" y="1188720"/>
            <a:ext cx="2468880" cy="1143000"/>
          </a:xfrm>
          <a:prstGeom prst="rect">
            <a:avLst/>
          </a:prstGeom>
          <a:solidFill>
            <a:srgbClr val="FFF1E0"/>
          </a:solidFill>
          <a:ln w="12700">
            <a:solidFill>
              <a:srgbClr val="FFD0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暴雨后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 辆空车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 名乘客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短缺 200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41080" y="1755648"/>
            <a:ext cx="338328" cy="0"/>
          </a:xfrm>
          <a:prstGeom prst="line">
            <a:avLst/>
          </a:prstGeom>
          <a:noFill/>
          <a:ln w="22860">
            <a:solidFill>
              <a:srgbClr val="FF8A00"/>
            </a:solidFill>
            <a:prstDash val="solid"/>
            <a:headEnd type="none"/>
            <a:tailEnd type="triangle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880360"/>
          <a:ext cx="5212080" cy="1572768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变量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平峰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雨夜冲击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经济含义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可用车辆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100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约100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短期供给固定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叫车人数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100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300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需求曲线右移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市场结果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接近均衡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排队/短缺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稀缺性显性化</a:t>
                      </a:r>
                      <a:endParaRPr lang="en-US" sz="10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85800" y="5212080"/>
            <a:ext cx="10698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微观经济学第一步：识别稀缺性，然后比较不同分配机制的代价。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如果“不加价”，成本并没有消失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货币价格被压住，稀缺性会转移到等待、刷新、排队和不确定性。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3703320"/>
            <a:ext cx="1417320" cy="9144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800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车费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2606040"/>
            <a:ext cx="1417320" cy="201168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800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等待时间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3337560"/>
            <a:ext cx="1417320" cy="12801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4800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搜索成本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58200" y="3154680"/>
            <a:ext cx="1417320" cy="14630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4800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325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真实经济成本 = 货币价格 + 时间 + 搜索 + 风险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17320" y="2331720"/>
            <a:ext cx="9326880" cy="685800"/>
          </a:xfrm>
          <a:prstGeom prst="rect">
            <a:avLst/>
          </a:prstGeom>
          <a:solidFill>
            <a:srgbClr val="EAF6FF"/>
          </a:solidFill>
          <a:ln w="12700">
            <a:solidFill>
              <a:srgbClr val="B8D8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“不涨价”不等于“没有成本上升”。它只是把成本从看得见的钱，换成看不见的时间与概率。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供需模型：动态加价如何推动新均衡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教学模型：Qd = 400 - 5P，Qs = 20 + 4P，均衡价格约 42.2。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5166360"/>
            <a:ext cx="5943600" cy="0"/>
          </a:xfrm>
          <a:prstGeom prst="line">
            <a:avLst/>
          </a:prstGeom>
          <a:noFill/>
          <a:ln w="19050">
            <a:solidFill>
              <a:srgbClr val="102A4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05840" y="5166360"/>
            <a:ext cx="0" cy="-3566160"/>
          </a:xfrm>
          <a:prstGeom prst="line">
            <a:avLst/>
          </a:prstGeom>
          <a:noFill/>
          <a:ln w="19050">
            <a:solidFill>
              <a:srgbClr val="102A4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71600" y="2423160"/>
            <a:ext cx="4983480" cy="2468880"/>
          </a:xfrm>
          <a:prstGeom prst="line">
            <a:avLst/>
          </a:prstGeom>
          <a:noFill/>
          <a:ln w="3175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4663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D0 平日需求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783080"/>
            <a:ext cx="5120640" cy="2743200"/>
          </a:xfrm>
          <a:prstGeom prst="line">
            <a:avLst/>
          </a:prstGeom>
          <a:noFill/>
          <a:ln w="31750">
            <a:solidFill>
              <a:srgbClr val="D6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4343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D1 雨夜需求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4800600"/>
            <a:ext cx="5212080" cy="-2834640"/>
          </a:xfrm>
          <a:prstGeom prst="line">
            <a:avLst/>
          </a:prstGeom>
          <a:noFill/>
          <a:ln w="31750">
            <a:solidFill>
              <a:srgbClr val="FF8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 司机供给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3867912"/>
            <a:ext cx="384048" cy="292608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51960" y="3337560"/>
            <a:ext cx="384048" cy="292608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0" y="1389888"/>
            <a:ext cx="3977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价格上涨的四个功能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配给稀缺车辆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劝退低支付意愿需求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激励司机上线/转场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传递“哪里缺车”的信息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3977640"/>
          <a:ext cx="3977640" cy="1389888"/>
        </p:xfrm>
        <a:graphic>
          <a:graphicData uri="http://schemas.openxmlformats.org/drawingml/2006/table">
            <a:tbl>
              <a:tblPr/>
              <a:tblGrid>
                <a:gridCol w="1988820"/>
                <a:gridCol w="19888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机制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方向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需求侧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 ↑ → Qd ↓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供给侧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 ↑ → Qs ↑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均衡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短缺收敛，等待下降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弹性：价格上涨后，谁退出？谁继续？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不同乘客的需求弹性不同，动态加价会筛选场景，而不是简单筛选人。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5989320" cy="2423160"/>
        </p:xfrm>
        <a:graphic>
          <a:graphicData uri="http://schemas.openxmlformats.org/drawingml/2006/table">
            <a:tbl>
              <a:tblPr/>
              <a:tblGrid>
                <a:gridCol w="1497330"/>
                <a:gridCol w="1497330"/>
                <a:gridCol w="1497330"/>
                <a:gridCol w="149733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乘客类型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出行目的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弹性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加价后的反应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赶机场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误机成本高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仍可能下单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普通聚会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可延后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坐地铁或等待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家庭带娃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替代不便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中低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接受一定加价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短距离出行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替代多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步行/公交/单车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5074920"/>
            <a:ext cx="9966960" cy="0"/>
          </a:xfrm>
          <a:prstGeom prst="line">
            <a:avLst/>
          </a:prstGeom>
          <a:noFill/>
          <a:ln w="38100">
            <a:solidFill>
              <a:srgbClr val="B8C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4663440"/>
            <a:ext cx="1828800" cy="822960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低弹性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必须出行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02352" y="4663440"/>
            <a:ext cx="1920240" cy="822960"/>
          </a:xfrm>
          <a:prstGeom prst="rect">
            <a:avLst/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中等弹性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比较替代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35440" y="4663440"/>
            <a:ext cx="1828800" cy="82296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高弹性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容易退出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86600" y="1417320"/>
            <a:ext cx="4343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需求弹性公式：Ed = %ΔQd / %ΔP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不是所有乘客面对同一价格变化都会作出同样反应。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边际分析：司机接不接“下一单”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理性决策比较的是下一小时/下一单的边际收益与边际成本。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51560" y="3520440"/>
            <a:ext cx="960120" cy="16459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32004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53309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平峰MR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1874520"/>
            <a:ext cx="960120" cy="32918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544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53309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雨夜MR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2903220"/>
            <a:ext cx="960120" cy="22631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5831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53309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回落MR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2697480"/>
            <a:ext cx="960120" cy="246888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3774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53309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5166360"/>
            <a:ext cx="740664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554480"/>
            <a:ext cx="3520440" cy="1600200"/>
          </a:xfrm>
          <a:prstGeom prst="rect">
            <a:avLst/>
          </a:prstGeom>
          <a:solidFill>
            <a:srgbClr val="FFF3D6"/>
          </a:solidFill>
          <a:ln w="12700">
            <a:solidFill>
              <a:srgbClr val="FFD0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决策规则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 ≥ MC：继续上线/接单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 &lt; MC：下线、休息或转场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3657600"/>
            <a:ext cx="3520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动态加价改变的是司机的边际收益，因此会改变供给曲线。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动态定价的完整因果链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价格并不只是收入工具，也是一套实时协调机制。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508760" cy="822960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暴雨/高峰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50592" y="1828800"/>
            <a:ext cx="475488" cy="0"/>
          </a:xfrm>
          <a:prstGeom prst="line">
            <a:avLst/>
          </a:prstGeom>
          <a:noFill/>
          <a:ln w="22860">
            <a:solidFill>
              <a:srgbClr val="B8C6D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971800" y="1417320"/>
            <a:ext cx="1508760" cy="822960"/>
          </a:xfrm>
          <a:prstGeom prst="rect">
            <a:avLst/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动态价格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07992" y="1828800"/>
            <a:ext cx="475488" cy="0"/>
          </a:xfrm>
          <a:prstGeom prst="line">
            <a:avLst/>
          </a:prstGeom>
          <a:noFill/>
          <a:ln w="22860">
            <a:solidFill>
              <a:srgbClr val="B8C6D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029200" y="1417320"/>
            <a:ext cx="1508760" cy="82296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乘客筛选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65392" y="1828800"/>
            <a:ext cx="475488" cy="0"/>
          </a:xfrm>
          <a:prstGeom prst="line">
            <a:avLst/>
          </a:prstGeom>
          <a:noFill/>
          <a:ln w="22860">
            <a:solidFill>
              <a:srgbClr val="B8C6D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086600" y="1417320"/>
            <a:ext cx="1508760" cy="8229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司机上线/转场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Qs↑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22792" y="1828800"/>
            <a:ext cx="475488" cy="0"/>
          </a:xfrm>
          <a:prstGeom prst="line">
            <a:avLst/>
          </a:prstGeom>
          <a:noFill/>
          <a:ln w="22860">
            <a:solidFill>
              <a:srgbClr val="B8C6D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0" y="1417320"/>
            <a:ext cx="1508760" cy="82296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等待下降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新均衡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246120"/>
            <a:ext cx="9966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价格的四重角色：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配给稀缺资源 · 激励供给进入 · 传递局部信息 · 引导空间流动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20240" y="4434840"/>
          <a:ext cx="8229600" cy="14173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若禁止价格变化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可能结果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需求侧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叫车人数不降，排队增加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司机侧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收益不足，供给回流慢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系统侧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等待更长，取消率更高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双边市场：平台同时服务乘客和司机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平台价值来自匹配，而不只是“中间抽成”。</a:t>
            </a:r>
            <a:endParaRPr lang="en-US" sz="1350" dirty="0"/>
          </a:p>
        </p:txBody>
      </p:sp>
      <p:pic>
        <p:nvPicPr>
          <p:cNvPr id="4" name="Image 0" descr="/mnt/data/wide_clean_vector_flat_infographic_illustration_wi.png">    </p:cNvPr>
          <p:cNvPicPr>
            <a:picLocks noChangeAspect="1"/>
          </p:cNvPicPr>
          <p:nvPr/>
        </p:nvPicPr>
        <p:blipFill>
          <a:blip r:embed="rId1"/>
          <a:srcRect l="5471" r="5471" t="0" b="0"/>
          <a:stretch/>
        </p:blipFill>
        <p:spPr>
          <a:xfrm>
            <a:off x="457200" y="1051560"/>
            <a:ext cx="658368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234440"/>
            <a:ext cx="1874520" cy="160020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乘客侧价值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等待更短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价格透明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支付方便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信任与评价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464040" y="1234440"/>
            <a:ext cx="1874520" cy="1600200"/>
          </a:xfrm>
          <a:prstGeom prst="rect">
            <a:avLst/>
          </a:prstGeom>
          <a:solidFill>
            <a:srgbClr val="FFF3D6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司机侧价值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订单密度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导航与派单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收入预测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支付结算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0" y="40233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平台核心：降低交易成本、搜索成本、信任成本和匹配成本。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平台真正优化的不是“司机越多越好”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太少会短缺，太多会空驶；平台目标是匹配效率。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607040" cy="3017520"/>
        </p:xfrm>
        <a:graphic>
          <a:graphicData uri="http://schemas.openxmlformats.org/drawingml/2006/table">
            <a:tbl>
              <a:tblPr/>
              <a:tblGrid>
                <a:gridCol w="3535680"/>
                <a:gridCol w="3535680"/>
                <a:gridCol w="353568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指标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含义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优化方向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等待时间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乘客从下单到上车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越短越好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接驾距离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司机到乘客的空驶路程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越短越好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司机空驶率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没有载客的时间/里程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越低越好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成交率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下单后成功完成比例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越高越好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取消率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乘客或司机取消订单比例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越低越好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平台抽成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平台收入与司机收入分配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需兼顾投资与激励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" y="4892040"/>
            <a:ext cx="9966960" cy="77724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经济学洞察：平台不是简单追求最大规模，而是在多目标约束下做动态优化。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网络效应：为什么平台容易越做越大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司机越多，乘客体验越好；乘客越多，司机收入机会越多。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37960" y="1572768"/>
            <a:ext cx="2606040" cy="731520"/>
          </a:xfrm>
          <a:prstGeom prst="line">
            <a:avLst/>
          </a:prstGeom>
          <a:noFill/>
          <a:ln w="2286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144000" y="2304288"/>
            <a:ext cx="-365760" cy="2286000"/>
          </a:xfrm>
          <a:prstGeom prst="line">
            <a:avLst/>
          </a:prstGeom>
          <a:noFill/>
          <a:ln w="2286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778240" y="4590288"/>
            <a:ext cx="-2240280" cy="685800"/>
          </a:xfrm>
          <a:prstGeom prst="line">
            <a:avLst/>
          </a:prstGeom>
          <a:noFill/>
          <a:ln w="2286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37960" y="5276088"/>
            <a:ext cx="-2240280" cy="-685800"/>
          </a:xfrm>
          <a:prstGeom prst="line">
            <a:avLst/>
          </a:prstGeom>
          <a:noFill/>
          <a:ln w="2286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4590288"/>
            <a:ext cx="-365760" cy="-2286000"/>
          </a:xfrm>
          <a:prstGeom prst="line">
            <a:avLst/>
          </a:prstGeom>
          <a:noFill/>
          <a:ln w="2286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31920" y="2304288"/>
            <a:ext cx="2606040" cy="-731520"/>
          </a:xfrm>
          <a:prstGeom prst="line">
            <a:avLst/>
          </a:prstGeom>
          <a:noFill/>
          <a:ln w="22860">
            <a:solidFill>
              <a:srgbClr val="9FB3C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080760" y="1188720"/>
            <a:ext cx="1005840" cy="77724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乘客多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0" y="1920240"/>
            <a:ext cx="1005840" cy="77724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4206240"/>
            <a:ext cx="1005840" cy="777240"/>
          </a:xfrm>
          <a:prstGeom prst="rect">
            <a:avLst/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司机收入高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4892040"/>
            <a:ext cx="1005840" cy="777240"/>
          </a:xfrm>
          <a:prstGeom prst="rect">
            <a:avLst/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司机多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4206240"/>
            <a:ext cx="1005840" cy="77724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订单密度高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1005840" cy="77724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164592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正反馈循环带来的竞争结果：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小平台等待长 → 乘客少 → 司机少；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大平台订单密 → 司机多 → 乘客更多。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2651760" cy="685800"/>
          </a:xfrm>
          <a:prstGeom prst="rect">
            <a:avLst/>
          </a:prstGeom>
          <a:solidFill>
            <a:srgbClr val="FFF3D6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因此平台市场可能从竞争走向寡头。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从竞争到寡头：市场结构改变定价能力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当网络效应足够强，平台可能形成市场势力。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6583680" cy="22402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市场结构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企业数量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定价能力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网约车含义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完全竞争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很多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很弱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早期多平台、补贴激烈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垄断竞争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较多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有限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服务差异化、品牌差异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寡头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少数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较强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主流平台互相博弈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垄断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一个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很强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需关注价格、抽成和排他行为</a:t>
                      </a:r>
                      <a:endParaRPr lang="en-US" sz="12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32588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监管真正关心的不是“大平台本身”，而是：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是否排挤竞争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是否滥用定价能力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是否操纵算法透明度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是否压低司机议价权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" y="4846320"/>
            <a:ext cx="9966960" cy="77724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规模经济可能提高效率，市场势力也可能侵蚀福利。关键在于区分“效率来源”与“排他行为”。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博弈论：补贴大战为什么可能陷入囚徒困境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每个平台都担心对手抢市场，结果可能是双方一起烧钱。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417320"/>
          <a:ext cx="603504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平台B：高补贴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平台B：低补贴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平台A：高补贴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3, 3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双方烧钱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8, 1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A抢份额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平台A：低补贴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1, 8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B抢份额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6, 6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共同盈利</a:t>
                      </a:r>
                      <a:endParaRPr lang="en-US" sz="13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600200"/>
            <a:ext cx="3474720" cy="2286000"/>
          </a:xfrm>
          <a:prstGeom prst="rect">
            <a:avLst/>
          </a:prstGeom>
          <a:solidFill>
            <a:srgbClr val="FFF3D6"/>
          </a:solidFill>
          <a:ln w="12700">
            <a:solidFill>
              <a:srgbClr val="FFD0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理想结果：低补贴，低补贴 → 6,6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现实压力：害怕对手高补贴，于是防御性跟进。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结果：高补贴，高补贴 → 3,3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743200" y="4892040"/>
            <a:ext cx="6675120" cy="64008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个体理性 ≠ 集体最优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福利分析：效率与公平的拉扯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动态加价提高效率，但极端场景可能引发公平争议。</a:t>
            </a:r>
            <a:endParaRPr lang="en-US" sz="1350" dirty="0"/>
          </a:p>
        </p:txBody>
      </p:sp>
      <p:pic>
        <p:nvPicPr>
          <p:cNvPr id="4" name="Image 0" descr="/mnt/data/a_wide_cinematic_highly_detailed_conceptual_illu.png">    </p:cNvPr>
          <p:cNvPicPr>
            <a:picLocks noChangeAspect="1"/>
          </p:cNvPicPr>
          <p:nvPr/>
        </p:nvPicPr>
        <p:blipFill>
          <a:blip r:embed="rId1"/>
          <a:srcRect l="3222" r="3222" t="0" b="0"/>
          <a:stretch/>
        </p:blipFill>
        <p:spPr>
          <a:xfrm>
            <a:off x="640080" y="1234440"/>
            <a:ext cx="585216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325880"/>
            <a:ext cx="1965960" cy="182880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效率收益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等待下降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司机回流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空间配置优化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取消率降低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189720" y="1325880"/>
            <a:ext cx="1965960" cy="1828800"/>
          </a:xfrm>
          <a:prstGeom prst="rect">
            <a:avLst/>
          </a:prstGeom>
          <a:solidFill>
            <a:srgbClr val="FFF3D6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公平风险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刚需乘客被挤出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极端天气高价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算法不透明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消费者剩余转移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903720" y="416052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好的制度不是简单禁止价格变化，而是让价格机制在透明、可解释、可问责的边界内运作。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监管设计：不是“管不管”，而是“怎样管”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监管也受到信息约束，因此必须考虑激励相容。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11018520" cy="4069080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解决问题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可能副作用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设计方向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加价上限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极端价格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司机激励不足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限价+调度/补贴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价格透明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算法黑箱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披露过度被博弈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展示加价原因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抽成监管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司机权益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平台投入下降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费用构成透明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反垄断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市场势力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误伤规模经济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区分效率与排他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数据审计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歧视/操纵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合规成本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关键指标抽样审计</a:t>
                      </a:r>
                      <a:endParaRPr lang="en-US" sz="108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51560" y="5532120"/>
            <a:ext cx="10058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核心难点：平台掌握实时供需、路线、行为和算法细节，监管者往往处于信息劣势。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与口罩案例对比：商品市场 vs 平台市场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两个案例放在一起，微观经济学骨架更清楚。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11018520" cy="4343400"/>
        </p:xfrm>
        <a:graphic>
          <a:graphicData uri="http://schemas.openxmlformats.org/drawingml/2006/table">
            <a:tbl>
              <a:tblPr/>
              <a:tblGrid>
                <a:gridCol w="3672840"/>
                <a:gridCol w="3672840"/>
                <a:gridCol w="3672840"/>
              </a:tblGrid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维度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口罩市场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0B1F3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网约车市场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稀缺对象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口罩产能与原材料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特定时间地点的司机/车辆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价格作用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配给 + 扩产激励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配给 + 司机上线/空间移动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供给调整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工厂扩产较慢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司机上线较快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外部性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公共卫生正外部性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拥堵、安全、城市治理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信息问题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消费者难辨质量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乘客/司机/监管者难懂算法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市场结构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更接近竞争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双边平台、容易集中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监管难点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价格与质量标准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02A43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抽成、算法、数据、竞争</a:t>
                      </a:r>
                      <a:endParaRPr lang="en-US" sz="107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微观经济学分析工具箱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以后看到任何商业新闻，都按这六步拆解。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3063240" cy="114300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谁在决策？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消费者、企业、平台、监管者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43400" y="1417320"/>
            <a:ext cx="3063240" cy="1143000"/>
          </a:xfrm>
          <a:prstGeom prst="rect">
            <a:avLst/>
          </a:prstGeom>
          <a:solidFill>
            <a:srgbClr val="FFF3D6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约束是什么？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预算、时间、技术、信息、规则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09560" y="1417320"/>
            <a:ext cx="3063240" cy="114300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激励如何变？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价格、补贴、罚款、抽成、排名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3063240" cy="1143000"/>
          </a:xfrm>
          <a:prstGeom prst="rect">
            <a:avLst/>
          </a:prstGeom>
          <a:solidFill>
            <a:srgbClr val="FFF3D6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对方如何响应？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竞争对手、另一边市场、消费者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43400" y="3657600"/>
            <a:ext cx="3063240" cy="114300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新均衡在哪里？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价格、数量、等待、市场份额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09560" y="3657600"/>
            <a:ext cx="3063240" cy="1143000"/>
          </a:xfrm>
          <a:prstGeom prst="rect">
            <a:avLst/>
          </a:prstGeom>
          <a:solidFill>
            <a:srgbClr val="FFF3D6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福利如何分配？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效率、公平、剩余、外部性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0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微观经济学案例 · 网约车动态定价  |  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flat_infographic_illustration_wi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85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最终记住三句话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1645920"/>
            <a:ext cx="5349240" cy="731520"/>
          </a:xfrm>
          <a:prstGeom prst="rect">
            <a:avLst/>
          </a:prstGeom>
          <a:solidFill>
            <a:srgbClr val="EAF6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稀缺性不会因为“不涨价”而消失，只会换一种方式分配。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5349240" cy="731520"/>
          </a:xfrm>
          <a:prstGeom prst="rect">
            <a:avLst/>
          </a:prstGeom>
          <a:solidFill>
            <a:srgbClr val="FFF3D6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价格既是配给机制，也是激励机制和信息机制。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平台经济必须同时看供需、网络效应、博弈和监管。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3232" y="55778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微观经济学 = 约束下的选择 + 激励下的互动 + 均衡后的福利分配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微观经济学_网约车动态定价案例_课堂讲解</dc:title>
  <dc:subject>微观经济学：网约车动态定价案例</dc:subject>
  <dc:creator>OpenAI</dc:creator>
  <cp:lastModifiedBy>OpenAI</cp:lastModifiedBy>
  <cp:revision>1</cp:revision>
  <dcterms:created xsi:type="dcterms:W3CDTF">2026-08-20T08:08:10Z</dcterms:created>
  <dcterms:modified xsi:type="dcterms:W3CDTF">2026-08-20T08:08:10Z</dcterms:modified>
</cp:coreProperties>
</file>