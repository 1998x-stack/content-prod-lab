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ask_empty_shelves.jpg">    </p:cNvPr>
          <p:cNvPicPr>
            <a:picLocks noChangeAspect="1"/>
          </p:cNvPicPr>
          <p:nvPr/>
        </p:nvPicPr>
        <p:blipFill>
          <a:blip r:embed="rId1"/>
          <a:srcRect l="7000" r="33889" t="0" b="0"/>
          <a:stretch/>
        </p:blipFill>
        <p:spPr>
          <a:xfrm>
            <a:off x="0" y="0"/>
            <a:ext cx="6080760" cy="6858000"/>
          </a:xfrm>
          <a:prstGeom prst="rect">
            <a:avLst/>
          </a:prstGeom>
        </p:spPr>
      </p:pic>
      <p:pic>
        <p:nvPicPr>
          <p:cNvPr id="3" name="Image 1" descr="/mnt/data/mask_factory.jpeg">    </p:cNvPr>
          <p:cNvPicPr>
            <a:picLocks noChangeAspect="1"/>
          </p:cNvPicPr>
          <p:nvPr/>
        </p:nvPicPr>
        <p:blipFill>
          <a:blip r:embed="rId2"/>
          <a:srcRect l="10000" r="30721" t="0" b="0"/>
          <a:stretch/>
        </p:blipFill>
        <p:spPr>
          <a:xfrm>
            <a:off x="6080760" y="0"/>
            <a:ext cx="6108192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>
              <a:alpha val="85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685800" y="105156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一只口罩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读懂微观经济学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731520" y="277063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AF4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真实案例：2020 年初口罩市场的供需冲击、价格、弹性、外部性与政策干预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749808" y="3429000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22960" y="3502152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供需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423160" y="3429000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496312" y="3502152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弹性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096512" y="342900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69664" y="350215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外部性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989320" y="3429000"/>
            <a:ext cx="2103120" cy="320040"/>
          </a:xfrm>
          <a:prstGeom prst="roundRect">
            <a:avLst>
              <a:gd name="adj" fmla="val 22857"/>
            </a:avLst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062472" y="350215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信息不对称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31520" y="60533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4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 深度报告 + PPT 课堂讲解版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微观经济学真实案例｜口罩市场｜1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案例总览：一个普通商品如何变成稀缺资源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疫情改变的不是一只口罩本身，而是人的风险认知、支付意愿与资源配置规则。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87445" y="1837944"/>
            <a:ext cx="64008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671969" y="1837944"/>
            <a:ext cx="64008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256494" y="1837944"/>
            <a:ext cx="64008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41018" y="1837944"/>
            <a:ext cx="64008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425543" y="1837944"/>
            <a:ext cx="64008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010067" y="1837944"/>
            <a:ext cx="64008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1465653" cy="658368"/>
          </a:xfrm>
          <a:prstGeom prst="roundRect">
            <a:avLst>
              <a:gd name="adj" fmla="val 8333"/>
            </a:avLst>
          </a:prstGeom>
          <a:solidFill>
            <a:srgbClr val="EAF4FB"/>
          </a:solidFill>
          <a:ln w="12700">
            <a:solidFill>
              <a:srgbClr val="B8C6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572768"/>
            <a:ext cx="131934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疫情冲击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78885" y="1508760"/>
            <a:ext cx="1465653" cy="658368"/>
          </a:xfrm>
          <a:prstGeom prst="roundRect">
            <a:avLst>
              <a:gd name="adj" fmla="val 8333"/>
            </a:avLst>
          </a:prstGeom>
          <a:solidFill>
            <a:srgbClr val="FFF3E6"/>
          </a:solidFill>
          <a:ln w="12700">
            <a:solidFill>
              <a:srgbClr val="B8C6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52037" y="1572768"/>
            <a:ext cx="131934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需求暴增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63409" y="1508760"/>
            <a:ext cx="1465653" cy="658368"/>
          </a:xfrm>
          <a:prstGeom prst="roundRect">
            <a:avLst>
              <a:gd name="adj" fmla="val 8333"/>
            </a:avLst>
          </a:prstGeom>
          <a:solidFill>
            <a:srgbClr val="EAF4FB"/>
          </a:solidFill>
          <a:ln w="12700">
            <a:solidFill>
              <a:srgbClr val="B8C6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36561" y="1572768"/>
            <a:ext cx="131934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短期供给僵硬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47934" y="1508760"/>
            <a:ext cx="1465653" cy="658368"/>
          </a:xfrm>
          <a:prstGeom prst="roundRect">
            <a:avLst>
              <a:gd name="adj" fmla="val 8333"/>
            </a:avLst>
          </a:prstGeom>
          <a:solidFill>
            <a:srgbClr val="FFF3E6"/>
          </a:solidFill>
          <a:ln w="12700">
            <a:solidFill>
              <a:srgbClr val="B8C6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21086" y="1572768"/>
            <a:ext cx="131934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价格上升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32458" y="1508760"/>
            <a:ext cx="1465653" cy="658368"/>
          </a:xfrm>
          <a:prstGeom prst="roundRect">
            <a:avLst>
              <a:gd name="adj" fmla="val 8333"/>
            </a:avLst>
          </a:prstGeom>
          <a:solidFill>
            <a:srgbClr val="EAF4FB"/>
          </a:solidFill>
          <a:ln w="12700">
            <a:solidFill>
              <a:srgbClr val="B8C6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05610" y="1572768"/>
            <a:ext cx="131934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企业扩产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16983" y="1508760"/>
            <a:ext cx="1465653" cy="658368"/>
          </a:xfrm>
          <a:prstGeom prst="roundRect">
            <a:avLst>
              <a:gd name="adj" fmla="val 8333"/>
            </a:avLst>
          </a:prstGeom>
          <a:solidFill>
            <a:srgbClr val="FFF3E6"/>
          </a:solidFill>
          <a:ln w="12700">
            <a:solidFill>
              <a:srgbClr val="B8C6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0135" y="1572768"/>
            <a:ext cx="131934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供给增加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101507" y="1508760"/>
            <a:ext cx="1465653" cy="658368"/>
          </a:xfrm>
          <a:prstGeom prst="roundRect">
            <a:avLst>
              <a:gd name="adj" fmla="val 8333"/>
            </a:avLst>
          </a:prstGeom>
          <a:solidFill>
            <a:srgbClr val="EAF4FB"/>
          </a:solidFill>
          <a:ln w="12700">
            <a:solidFill>
              <a:srgbClr val="B8C6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74659" y="1572768"/>
            <a:ext cx="131934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价格回落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" y="2514600"/>
            <a:ext cx="4572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微观经济学主线：约束 → 选择 → 激励 → 互动 → 均衡 → 福利。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5800" y="3246120"/>
            <a:ext cx="3108960" cy="1234440"/>
          </a:xfrm>
          <a:prstGeom prst="roundRect">
            <a:avLst>
              <a:gd name="adj" fmla="val 4444"/>
            </a:avLst>
          </a:prstGeom>
          <a:solidFill>
            <a:srgbClr val="EAF4FB"/>
          </a:solidFill>
          <a:ln w="12700">
            <a:solidFill>
              <a:srgbClr val="B8D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3310128"/>
            <a:ext cx="2962656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需求曲线右移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支付意愿提高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4526280" y="3246120"/>
            <a:ext cx="3108960" cy="1234440"/>
          </a:xfrm>
          <a:prstGeom prst="roundRect">
            <a:avLst>
              <a:gd name="adj" fmla="val 4444"/>
            </a:avLst>
          </a:prstGeom>
          <a:solidFill>
            <a:srgbClr val="FFF3E6"/>
          </a:solidFill>
          <a:ln w="12700">
            <a:solidFill>
              <a:srgbClr val="F2C48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9432" y="3310128"/>
            <a:ext cx="2962656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短期供给弹性低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产能无法瞬间扩张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366760" y="3246120"/>
            <a:ext cx="3108960" cy="1234440"/>
          </a:xfrm>
          <a:prstGeom prst="roundRect">
            <a:avLst>
              <a:gd name="adj" fmla="val 4444"/>
            </a:avLst>
          </a:prstGeom>
          <a:solidFill>
            <a:srgbClr val="F1EEF9"/>
          </a:solidFill>
          <a:ln w="12700">
            <a:solidFill>
              <a:srgbClr val="C3B1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39912" y="3310128"/>
            <a:ext cx="2962656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政策介入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价格、配给与质量监管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3813048" y="3858768"/>
            <a:ext cx="630936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653528" y="3858768"/>
            <a:ext cx="630936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31520" y="5074920"/>
            <a:ext cx="106070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关键问题不是“涨价对不对”，而是：为什么涨？谁受益谁受损？价格信号是否被保留？稀缺资源如何分配？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微观经济学真实案例｜口罩市场｜2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供需冲击：需求右移，价格快速上升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价格变化来自“需求突然上升 + 短期供给难以增加”的共同作用。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548640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5349240"/>
            <a:ext cx="466344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5349240"/>
            <a:ext cx="0" cy="-356616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600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 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349240" y="53949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数量 Q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07592" y="2011680"/>
            <a:ext cx="3675888" cy="306324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71016" y="18013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0" y="2011680"/>
            <a:ext cx="3657600" cy="3063240"/>
          </a:xfrm>
          <a:prstGeom prst="line">
            <a:avLst/>
          </a:prstGeom>
          <a:noFill/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8013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44168" y="5074920"/>
            <a:ext cx="3822192" cy="-306324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18013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68880" y="3547872"/>
            <a:ext cx="100584" cy="100584"/>
          </a:xfrm>
          <a:prstGeom prst="ellipse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96896" y="34564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429000" y="3044952"/>
            <a:ext cx="100584" cy="100584"/>
          </a:xfrm>
          <a:prstGeom prst="ellipse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295351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23160" y="2103120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2176272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需求右移：价格上升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5623560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注：教学示意图，非实际统计。</a:t>
            </a:r>
            <a:endParaRPr lang="en-US" sz="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417320"/>
          <a:ext cx="5166360" cy="1874520"/>
        </p:xfrm>
        <a:graphic>
          <a:graphicData uri="http://schemas.openxmlformats.org/drawingml/2006/table">
            <a:tbl>
              <a:tblPr/>
              <a:tblGrid>
                <a:gridCol w="1234440"/>
                <a:gridCol w="2377440"/>
                <a:gridCol w="1554480"/>
              </a:tblGrid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概念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口罩案例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判断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需求冲击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风险认知上升，支付意愿提高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整条需求曲线右移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供给瓶颈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设备、原料、认证、工人都受限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短期供给曲线较陡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均衡变化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P 上升、Q 上升较慢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价格先于产量反应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6446520" y="1417320"/>
            <a:ext cx="5166360" cy="338328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83096" y="1499616"/>
            <a:ext cx="1161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概念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717536" y="149961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口罩案例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094976" y="1499616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92240" y="3703320"/>
            <a:ext cx="47548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初学者最容易混淆：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价格下降导致买得更多 = 沿需求曲线移动；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疫情使口罩变得更重要 = 需求曲线整体右移。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6473952" y="5166360"/>
            <a:ext cx="3749040" cy="320040"/>
          </a:xfrm>
          <a:prstGeom prst="roundRect">
            <a:avLst>
              <a:gd name="adj" fmla="val 22857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47104" y="5239512"/>
            <a:ext cx="3602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价格是稀缺信号，不只是标签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微观经济学真实案例｜口罩市场｜3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弹性：为什么同样的冲击会变成剧烈价格波动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当需求和供给都缺乏短期弹性，价格比数量更容易大幅波动。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25880"/>
            <a:ext cx="47548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需求价格弹性：Ed = 需求量变化百分比 / 价格变化百分比。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|Ed| &lt; 1：缺乏弹性；|Ed| &gt; 1：富有弹性。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450592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EAF4FB"/>
          </a:solidFill>
          <a:ln w="12700">
            <a:solidFill>
              <a:srgbClr val="B8D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514600"/>
            <a:ext cx="223113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消费者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短期弹性低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20440" y="2450592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3592" y="2514600"/>
            <a:ext cx="223113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医院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近似刚性需求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63640" y="2450592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FFF3E6"/>
          </a:solidFill>
          <a:ln w="12700">
            <a:solidFill>
              <a:srgbClr val="F2C4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2514600"/>
            <a:ext cx="223113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生产商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短期供给低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006840" y="2450592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F1EEF9"/>
          </a:solidFill>
          <a:ln w="12700">
            <a:solidFill>
              <a:srgbClr val="C3B1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79992" y="2514600"/>
            <a:ext cx="223113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长期供给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弹性提高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069080"/>
          <a:ext cx="10789920" cy="1600200"/>
        </p:xfrm>
        <a:graphic>
          <a:graphicData uri="http://schemas.openxmlformats.org/drawingml/2006/table">
            <a:tbl>
              <a:tblPr/>
              <a:tblGrid>
                <a:gridCol w="2103120"/>
                <a:gridCol w="1920240"/>
                <a:gridCol w="6766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对象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短期弹性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原因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普通消费者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低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健康风险上升，替代品不足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医院机构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极低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防护需求刚性、不能推迟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生产企业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低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产线、原料、认证和工人受限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长期供给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较高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新企业进入与产能扩张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822960" y="4069080"/>
            <a:ext cx="10789920" cy="338328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9536" y="4151376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962656" y="4151376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短期弹性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82896" y="4151376"/>
            <a:ext cx="6693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原因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微观经济学真实案例｜口罩市场｜4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价格上限：消灭价格，不等于消灭稀缺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低于均衡价的价格上限会制造短缺，并把分配方式转移到排队、抢购或黑市。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534924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5349240"/>
            <a:ext cx="452628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5349240"/>
            <a:ext cx="0" cy="-36576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08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 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212080" y="53949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数量 Q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11680" y="1920240"/>
            <a:ext cx="3520440" cy="3154680"/>
          </a:xfrm>
          <a:prstGeom prst="line">
            <a:avLst/>
          </a:prstGeom>
          <a:noFill/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7099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44168" y="5074920"/>
            <a:ext cx="3685032" cy="-315468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7099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33272" y="3749040"/>
            <a:ext cx="4526280" cy="0"/>
          </a:xfrm>
          <a:prstGeom prst="line">
            <a:avLst/>
          </a:prstGeom>
          <a:noFill/>
          <a:ln w="1270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35387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价格上限 Pc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103120" y="3840480"/>
            <a:ext cx="0" cy="150876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3840480"/>
            <a:ext cx="0" cy="150876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03120" y="4114800"/>
            <a:ext cx="2240280" cy="0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42062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99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短缺：Qd - Qs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5623560"/>
            <a:ext cx="4892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注：教学示意图，非实际统计。</a:t>
            </a:r>
            <a:endParaRPr lang="en-US" sz="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353312"/>
          <a:ext cx="5440680" cy="2331720"/>
        </p:xfrm>
        <a:graphic>
          <a:graphicData uri="http://schemas.openxmlformats.org/drawingml/2006/table">
            <a:tbl>
              <a:tblPr/>
              <a:tblGrid>
                <a:gridCol w="1417320"/>
                <a:gridCol w="1874520"/>
                <a:gridCol w="214884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分配方式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优点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问题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价格配给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速度快，刺激供给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低收入者承压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排队配给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表面价格低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时间成本高，未必给最需要者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行政配给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可优先保障医院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信息要求高，执行成本高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补贴/采购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兼顾公平与供给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需要财政与识别能力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6263640" y="1353312"/>
            <a:ext cx="5440680" cy="338328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0216" y="1435608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分配方式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717536" y="1435608"/>
            <a:ext cx="1801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优点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592056" y="1435608"/>
            <a:ext cx="2075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355080" y="4251960"/>
            <a:ext cx="51206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核心洞察：稀缺必须被分配。若不能用价格分配，就会改用时间、关系、行政权力或黑市价格分配。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微观经济学真实案例｜口罩市场｜5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边际分析：企业为什么会转产、加班和扩产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企业比较的是“再多生产一只”的边际收益与边际成本。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2880360" cy="1005840"/>
          </a:xfrm>
          <a:prstGeom prst="roundRect">
            <a:avLst>
              <a:gd name="adj" fmla="val 5455"/>
            </a:avLst>
          </a:prstGeom>
          <a:solidFill>
            <a:srgbClr val="EAF4FB"/>
          </a:solidFill>
          <a:ln w="12700">
            <a:solidFill>
              <a:srgbClr val="B8D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72768"/>
            <a:ext cx="273405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售价上升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MR ↑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645152" y="1508760"/>
            <a:ext cx="2880360" cy="1005840"/>
          </a:xfrm>
          <a:prstGeom prst="roundRect">
            <a:avLst>
              <a:gd name="adj" fmla="val 5455"/>
            </a:avLst>
          </a:prstGeom>
          <a:solidFill>
            <a:srgbClr val="FFF3E6"/>
          </a:solidFill>
          <a:ln w="12700">
            <a:solidFill>
              <a:srgbClr val="F2C4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18304" y="1572768"/>
            <a:ext cx="273405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MR &gt; MC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继续生产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549640" y="1508760"/>
            <a:ext cx="2880360" cy="1005840"/>
          </a:xfrm>
          <a:prstGeom prst="roundRect">
            <a:avLst>
              <a:gd name="adj" fmla="val 5455"/>
            </a:avLst>
          </a:prstGeom>
          <a:solidFill>
            <a:srgbClr val="E8F5EF"/>
          </a:solidFill>
          <a:ln w="12700">
            <a:solidFill>
              <a:srgbClr val="9FD5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22792" y="1572768"/>
            <a:ext cx="273405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资源流入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供给增加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611880" y="2011680"/>
            <a:ext cx="960120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543800" y="2011680"/>
            <a:ext cx="914400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42972" y="3566160"/>
            <a:ext cx="64008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45864" y="3566160"/>
            <a:ext cx="64008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48756" y="3566160"/>
            <a:ext cx="64008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851648" y="3566160"/>
            <a:ext cx="64008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54540" y="3566160"/>
            <a:ext cx="64008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1520" y="3246120"/>
            <a:ext cx="1684020" cy="640080"/>
          </a:xfrm>
          <a:prstGeom prst="roundRect">
            <a:avLst>
              <a:gd name="adj" fmla="val 8571"/>
            </a:avLst>
          </a:prstGeom>
          <a:solidFill>
            <a:srgbClr val="EAF4FB"/>
          </a:solidFill>
          <a:ln w="12700">
            <a:solidFill>
              <a:srgbClr val="B8C6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310128"/>
            <a:ext cx="153771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价格上涨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34412" y="3246120"/>
            <a:ext cx="1684020" cy="640080"/>
          </a:xfrm>
          <a:prstGeom prst="roundRect">
            <a:avLst>
              <a:gd name="adj" fmla="val 8571"/>
            </a:avLst>
          </a:prstGeom>
          <a:solidFill>
            <a:srgbClr val="FFF3E6"/>
          </a:solidFill>
          <a:ln w="12700">
            <a:solidFill>
              <a:srgbClr val="B8C6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7564" y="3310128"/>
            <a:ext cx="153771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利润出现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37304" y="3246120"/>
            <a:ext cx="1684020" cy="640080"/>
          </a:xfrm>
          <a:prstGeom prst="roundRect">
            <a:avLst>
              <a:gd name="adj" fmla="val 8571"/>
            </a:avLst>
          </a:prstGeom>
          <a:solidFill>
            <a:srgbClr val="EAF4FB"/>
          </a:solidFill>
          <a:ln w="12700">
            <a:solidFill>
              <a:srgbClr val="B8C6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10456" y="3310128"/>
            <a:ext cx="153771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企业转产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40196" y="3246120"/>
            <a:ext cx="1684020" cy="640080"/>
          </a:xfrm>
          <a:prstGeom prst="roundRect">
            <a:avLst>
              <a:gd name="adj" fmla="val 8571"/>
            </a:avLst>
          </a:prstGeom>
          <a:solidFill>
            <a:srgbClr val="FFF3E6"/>
          </a:solidFill>
          <a:ln w="12700">
            <a:solidFill>
              <a:srgbClr val="B8C6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3348" y="3310128"/>
            <a:ext cx="153771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采购设备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43088" y="3246120"/>
            <a:ext cx="1684020" cy="640080"/>
          </a:xfrm>
          <a:prstGeom prst="roundRect">
            <a:avLst>
              <a:gd name="adj" fmla="val 8571"/>
            </a:avLst>
          </a:prstGeom>
          <a:solidFill>
            <a:srgbClr val="EAF4FB"/>
          </a:solidFill>
          <a:ln w="12700">
            <a:solidFill>
              <a:srgbClr val="B8C6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16240" y="3310128"/>
            <a:ext cx="153771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扩大产量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745980" y="3246120"/>
            <a:ext cx="1684020" cy="640080"/>
          </a:xfrm>
          <a:prstGeom prst="roundRect">
            <a:avLst>
              <a:gd name="adj" fmla="val 8571"/>
            </a:avLst>
          </a:prstGeom>
          <a:solidFill>
            <a:srgbClr val="FFF3E6"/>
          </a:solidFill>
          <a:ln w="12700">
            <a:solidFill>
              <a:srgbClr val="B8C6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19132" y="3310128"/>
            <a:ext cx="153771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竞争压低利润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" y="4983480"/>
            <a:ext cx="107899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MR = MC 不是纯数学公式，而是“再多做一点是否值得”的商业判断。价格信号把分散的资本、劳动和原材料引向最稀缺的商品。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微观经济学真实案例｜口罩市场｜6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长期响应：高利润吸引进入，进入又侵蚀高利润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短期价格先涨，长期产能扩张让供给曲线右移。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539496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5349240"/>
            <a:ext cx="457200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" y="5349240"/>
            <a:ext cx="0" cy="-36576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508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 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303520" y="53949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数量 Q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57400" y="1920240"/>
            <a:ext cx="3566160" cy="3154680"/>
          </a:xfrm>
          <a:prstGeom prst="line">
            <a:avLst/>
          </a:prstGeom>
          <a:noFill/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17099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89888" y="5074920"/>
            <a:ext cx="3730752" cy="-315468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7099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57400" y="5074920"/>
            <a:ext cx="3721608" cy="-3154680"/>
          </a:xfrm>
          <a:prstGeom prst="line">
            <a:avLst/>
          </a:prstGeom>
          <a:noFill/>
          <a:ln w="12700">
            <a:solidFill>
              <a:srgbClr val="6A4C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2103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A4C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783080" y="2057400"/>
            <a:ext cx="3291840" cy="320040"/>
          </a:xfrm>
          <a:prstGeom prst="roundRect">
            <a:avLst>
              <a:gd name="adj" fmla="val 22857"/>
            </a:avLst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56232" y="2130552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企业进入：供给右移、价格回落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5623560"/>
            <a:ext cx="4937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注：教学示意图，非实际统计。</a:t>
            </a:r>
            <a:endParaRPr lang="en-US" sz="700" dirty="0"/>
          </a:p>
        </p:txBody>
      </p:sp>
      <p:pic>
        <p:nvPicPr>
          <p:cNvPr id="19" name="Image 0" descr="/mnt/data/mask_factory.jpeg">    </p:cNvPr>
          <p:cNvPicPr>
            <a:picLocks noChangeAspect="1"/>
          </p:cNvPicPr>
          <p:nvPr/>
        </p:nvPicPr>
        <p:blipFill>
          <a:blip r:embed="rId1"/>
          <a:srcRect l="10000" r="200" t="5000" b="15000"/>
          <a:stretch/>
        </p:blipFill>
        <p:spPr>
          <a:xfrm>
            <a:off x="6400800" y="1298448"/>
            <a:ext cx="5166360" cy="30632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55664" y="4617720"/>
            <a:ext cx="50292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扩产不是一条直线：需要设备、工人、原料、认证、物流和订单。只要高利润持续存在，进入会越来越多；进入越多，长期超额利润越难维持。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微观经济学真实案例｜口罩市场｜7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福利分析：价格和数量背后，是剩余如何重新分配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微观经济学评价政策，不只看价格低不低，还要看交易是否减少、剩余如何变化。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52578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5257800"/>
            <a:ext cx="448056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5257800"/>
            <a:ext cx="0" cy="-352044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828800"/>
            <a:ext cx="3749040" cy="2926080"/>
          </a:xfrm>
          <a:prstGeom prst="line">
            <a:avLst/>
          </a:prstGeom>
          <a:noFill/>
          <a:ln w="12700">
            <a:solidFill>
              <a:srgbClr val="E76F5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4754880"/>
            <a:ext cx="3749040" cy="-292608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377440"/>
            <a:ext cx="2194560" cy="1463040"/>
          </a:xfrm>
          <a:prstGeom prst="arc">
            <a:avLst/>
          </a:prstGeom>
          <a:noFill/>
          <a:ln w="12700">
            <a:solidFill>
              <a:srgbClr val="D7E9FA">
                <a:alpha val="8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3218688"/>
            <a:ext cx="2194560" cy="1417320"/>
          </a:xfrm>
          <a:prstGeom prst="arc">
            <a:avLst/>
          </a:prstGeom>
          <a:noFill/>
          <a:ln w="12700">
            <a:solidFill>
              <a:srgbClr val="FBD8C6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22677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消费者剩余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57400" y="3794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生产者剩余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417320"/>
          <a:ext cx="5349240" cy="2057400"/>
        </p:xfrm>
        <a:graphic>
          <a:graphicData uri="http://schemas.openxmlformats.org/drawingml/2006/table">
            <a:tbl>
              <a:tblPr/>
              <a:tblGrid>
                <a:gridCol w="1325880"/>
                <a:gridCol w="2011680"/>
                <a:gridCol w="2011680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概念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含义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口罩案例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消费者剩余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愿付价格 - 实付价格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紧急需求者愿付价格上升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生产者剩余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市场价格 - 最低接受价格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高价格带来扩产激励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无谓损失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本可成交却未成交的福利损失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价格上限、质量混乱、黑市成本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263640" y="1417320"/>
            <a:ext cx="5349240" cy="338328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0216" y="1499616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概念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26096" y="1499616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含义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637776" y="1499616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口罩案例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309360" y="3977640"/>
            <a:ext cx="5029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政策评价要同时看：价格、公平、短缺、生产激励、质量和执行成本。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微观经济学真实案例｜口罩市场｜8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外部性：口罩不是纯粹私人商品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传染病场景中，一个人的防护行为会影响没有参与交易的他人。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2926080" cy="1143000"/>
          </a:xfrm>
          <a:prstGeom prst="roundRect">
            <a:avLst>
              <a:gd name="adj" fmla="val 4800"/>
            </a:avLst>
          </a:prstGeom>
          <a:solidFill>
            <a:srgbClr val="EAF4FB"/>
          </a:solidFill>
          <a:ln w="12700">
            <a:solidFill>
              <a:srgbClr val="B8D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18488"/>
            <a:ext cx="277977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私人收益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保护自己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617720" y="1554480"/>
            <a:ext cx="2926080" cy="1143000"/>
          </a:xfrm>
          <a:prstGeom prst="roundRect">
            <a:avLst>
              <a:gd name="adj" fmla="val 4800"/>
            </a:avLst>
          </a:prstGeom>
          <a:solidFill>
            <a:srgbClr val="E8F5EF"/>
          </a:solidFill>
          <a:ln w="12700">
            <a:solidFill>
              <a:srgbClr val="9FD5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0872" y="1618488"/>
            <a:ext cx="277977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外部收益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降低传播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503920" y="1554480"/>
            <a:ext cx="2926080" cy="1143000"/>
          </a:xfrm>
          <a:prstGeom prst="roundRect">
            <a:avLst>
              <a:gd name="adj" fmla="val 4800"/>
            </a:avLst>
          </a:prstGeom>
          <a:solidFill>
            <a:srgbClr val="FFF3E6"/>
          </a:solidFill>
          <a:ln w="12700">
            <a:solidFill>
              <a:srgbClr val="F2C4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77072" y="1618488"/>
            <a:ext cx="277977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社会收益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大于私人收益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703320" y="2121408"/>
            <a:ext cx="822960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571232" y="2121408"/>
            <a:ext cx="841248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  <a:headEnd type="none"/>
            <a:tailEnd type="triangle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703320"/>
          <a:ext cx="10698480" cy="1645920"/>
        </p:xfrm>
        <a:graphic>
          <a:graphicData uri="http://schemas.openxmlformats.org/drawingml/2006/table">
            <a:tbl>
              <a:tblPr/>
              <a:tblGrid>
                <a:gridCol w="2057400"/>
                <a:gridCol w="4572000"/>
                <a:gridCol w="4069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外部性类型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口罩案例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可能政策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正外部性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佩戴降低传播风险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补贴、免费发放、公共卫生要求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负外部性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囤积让他人更难购买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限购、优先保障关键部门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信息外部性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谣言改变他人预期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透明发布供应信息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质量外部性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假冒伪劣损害信任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标准、检测、处罚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822960" y="3703320"/>
            <a:ext cx="10698480" cy="338328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" y="3785616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外部性类型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916936" y="3785616"/>
            <a:ext cx="4498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口罩案例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88936" y="3785616"/>
            <a:ext cx="3995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可能政策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微观经济学真实案例｜口罩市场｜9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信息不对称：为什么认证、品牌和监管很重要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消费者难以直接判断过滤效率、材料质量和生产环境。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85262" y="1783080"/>
            <a:ext cx="109728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976165" y="1783080"/>
            <a:ext cx="109728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167067" y="1783080"/>
            <a:ext cx="109728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357970" y="1783080"/>
            <a:ext cx="109728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1520" y="1417320"/>
            <a:ext cx="2026310" cy="731520"/>
          </a:xfrm>
          <a:prstGeom prst="roundRect">
            <a:avLst>
              <a:gd name="adj" fmla="val 7500"/>
            </a:avLst>
          </a:prstGeom>
          <a:solidFill>
            <a:srgbClr val="EAF4FB"/>
          </a:solidFill>
          <a:ln w="12700">
            <a:solidFill>
              <a:srgbClr val="B8C6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481328"/>
            <a:ext cx="188000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质量难辨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2422" y="1417320"/>
            <a:ext cx="2026310" cy="731520"/>
          </a:xfrm>
          <a:prstGeom prst="roundRect">
            <a:avLst>
              <a:gd name="adj" fmla="val 7500"/>
            </a:avLst>
          </a:prstGeom>
          <a:solidFill>
            <a:srgbClr val="FFF3E6"/>
          </a:solidFill>
          <a:ln w="12700">
            <a:solidFill>
              <a:srgbClr val="B8C6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5574" y="1481328"/>
            <a:ext cx="188000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消费者压价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13325" y="1417320"/>
            <a:ext cx="2026310" cy="731520"/>
          </a:xfrm>
          <a:prstGeom prst="roundRect">
            <a:avLst>
              <a:gd name="adj" fmla="val 7500"/>
            </a:avLst>
          </a:prstGeom>
          <a:solidFill>
            <a:srgbClr val="EAF4FB"/>
          </a:solidFill>
          <a:ln w="12700">
            <a:solidFill>
              <a:srgbClr val="B8C6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6477" y="1481328"/>
            <a:ext cx="188000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好产品退出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04227" y="1417320"/>
            <a:ext cx="2026310" cy="731520"/>
          </a:xfrm>
          <a:prstGeom prst="roundRect">
            <a:avLst>
              <a:gd name="adj" fmla="val 7500"/>
            </a:avLst>
          </a:prstGeom>
          <a:solidFill>
            <a:srgbClr val="FFF3E6"/>
          </a:solidFill>
          <a:ln w="12700">
            <a:solidFill>
              <a:srgbClr val="B8C6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77379" y="1481328"/>
            <a:ext cx="188000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平均质量下降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95130" y="1417320"/>
            <a:ext cx="2026310" cy="731520"/>
          </a:xfrm>
          <a:prstGeom prst="roundRect">
            <a:avLst>
              <a:gd name="adj" fmla="val 7500"/>
            </a:avLst>
          </a:prstGeom>
          <a:solidFill>
            <a:srgbClr val="EAF4FB"/>
          </a:solidFill>
          <a:ln w="12700">
            <a:solidFill>
              <a:srgbClr val="B8C6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68282" y="1481328"/>
            <a:ext cx="188000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市场信任下降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788920"/>
          <a:ext cx="10607040" cy="2423160"/>
        </p:xfrm>
        <a:graphic>
          <a:graphicData uri="http://schemas.openxmlformats.org/drawingml/2006/table">
            <a:tbl>
              <a:tblPr/>
              <a:tblGrid>
                <a:gridCol w="1920240"/>
                <a:gridCol w="4572000"/>
                <a:gridCol w="4114800"/>
              </a:tblGrid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机制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解决的问题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可能副作用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统一标准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明确“合格口罩”的边界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标准过细会降低应急灵活性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认证标签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降低消费者识别成本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认证能力不足形成瓶颈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品牌信誉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重复交易约束企业行为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新企业进入更难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第三方检测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增加可信信息来源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检测费用提高成本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公开执法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惩罚假冒伪劣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执法不稳定会增加不确定性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822960" y="2788920"/>
            <a:ext cx="10607040" cy="338328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9536" y="2871216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机制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779776" y="2871216"/>
            <a:ext cx="4498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解决的问题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351776" y="2871216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可能副作用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68680" y="5623560"/>
            <a:ext cx="10424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信息机制不是替代市场，而是让价格更能反映真实质量。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微观经济学真实案例｜口罩市场｜10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博弈论：个体理性不一定带来集体最优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“我多买一点”在个人层面合理，但所有人都这样做会放大短缺。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325880"/>
          <a:ext cx="5669280" cy="292608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2103120"/>
              </a:tblGrid>
              <a:tr h="975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你 / 他人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正常购买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囤货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正常购买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市场稳定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大家够用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你可能买不到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风险上升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囤货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你短期更安全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别人更难买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全体抢购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短缺恶化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1325880"/>
            <a:ext cx="5669280" cy="338328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3816" y="1408176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 / 他人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76856" y="1408176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正常购买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79976" y="1408176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囤货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62672" y="2834640"/>
            <a:ext cx="36576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8577072" y="2834640"/>
            <a:ext cx="36576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9491472" y="2834640"/>
            <a:ext cx="36576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10405872" y="2834640"/>
            <a:ext cx="36576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812280" y="1417320"/>
            <a:ext cx="822960" cy="2834640"/>
          </a:xfrm>
          <a:prstGeom prst="roundRect">
            <a:avLst>
              <a:gd name="adj" fmla="val 6667"/>
            </a:avLst>
          </a:prstGeom>
          <a:solidFill>
            <a:srgbClr val="EAF4FB"/>
          </a:solidFill>
          <a:ln w="12700">
            <a:solidFill>
              <a:srgbClr val="B8C6D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85432" y="1481328"/>
            <a:ext cx="676656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担心买不到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726680" y="1417320"/>
            <a:ext cx="822960" cy="2834640"/>
          </a:xfrm>
          <a:prstGeom prst="roundRect">
            <a:avLst>
              <a:gd name="adj" fmla="val 6667"/>
            </a:avLst>
          </a:prstGeom>
          <a:solidFill>
            <a:srgbClr val="FFF3E6"/>
          </a:solidFill>
          <a:ln w="12700">
            <a:solidFill>
              <a:srgbClr val="B8C6D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99832" y="1481328"/>
            <a:ext cx="676656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个人囤货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641080" y="1417320"/>
            <a:ext cx="822960" cy="2834640"/>
          </a:xfrm>
          <a:prstGeom prst="roundRect">
            <a:avLst>
              <a:gd name="adj" fmla="val 6667"/>
            </a:avLst>
          </a:prstGeom>
          <a:solidFill>
            <a:srgbClr val="EAF4FB"/>
          </a:solidFill>
          <a:ln w="12700">
            <a:solidFill>
              <a:srgbClr val="B8C6D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14232" y="1481328"/>
            <a:ext cx="676656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货架更空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555480" y="1417320"/>
            <a:ext cx="822960" cy="2834640"/>
          </a:xfrm>
          <a:prstGeom prst="roundRect">
            <a:avLst>
              <a:gd name="adj" fmla="val 6667"/>
            </a:avLst>
          </a:prstGeom>
          <a:solidFill>
            <a:srgbClr val="FFF3E6"/>
          </a:solidFill>
          <a:ln w="12700">
            <a:solidFill>
              <a:srgbClr val="B8C6D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28632" y="1481328"/>
            <a:ext cx="676656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他人更恐慌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0469880" y="1417320"/>
            <a:ext cx="822960" cy="2834640"/>
          </a:xfrm>
          <a:prstGeom prst="roundRect">
            <a:avLst>
              <a:gd name="adj" fmla="val 6667"/>
            </a:avLst>
          </a:prstGeom>
          <a:solidFill>
            <a:srgbClr val="EAF4FB"/>
          </a:solidFill>
          <a:ln w="12700">
            <a:solidFill>
              <a:srgbClr val="B8C6D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543032" y="1481328"/>
            <a:ext cx="676656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下一轮囤货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68680" y="4800600"/>
            <a:ext cx="104241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改变博弈结构比喊口号更有效：提高供应可见度、限制单次购买量、优先保障高风险群体、稳定预期、惩罚造谣和囤积居奇。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微观经济学真实案例｜口罩市场｜11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政府与市场：不是二选一，而是机制匹配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不同问题需要不同工具：价格信号、补贴、采购、监管和信息发布各有边界。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25880"/>
          <a:ext cx="11018520" cy="3246120"/>
        </p:xfrm>
        <a:graphic>
          <a:graphicData uri="http://schemas.openxmlformats.org/drawingml/2006/table">
            <a:tbl>
              <a:tblPr/>
              <a:tblGrid>
                <a:gridCol w="2057400"/>
                <a:gridCol w="2834640"/>
                <a:gridCol w="3291840"/>
                <a:gridCol w="2834640"/>
              </a:tblGrid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问题诊断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市场机制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政策抓手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关键风险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总供给不足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长期有效，短期不足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补贴扩产、进口、协调原料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过度扩产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价格过快上涨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有信号作用，但分配不公平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补贴、限购、政府采购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价格管制导致短缺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医院缺口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零售市场无法保障优先级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行政配给、集中采购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信息失真和执行迟缓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质量混乱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声誉形成慢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认证、检测、追溯、处罚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认证瓶颈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恐慌囤货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个体理性导致集体低效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信息公开、限购、稳定预期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过度限制正常消费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4360" y="1325880"/>
            <a:ext cx="11018520" cy="338328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0936" y="1408176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问题诊断</a:t>
            </a:r>
            <a:endParaRPr lang="en-US" sz="920" dirty="0"/>
          </a:p>
        </p:txBody>
      </p:sp>
      <p:sp>
        <p:nvSpPr>
          <p:cNvPr id="8" name="Text 5"/>
          <p:cNvSpPr/>
          <p:nvPr/>
        </p:nvSpPr>
        <p:spPr>
          <a:xfrm>
            <a:off x="2688336" y="1408176"/>
            <a:ext cx="2761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市场机制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5522976" y="1408176"/>
            <a:ext cx="3218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政策抓手</a:t>
            </a:r>
            <a:endParaRPr lang="en-US" sz="920" dirty="0"/>
          </a:p>
        </p:txBody>
      </p:sp>
      <p:sp>
        <p:nvSpPr>
          <p:cNvPr id="10" name="Text 7"/>
          <p:cNvSpPr/>
          <p:nvPr/>
        </p:nvSpPr>
        <p:spPr>
          <a:xfrm>
            <a:off x="8814816" y="1408176"/>
            <a:ext cx="2761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关键风险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731520" y="4892040"/>
            <a:ext cx="107899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市场擅长用价格协调分散决策；政府适合处理外部性、信息不对称、公共品和关键资源优先保障。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微观经济学真实案例｜口罩市场｜12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用一个小模型把机制算出来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示意数字不代表实际统计，目的是训练“从机制到结果”的推理。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3154680" cy="1234440"/>
          </a:xfrm>
          <a:prstGeom prst="roundRect">
            <a:avLst>
              <a:gd name="adj" fmla="val 4444"/>
            </a:avLst>
          </a:prstGeom>
          <a:solidFill>
            <a:srgbClr val="EAF4FB"/>
          </a:solidFill>
          <a:ln w="12700">
            <a:solidFill>
              <a:srgbClr val="B8D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481328"/>
            <a:ext cx="3008376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疫情前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Qd = 100 - 2P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Qs = 20 + 2P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26280" y="1417320"/>
            <a:ext cx="3154680" cy="1234440"/>
          </a:xfrm>
          <a:prstGeom prst="roundRect">
            <a:avLst>
              <a:gd name="adj" fmla="val 4444"/>
            </a:avLst>
          </a:prstGeom>
          <a:solidFill>
            <a:srgbClr val="FFF3E6"/>
          </a:solidFill>
          <a:ln w="12700">
            <a:solidFill>
              <a:srgbClr val="F2C4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1481328"/>
            <a:ext cx="3008376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均衡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100 - 2P = 20 + 2P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 = 20, Q = 60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0" y="1417320"/>
            <a:ext cx="3154680" cy="1234440"/>
          </a:xfrm>
          <a:prstGeom prst="roundRect">
            <a:avLst>
              <a:gd name="adj" fmla="val 4444"/>
            </a:avLst>
          </a:prstGeom>
          <a:solidFill>
            <a:srgbClr val="F1EEF9"/>
          </a:solidFill>
          <a:ln w="12700">
            <a:solidFill>
              <a:srgbClr val="C3B1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02752" y="1481328"/>
            <a:ext cx="3008376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疫情后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Qd = 160 - 2P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 = 35, Q = 90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977640" y="2057400"/>
            <a:ext cx="466344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662672" y="2057400"/>
            <a:ext cx="475488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  <a:headEnd type="none"/>
            <a:tailEnd type="triangle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520440"/>
          <a:ext cx="10789920" cy="1417320"/>
        </p:xfrm>
        <a:graphic>
          <a:graphicData uri="http://schemas.openxmlformats.org/drawingml/2006/table">
            <a:tbl>
              <a:tblPr/>
              <a:tblGrid>
                <a:gridCol w="1554480"/>
                <a:gridCol w="1920240"/>
                <a:gridCol w="1920240"/>
                <a:gridCol w="1097280"/>
                <a:gridCol w="1097280"/>
                <a:gridCol w="3200400"/>
              </a:tblGrid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场景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需求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供给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价格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数量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含义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疫情前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Qd=100-2P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Qs=20+2P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60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普通商品，需求稳定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疫情后短期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Qd=160-2P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Qs=20+2P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35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90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需求暴增，供给短期僵硬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疫情后长期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Qd保持高位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Qs右移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回落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增加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进入和扩产缓解短缺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77240" y="3520440"/>
            <a:ext cx="10789920" cy="338328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3816" y="3602736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368296" y="3602736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288536" y="3602736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供给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208776" y="3602736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306056" y="3602736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数量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403336" y="3602736"/>
            <a:ext cx="3127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含义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68680" y="5532120"/>
            <a:ext cx="10241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结论：需求右移而供给短期僵硬，价格上涨幅度往往大于数量增长幅度。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微观经济学真实案例｜口罩市场｜13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从案例到知识体系：微观经济学的骨架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把一个市场拆成十六个概念，就能从新闻走向分析。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61872"/>
          <a:ext cx="11018520" cy="4434840"/>
        </p:xfrm>
        <a:graphic>
          <a:graphicData uri="http://schemas.openxmlformats.org/drawingml/2006/table">
            <a:tbl>
              <a:tblPr/>
              <a:tblGrid>
                <a:gridCol w="1920240"/>
                <a:gridCol w="4663440"/>
                <a:gridCol w="4434840"/>
              </a:tblGrid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概念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口罩案例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要点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稀缺性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短期口罩不足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资源有限，必须分配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机会成本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生产口罩会挤出其他产品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选择必有代价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均衡价格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供需共同决定 P 与 Q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价格协调分散决策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弹性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短期需求和供给都低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价格先剧烈反应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边际分析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MR &gt; MC 促使扩产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再多做一点是否值得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外部性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防护影响他人风险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市场量可能低于社会最优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信息不对称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质量难辨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认证和品牌降低成本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博弈论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囤货循环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个体理性导致集体低效</a:t>
                      </a:r>
                      <a:endParaRPr lang="en-US" sz="92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4360" y="1261872"/>
            <a:ext cx="11018520" cy="338328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0936" y="1344168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概念</a:t>
            </a:r>
            <a:endParaRPr lang="en-US" sz="920" dirty="0"/>
          </a:p>
        </p:txBody>
      </p:sp>
      <p:sp>
        <p:nvSpPr>
          <p:cNvPr id="8" name="Text 5"/>
          <p:cNvSpPr/>
          <p:nvPr/>
        </p:nvSpPr>
        <p:spPr>
          <a:xfrm>
            <a:off x="2551176" y="1344168"/>
            <a:ext cx="4590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口罩案例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7214616" y="1344168"/>
            <a:ext cx="4361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要点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1097280" y="5961888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70432" y="6035040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约束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80360" y="5961888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53512" y="6035040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5961888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36592" y="6035040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激励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46520" y="5961888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19672" y="6035040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229600" y="5961888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02752" y="6035040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均衡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0012680" y="5961888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85832" y="6035040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福利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微观经济学真实案例｜口罩市场｜14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可复用框架：以后遇到任何经济新闻都这样拆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先识别机制，再评价结果。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4440"/>
          <a:ext cx="6583680" cy="3977640"/>
        </p:xfrm>
        <a:graphic>
          <a:graphicData uri="http://schemas.openxmlformats.org/drawingml/2006/table">
            <a:tbl>
              <a:tblPr/>
              <a:tblGrid>
                <a:gridCol w="1097280"/>
                <a:gridCol w="2286000"/>
                <a:gridCol w="3200400"/>
              </a:tblGrid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步骤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核心问题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口罩案例示范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 决策者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谁在选择？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消费者、医院、药店、生产商、监管者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 约束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受到什么限制？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预算、产能、原料、时间、信息、政策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 激励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什么改变行为？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价格、利润、罚款、补贴、限购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 互动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别人会如何响应？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囤货、转产、涨价、打假、进口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 均衡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最后形成什么结果？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价格、数量、短缺、库存、质量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6 福利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谁受益谁受损？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消费者剩余、生产者剩余、外部性、无谓损失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1234440"/>
            <a:ext cx="6583680" cy="338328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2376" y="1316736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步骤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819656" y="1316736"/>
            <a:ext cx="2212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核心问题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105656" y="1316736"/>
            <a:ext cx="3127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口罩案例示范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543800" y="1280160"/>
            <a:ext cx="416052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资料来源：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兰小欢《置身事内：中国政府与经济发展》：外部性、复杂信息、激励相容框架。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陈雨露、杨忠恕《中国是部金融史》：用历史与真实案例解释经济机制的方法启发。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图片：WBUR News 2020 疫情早期货架短缺照片；China Daily 2020 口罩工厂扩产照片。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本材料中曲线和数值均为教学示意，不代表实际统计。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543800" y="4343400"/>
            <a:ext cx="4160520" cy="960120"/>
          </a:xfrm>
          <a:prstGeom prst="roundRect">
            <a:avLst>
              <a:gd name="adj" fmla="val 5714"/>
            </a:avLst>
          </a:prstGeom>
          <a:solidFill>
            <a:srgbClr val="EAF4FB"/>
          </a:solidFill>
          <a:ln w="12700">
            <a:solidFill>
              <a:srgbClr val="B8D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16952" y="4407408"/>
            <a:ext cx="401421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一句话总结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约束决定选择，激励改变行为，互动形成均衡，福利评价结果。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微观经济学真实案例｜口罩市场｜15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一只口罩读懂微观经济学</dc:title>
  <dc:subject>微观经济学：口罩市场案例</dc:subject>
  <dc:creator>OpenAI</dc:creator>
  <cp:lastModifiedBy>OpenAI</cp:lastModifiedBy>
  <cp:revision>1</cp:revision>
  <dcterms:created xsi:type="dcterms:W3CDTF">2026-08-20T07:51:23Z</dcterms:created>
  <dcterms:modified xsi:type="dcterms:W3CDTF">2026-08-20T07:51:23Z</dcterms:modified>
</cp:coreProperties>
</file>