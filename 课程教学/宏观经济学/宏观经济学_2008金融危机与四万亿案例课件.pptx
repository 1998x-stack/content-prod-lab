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宏观经济学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81328"/>
            <a:ext cx="5303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</a:rPr>
              <a:t>用2008年全球金融危机与中国“四万亿”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</a:rPr>
              <a:t>理解GDP、总需求、财政货币政策、债务与长期增长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720840" y="914400"/>
            <a:ext cx="4343400" cy="4389120"/>
          </a:xfrm>
          <a:prstGeom prst="roundRect">
            <a:avLst>
              <a:gd name="adj" fmla="val 4632"/>
            </a:avLst>
          </a:prstGeom>
          <a:solidFill>
            <a:srgbClr val="0B122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4032" y="1325880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4032" y="1353312"/>
            <a:ext cx="196596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外需冲击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299448" y="1444752"/>
            <a:ext cx="530352" cy="18288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39528" y="1325880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2258568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2286000"/>
            <a:ext cx="196596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总需求下行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299448" y="2377440"/>
            <a:ext cx="530352" cy="1828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39528" y="2258568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3191256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政策刺激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99448" y="3310128"/>
            <a:ext cx="530352" cy="182880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39528" y="3191256"/>
            <a:ext cx="713232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4123944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4151376"/>
            <a:ext cx="196596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债务与结构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5650992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案例主线：NX↓ → I↓ → C↓ → G↑/信贷↑ → Y企稳 → 杠杆与再平衡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详细讲义 + 课堂课件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一页总览：宏观经济学看什么？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宏观经济学不是研究一个企业，而是研究“全社会收入、支出、价格、就业和金融条件如何互相放大”。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2176272" cy="3429000"/>
          </a:xfrm>
          <a:prstGeom prst="roundRect">
            <a:avLst>
              <a:gd name="adj" fmla="val 7563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消费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投资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政府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NX 净出口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176272" cy="3429000"/>
          </a:xfrm>
          <a:prstGeom prst="roundRect">
            <a:avLst>
              <a:gd name="adj" fmla="val 7563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75888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实际GDP 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潜在GDP Y*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产出缺口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2176272" cy="3429000"/>
          </a:xfrm>
          <a:prstGeom prst="roundRect">
            <a:avLst>
              <a:gd name="adj" fmla="val 7563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 / 通缩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资产价格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52560" y="1508760"/>
            <a:ext cx="2176272" cy="3429000"/>
          </a:xfrm>
          <a:prstGeom prst="roundRect">
            <a:avLst>
              <a:gd name="adj" fmla="val 7563"/>
            </a:avLst>
          </a:prstGeom>
          <a:solidFill>
            <a:srgbClr val="EDE9FE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53728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利率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信贷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 / GDP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本案例把四个模块串成一个闭环：外需下降使总需求收缩；政策用财政和货币补需求；短期稳住GDP，长期留下债务与结构调整问题。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真实案例：2008年外部冲击如何传到中国？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从美国房地产金融危机开始，沿着贸易链、企业现金流、就业和信心，变成中国的总需求冲击。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828800" cy="123444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美国金融危机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" y="2514600"/>
            <a:ext cx="1572768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房地产与金融体系去杠杆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2267712"/>
            <a:ext cx="329184" cy="310896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828800"/>
            <a:ext cx="1828800" cy="123444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欧美消费下降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2514600"/>
            <a:ext cx="1572768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进口订单减少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67712"/>
            <a:ext cx="329184" cy="310896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828800"/>
            <a:ext cx="1828800" cy="123444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中国出口下滑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2514600"/>
            <a:ext cx="1572768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外向型企业订单收缩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68312" y="2267712"/>
            <a:ext cx="329184" cy="310896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1828800"/>
            <a:ext cx="1828800" cy="123444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投资与就业承压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71232" y="2514600"/>
            <a:ext cx="1572768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企业少开工、少招聘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81744" y="2267712"/>
            <a:ext cx="329184" cy="310896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56648" y="1828800"/>
            <a:ext cx="1828800" cy="123444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政策加码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84664" y="2514600"/>
            <a:ext cx="1572768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财政刺激+货币宽松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1560" y="3931920"/>
            <a:ext cx="99669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4160520"/>
            <a:ext cx="946404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关键不是“美国出事，中国也出事”这么简单，而是：一个国家的支出，往往就是另一个国家的收入。出口下降会进一步拖累投资、就业和消费，形成负反馈。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GDP恒等式：宏观经济学的第一张地图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把整个经济看成四台发动机：消费、投资、政府支出、净出口。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480560" cy="731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 = C + I + G + NX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834640"/>
            <a:ext cx="13716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居民消费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工资、收入、信心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493008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538728"/>
            <a:ext cx="13716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企业扩产、房地产、基建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197096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242816"/>
            <a:ext cx="4572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政府支出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4261104"/>
            <a:ext cx="19202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财政预算、公共投资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4901184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946904"/>
            <a:ext cx="4572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4946904"/>
            <a:ext cx="13716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净出口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4965192"/>
            <a:ext cx="19202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出口减进口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463040"/>
            <a:ext cx="4297680" cy="4069080"/>
          </a:xfrm>
          <a:prstGeom prst="roundRect">
            <a:avLst>
              <a:gd name="adj" fmla="val 4045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2008年的核心变化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3200400" cy="2057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NX 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外需减少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企业推迟投资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就业和收入预期变弱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90372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政策试图让 G↑ 与信贷驱动的 I↑ 抵消冲击。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总需求冲击：为什么一个订单会变成宏观问题？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单个企业的订单减少，经过收入、就业、投资和消费的循环，可能变成全社会的收缩。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1252728"/>
            <a:ext cx="2286000" cy="786384"/>
          </a:xfrm>
          <a:prstGeom prst="roundRect">
            <a:avLst>
              <a:gd name="adj" fmla="val 13953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89888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订单减少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4920" y="1682496"/>
            <a:ext cx="192024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企业收入下降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57589" y="2611173"/>
            <a:ext cx="22860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0469" y="2748333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少生产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40469" y="3040941"/>
            <a:ext cx="192024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机器闲置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95670" y="4809183"/>
            <a:ext cx="22860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8550" y="4946343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少招聘/裁员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78550" y="5238951"/>
            <a:ext cx="192024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工资收入下降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88410" y="4809183"/>
            <a:ext cx="22860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1290" y="4946343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消费谨慎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71290" y="5238951"/>
            <a:ext cx="192024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其他企业收入下降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26491" y="2611173"/>
            <a:ext cx="22860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9371" y="2748333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信心转弱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9371" y="3040941"/>
            <a:ext cx="192024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投资继续推迟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3246120"/>
            <a:ext cx="2423160" cy="566928"/>
          </a:xfrm>
          <a:prstGeom prst="roundRect">
            <a:avLst>
              <a:gd name="adj" fmla="val 22581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255264"/>
            <a:ext cx="242316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负反馈循环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为什么不只是“降价”而是“减产和失业”？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短期内价格、工资、合同和组织都存在黏性，所以需求下降常先表现为产量和就业下降。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029200" cy="4297680"/>
          </a:xfrm>
          <a:prstGeom prst="roundRect">
            <a:avLst>
              <a:gd name="adj" fmla="val 3830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需求突然下降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514600"/>
            <a:ext cx="4160520" cy="17373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订单少了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企业不确定未来需求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不愿意马上大幅降价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先压缩产量和工时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46520" y="1508760"/>
            <a:ext cx="4663440" cy="4297680"/>
          </a:xfrm>
          <a:prstGeom prst="roundRect">
            <a:avLst>
              <a:gd name="adj" fmla="val 383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短期宏观结果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516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 Y 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就业 N 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 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 C ↓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560320" y="6035040"/>
            <a:ext cx="70408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这就是凯恩斯主义短期分析的核心直觉。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产出缺口：经济“能生产”与“实际生产”的差距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潜在GDP代表正常资源利用下的产出能力，危机时实际GDP低于潜在GDP。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5257800"/>
            <a:ext cx="4572000" cy="0"/>
          </a:xfrm>
          <a:prstGeom prst="line">
            <a:avLst/>
          </a:prstGeom>
          <a:noFill/>
          <a:ln w="12700">
            <a:solidFill>
              <a:srgbClr val="13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5257800"/>
            <a:ext cx="0" cy="-3474720"/>
          </a:xfrm>
          <a:prstGeom prst="line">
            <a:avLst/>
          </a:prstGeom>
          <a:noFill/>
          <a:ln w="12700">
            <a:solidFill>
              <a:srgbClr val="13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389120"/>
            <a:ext cx="4114800" cy="-182880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4663440"/>
            <a:ext cx="4114800" cy="-8229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95728"/>
            <a:ext cx="11887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Y* 潜在GDP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3657600"/>
            <a:ext cx="114300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 实际GDP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834640"/>
            <a:ext cx="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86200" y="3127248"/>
            <a:ext cx="114300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负产出缺口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691640"/>
            <a:ext cx="416052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政策问题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2743200"/>
            <a:ext cx="342900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Y &lt; Y*：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存在闲置工人和设备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刺激更可能增加产量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Y ≈ Y*：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刺激更容易转化为通胀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政策反应：财政政策与货币政策怎样分工？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财政政策直接创造需求；货币政策通过利率、银行和信贷影响私人支出。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4983480" cy="4389120"/>
          </a:xfrm>
          <a:prstGeom prst="roundRect">
            <a:avLst>
              <a:gd name="adj" fmla="val 3750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443484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财政政策：政府自己花钱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2514600"/>
            <a:ext cx="397764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↑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基建、学校、医院、转移支付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直接进入GDP恒等式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382512" y="1417320"/>
            <a:ext cx="4983480" cy="4389120"/>
          </a:xfrm>
          <a:prstGeom prst="roundRect">
            <a:avLst>
              <a:gd name="adj" fmla="val 375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货币政策：降低融资条件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84848" y="2514600"/>
            <a:ext cx="4160520" cy="1371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利率 ↓ / 准备金 ↓ / 流动性 ↑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银行贷款增加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带动 I 与部分 C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86200" y="5925312"/>
            <a:ext cx="4389120" cy="384048"/>
          </a:xfrm>
          <a:prstGeom prst="roundRect">
            <a:avLst>
              <a:gd name="adj" fmla="val 33333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5934456"/>
            <a:ext cx="438912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组合拳：G↑ + 信贷↑ → AD↑ → Y企稳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财政乘数：为什么100元支出不只影响100元？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政府支出先变成企业收入，再变成工资和消费，经过多轮循环放大总需求。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1417320" cy="2834640"/>
          </a:xfrm>
          <a:prstGeom prst="roundRect">
            <a:avLst>
              <a:gd name="adj" fmla="val 5806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政府支出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4160520"/>
            <a:ext cx="384048" cy="228600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333756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工程公司收入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44568" y="4160520"/>
            <a:ext cx="384048" cy="228600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38862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429000"/>
            <a:ext cx="14173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工人工资/利润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84848" y="4160520"/>
            <a:ext cx="384048" cy="228600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4215384"/>
            <a:ext cx="1417320" cy="1042416"/>
          </a:xfrm>
          <a:prstGeom prst="roundRect">
            <a:avLst>
              <a:gd name="adj" fmla="val 7895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3758184"/>
            <a:ext cx="14173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21.6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消费支出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25128" y="4160520"/>
            <a:ext cx="384048" cy="228600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0" y="4411980"/>
            <a:ext cx="1417320" cy="845820"/>
          </a:xfrm>
          <a:prstGeom prst="roundRect">
            <a:avLst>
              <a:gd name="adj" fmla="val 973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3954780"/>
            <a:ext cx="14173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5548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下一轮收入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48840" y="1371600"/>
            <a:ext cx="74980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1645920"/>
            <a:ext cx="7040880" cy="5943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简单模型：乘数 = 1 / (1 - MPC)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若边际消费倾向 MPC = 0.6，则乘数 = 2.5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286000" y="6217920"/>
            <a:ext cx="75895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真实乘数会被储蓄、税收、进口和信心“漏出”削弱。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货币政策传导：央行不是直接命令企业投资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货币政策需要经过金融体系和私人部门信心，任何环节断裂，效果都会变弱。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央行宽松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29968" y="2715768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银行资金成本下降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04488" y="2715768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贷款供给增加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79008" y="2715768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企业/居民愿借钱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53528" y="2715768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投资和消费上升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28048" y="2715768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24231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660904"/>
            <a:ext cx="12344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GDP上升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188720" y="4343400"/>
            <a:ext cx="9784080" cy="868680"/>
          </a:xfrm>
          <a:prstGeom prst="roundRect">
            <a:avLst>
              <a:gd name="adj" fmla="val 16842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617720"/>
            <a:ext cx="923544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断点：如果企业看到“没人买产品”，即使利率下降，也可能不扩产；这就是严重衰退中货币政策可能变弱的原因。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中国的政策组合：2008-2009年的“四万亿”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四万亿不是单一财政项目，而是财政投资、地方融资平台、银行信贷和基建房地产共同作用。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1691640" cy="960120"/>
          </a:xfrm>
          <a:prstGeom prst="roundRect">
            <a:avLst>
              <a:gd name="adj" fmla="val 12381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中央投资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1.18万亿元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0592" y="2148840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783080"/>
            <a:ext cx="1691640" cy="960120"/>
          </a:xfrm>
          <a:prstGeom prst="roundRect">
            <a:avLst>
              <a:gd name="adj" fmla="val 12381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地方投资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90088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2.82万亿元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90872" y="2148840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783080"/>
            <a:ext cx="1691640" cy="960120"/>
          </a:xfrm>
          <a:prstGeom prst="roundRect">
            <a:avLst>
              <a:gd name="adj" fmla="val 1238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融资平台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约束放松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31152" y="2148840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783080"/>
            <a:ext cx="1691640" cy="960120"/>
          </a:xfrm>
          <a:prstGeom prst="roundRect">
            <a:avLst>
              <a:gd name="adj" fmla="val 1238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银行信贷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0648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降准降息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71432" y="2148840"/>
            <a:ext cx="292608" cy="210312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1783080"/>
            <a:ext cx="1691640" cy="960120"/>
          </a:xfrm>
          <a:prstGeom prst="roundRect">
            <a:avLst>
              <a:gd name="adj" fmla="val 12381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092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载体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基建+房地产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3520440"/>
            <a:ext cx="3291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铁路固定资产投资示意（亿元）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" y="4821428"/>
            <a:ext cx="384048" cy="317500"/>
          </a:xfrm>
          <a:prstGeom prst="roundRect">
            <a:avLst>
              <a:gd name="adj" fmla="val 8640"/>
            </a:avLst>
          </a:prstGeom>
          <a:solidFill>
            <a:srgbClr val="1D4ED8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376672"/>
            <a:ext cx="530352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592828"/>
            <a:ext cx="658368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2500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74520" y="4249928"/>
            <a:ext cx="384048" cy="889000"/>
          </a:xfrm>
          <a:prstGeom prst="roundRect">
            <a:avLst>
              <a:gd name="adj" fmla="val 7143"/>
            </a:avLst>
          </a:prstGeom>
          <a:solidFill>
            <a:srgbClr val="1D4ED8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1368" y="5376672"/>
            <a:ext cx="530352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2009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37360" y="4021328"/>
            <a:ext cx="658368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88920" y="4084828"/>
            <a:ext cx="384048" cy="1054100"/>
          </a:xfrm>
          <a:prstGeom prst="roundRect">
            <a:avLst>
              <a:gd name="adj" fmla="val 7143"/>
            </a:avLst>
          </a:prstGeom>
          <a:solidFill>
            <a:srgbClr val="1D4ED8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15768" y="5376672"/>
            <a:ext cx="530352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51760" y="3856228"/>
            <a:ext cx="658368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626364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4069080"/>
            <a:ext cx="5715000" cy="7498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资料提示：兰小欢《置身事内》指出，政策配合中包括地方融资平台约束放松、降准降息、信贷放宽，资金集中进入基建和房地产。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地方融资平台与土地金融：短期稳增长的核心载体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地方政府把“未来土地和财政收入”转化为当前基建投资能力。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1737360" cy="914400"/>
          </a:xfrm>
          <a:prstGeom prst="roundRect">
            <a:avLst>
              <a:gd name="adj" fmla="val 1300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75688"/>
            <a:ext cx="1499616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城投/平台公司融资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450592" y="2221992"/>
            <a:ext cx="283464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1874520"/>
            <a:ext cx="1737360" cy="914400"/>
          </a:xfrm>
          <a:prstGeom prst="roundRect">
            <a:avLst>
              <a:gd name="adj" fmla="val 13000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2075688"/>
            <a:ext cx="1499616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0944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道路、地铁、园区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718304" y="2221992"/>
            <a:ext cx="283464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874520"/>
            <a:ext cx="1737360" cy="914400"/>
          </a:xfrm>
          <a:prstGeom prst="roundRect">
            <a:avLst>
              <a:gd name="adj" fmla="val 13000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075688"/>
            <a:ext cx="1499616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土地与周边房产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986016" y="2221992"/>
            <a:ext cx="283464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7496" y="1874520"/>
            <a:ext cx="1737360" cy="914400"/>
          </a:xfrm>
          <a:prstGeom prst="roundRect">
            <a:avLst>
              <a:gd name="adj" fmla="val 13000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2075688"/>
            <a:ext cx="1499616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卖地/税收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16368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财政回流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253728" y="2221992"/>
            <a:ext cx="283464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65208" y="1874520"/>
            <a:ext cx="1737360" cy="914400"/>
          </a:xfrm>
          <a:prstGeom prst="roundRect">
            <a:avLst>
              <a:gd name="adj" fmla="val 13000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075688"/>
            <a:ext cx="1499616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再投资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0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扩张循环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1188720" y="4023360"/>
            <a:ext cx="4389120" cy="128016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上行期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782312"/>
            <a:ext cx="37490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城市化快、土地升值、销售顺畅，债务容易被增长覆盖。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0" y="4023360"/>
            <a:ext cx="4389120" cy="128016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下行期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4782312"/>
            <a:ext cx="374904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土地收入和房价预期变弱，债务还在，财政压力显性化。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11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债务/GDP：看债务不能只看绝对数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真正重要的是债务增长速度是否超过收入增长速度，以及利率是否高于增长率。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08760"/>
            <a:ext cx="457200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债务负担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2743200"/>
            <a:ext cx="2651760" cy="5943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Debt / GDP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9164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分子：债务规模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分母：经济收入能力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520" y="1508760"/>
            <a:ext cx="4572000" cy="4434840"/>
          </a:xfrm>
          <a:prstGeom prst="roundRect">
            <a:avLst>
              <a:gd name="adj" fmla="val 3711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2560320"/>
            <a:ext cx="2926080" cy="2057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g &gt; 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增长快于利息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债务较容易消化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r &gt; 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利息快于收入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债务压力加大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12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房地产反馈：资产价格如何影响宏观周期？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房地产同时连接居民资产负债表、地方财政、银行信贷和企业投资。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664208" cy="868680"/>
          </a:xfrm>
          <a:prstGeom prst="roundRect">
            <a:avLst>
              <a:gd name="adj" fmla="val 13684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房价/地价预期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95528" y="2340864"/>
            <a:ext cx="144475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资产价格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2139696"/>
            <a:ext cx="274320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664208" cy="868680"/>
          </a:xfrm>
          <a:prstGeom prst="roundRect">
            <a:avLst>
              <a:gd name="adj" fmla="val 13684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居民购房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035808" y="2340864"/>
            <a:ext cx="144475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按揭债务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139696"/>
            <a:ext cx="274320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828800"/>
            <a:ext cx="1664208" cy="868680"/>
          </a:xfrm>
          <a:prstGeom prst="roundRect">
            <a:avLst>
              <a:gd name="adj" fmla="val 13684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开发商拿地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276088" y="2340864"/>
            <a:ext cx="144475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投资和债务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2139696"/>
            <a:ext cx="274320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828800"/>
            <a:ext cx="1664208" cy="868680"/>
          </a:xfrm>
          <a:prstGeom prst="roundRect">
            <a:avLst>
              <a:gd name="adj" fmla="val 13684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地方土地收入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516368" y="2340864"/>
            <a:ext cx="144475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财政能力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74320" cy="20116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1828800"/>
            <a:ext cx="1664208" cy="868680"/>
          </a:xfrm>
          <a:prstGeom prst="roundRect">
            <a:avLst>
              <a:gd name="adj" fmla="val 13684"/>
            </a:avLst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银行贷款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9756648" y="2340864"/>
            <a:ext cx="144475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金融条件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005072"/>
            <a:ext cx="10195560" cy="1325880"/>
          </a:xfrm>
          <a:prstGeom prst="roundRect">
            <a:avLst>
              <a:gd name="adj" fmla="val 11034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407408"/>
            <a:ext cx="9555480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一旦房价/地价预期反转：销售放缓 → 拿地减少 → 土地收入下降 → 地方投资能力下降 → 信贷风险上升。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13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通胀还是增长：取决于经济离潜在GDP有多远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同样的刺激，在衰退期可能带来产量，在满负荷时可能主要带来价格。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4663440" cy="3977640"/>
          </a:xfrm>
          <a:prstGeom prst="roundRect">
            <a:avLst>
              <a:gd name="adj" fmla="val 4138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衰退期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闲置工人/机器多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 → Y↑ 为主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4663440" cy="3977640"/>
          </a:xfrm>
          <a:prstGeom prst="roundRect">
            <a:avLst>
              <a:gd name="adj" fmla="val 4138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接近满负荷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4944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资源紧张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 → P↑ 为主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5989320"/>
            <a:ext cx="91440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判断宏观政策效果，第一步不是问“刺激对不对”，而是问“当前主要约束是需求还是供给”。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14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失业与通胀：短期权衡不是永恒规律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需求弱时失业上升、通胀压力下降；需求强时失业下降，但满负荷后通胀压力上升。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5257800"/>
            <a:ext cx="4389120" cy="0"/>
          </a:xfrm>
          <a:prstGeom prst="line">
            <a:avLst/>
          </a:prstGeom>
          <a:noFill/>
          <a:ln w="12700">
            <a:solidFill>
              <a:srgbClr val="13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0" cy="-3474720"/>
          </a:xfrm>
          <a:prstGeom prst="line">
            <a:avLst/>
          </a:prstGeom>
          <a:noFill/>
          <a:ln w="12700">
            <a:solidFill>
              <a:srgbClr val="13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240280"/>
            <a:ext cx="3657600" cy="2468880"/>
          </a:xfrm>
          <a:prstGeom prst="arc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5440680"/>
            <a:ext cx="68580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691640"/>
            <a:ext cx="438912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057400"/>
            <a:ext cx="379476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为什么不是机械关系？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2743200"/>
            <a:ext cx="356616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通胀预期会改变工资和定价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供给冲击可让失业和通胀同时上升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长期就业更多取决于生产率和制度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15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开放经济：一个国家的支出，是另一个国家的收入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2008年案例说明，宏观经济已经通过贸易、金融、汇率和资本流动高度连接。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4389120" cy="2240280"/>
          </a:xfrm>
          <a:prstGeom prst="roundRect">
            <a:avLst>
              <a:gd name="adj" fmla="val 7347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148840"/>
            <a:ext cx="374904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 / 欧洲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37360" y="2926080"/>
            <a:ext cx="274320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 C↓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进口 M↓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40680" y="2743200"/>
            <a:ext cx="1143000" cy="384048"/>
          </a:xfrm>
          <a:prstGeom prst="rightArrow">
            <a:avLst/>
          </a:prstGeom>
          <a:solidFill>
            <a:srgbClr val="617084"/>
          </a:solidFill>
          <a:ln w="12700">
            <a:solidFill>
              <a:srgbClr val="61708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828800"/>
            <a:ext cx="4389120" cy="2240280"/>
          </a:xfrm>
          <a:prstGeom prst="roundRect">
            <a:avLst>
              <a:gd name="adj" fmla="val 7347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148840"/>
            <a:ext cx="374904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98080" y="2926080"/>
            <a:ext cx="320040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出口 X↓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净出口 NX↓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011680" y="5257800"/>
            <a:ext cx="8183880" cy="566928"/>
          </a:xfrm>
          <a:prstGeom prst="roundRect">
            <a:avLst>
              <a:gd name="adj" fmla="val 22581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5266944"/>
            <a:ext cx="818388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全球经济链条：贸易冲击 → 收入冲击 → 信心冲击 → 政策反应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16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短期宏观 vs 长期宏观：不能混为一谈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需求管理能把闲置资源重新用起来，但长期增长来自资本、劳动力、技术和制度。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81328"/>
            <a:ext cx="4983480" cy="4343400"/>
          </a:xfrm>
          <a:prstGeom prst="roundRect">
            <a:avLst>
              <a:gd name="adj" fmla="val 3789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短期：需求不足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61872" y="2514600"/>
            <a:ext cx="406908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问题：机器和人都在，为什么没人生产？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核心：AD、产出缺口、失业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政策：财政 + 货币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1481328"/>
            <a:ext cx="4983480" cy="4343400"/>
          </a:xfrm>
          <a:prstGeom prst="roundRect">
            <a:avLst>
              <a:gd name="adj" fmla="val 3789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长期：供给能力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0840" y="2514600"/>
            <a:ext cx="4315968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问题：为什么一个国家越来越能生产？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Y* = A · F(K, L)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核心：生产率、教育、创新、制度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17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政策交换：宏观政策几乎没有免费的午餐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2008年的刺激可以理解为：用未来的债务和结构压力，换取今天避免严重衰退。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4389120" cy="3200400"/>
          </a:xfrm>
          <a:prstGeom prst="roundRect">
            <a:avLst>
              <a:gd name="adj" fmla="val 5143"/>
            </a:avLst>
          </a:prstGeom>
          <a:solidFill>
            <a:srgbClr val="D1FAE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如果不刺激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329184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失业上升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企业破产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银行坏账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信贷收缩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负反馈加深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03720" y="1828800"/>
            <a:ext cx="4389120" cy="3200400"/>
          </a:xfrm>
          <a:prstGeom prst="roundRect">
            <a:avLst>
              <a:gd name="adj" fmla="val 5143"/>
            </a:avLst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如果刺激过猛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452360" y="2788920"/>
            <a:ext cx="329184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债务上升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房地产依赖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低效投资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产能过剩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后续去杠杆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37560" y="5440680"/>
            <a:ext cx="5669280" cy="566928"/>
          </a:xfrm>
          <a:prstGeom prst="roundRect">
            <a:avLst>
              <a:gd name="adj" fmla="val 22581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5449824"/>
            <a:ext cx="566928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宏观政策是在风险之间选择，而不是消灭风险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18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以后看宏观新闻，先问这5个问题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用同一套框架理解降息、财政赤字、房地产、出口、通缩和地方债。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31546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709928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19072"/>
            <a:ext cx="43891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5608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谁的支出变了？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/ I / G / NX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1546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709928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719072"/>
            <a:ext cx="43891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4648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需求还是供给？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93792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需求不足还是供给受限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1508760"/>
            <a:ext cx="31546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1709928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719072"/>
            <a:ext cx="43891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33688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离潜在GDP多远？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42832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 - Y*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429000"/>
            <a:ext cx="31546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3630168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39312"/>
            <a:ext cx="43891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35608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政策如何反应？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44752" y="4142232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财政还是货币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3429000"/>
            <a:ext cx="31546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3630168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3639312"/>
            <a:ext cx="43891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84648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代价在哪里？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93792" y="4142232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债务、通胀、汇率、资产价格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0" y="5870448"/>
            <a:ext cx="758952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这5个问题，就是从新闻标题进入宏观系统的入口。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19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核心概念索引：案例对应知识点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把故事拆成教材概念，宏观经济学就不再抽象。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9105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出口订单下降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59105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开放经济、净出口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9689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GDP下降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259689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Y=C+I+G+NX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60273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裁员减产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360273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价格黏性、需求不足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60857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政府修基建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460857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财政政策、乘数效应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59105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央行降准降息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58200" y="159105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货币政策、信贷传导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4231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59689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地方债务上升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58200" y="259689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Debt/GDP、r-g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60273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房地产下行反馈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58200" y="360273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资产负债表循环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4348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762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608576"/>
            <a:ext cx="18288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长期修复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58200" y="4608576"/>
            <a:ext cx="20574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生产率与结构再平衡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20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结论：宏观经济学的“系统思维”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084"/>
                </a:solidFill>
              </a:rPr>
              <a:t>一个真实案例，足以串起宏观经济学最重要的骨架。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738360" y="3291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4"/>
                </a:solidFill>
              </a:rPr>
              <a:t>宏观经济学案例课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00200"/>
            <a:ext cx="10149840" cy="4343400"/>
          </a:xfrm>
          <a:prstGeom prst="roundRect">
            <a:avLst>
              <a:gd name="adj" fmla="val 4632"/>
            </a:avLst>
          </a:prstGeom>
          <a:solidFill>
            <a:srgbClr val="0F2A47"/>
          </a:solidFill>
          <a:ln w="7620">
            <a:solidFill>
              <a:srgbClr val="0F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94560"/>
            <a:ext cx="9052560" cy="56692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外部冲击 → 总需求收缩 → 政策对冲 → 短期企稳 → 长期代价 → 再平衡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3429000"/>
            <a:ext cx="882396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真正的宏观分析，不是背公式，而是看清：支出如何变成收入，收入如何影响就业和信心，金融条件如何放大周期，政策如何在短期稳定和长期风险之间取舍。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0" y="5166360"/>
            <a:ext cx="74066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参考：兰小欢《置身事内：中国政府与经济发展》；标准宏观经济学框架。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21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宏观经济学案例课件</dc:title>
  <dc:subject>宏观经济学：用2008年中国四万亿案例理解核心知识点</dc:subject>
  <dc:creator>OpenAI</dc:creator>
  <cp:lastModifiedBy>OpenAI</cp:lastModifiedBy>
  <cp:revision>1</cp:revision>
  <dcterms:created xsi:type="dcterms:W3CDTF">2026-08-20T07:44:39Z</dcterms:created>
  <dcterms:modified xsi:type="dcterms:W3CDTF">2026-08-20T07:44:39Z</dcterms:modified>
</cp:coreProperties>
</file>