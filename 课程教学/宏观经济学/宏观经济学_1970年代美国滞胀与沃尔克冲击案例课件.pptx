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77724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宏观经济学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685800" y="1572768"/>
            <a:ext cx="5577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E5E7EB"/>
                </a:solidFill>
              </a:rPr>
              <a:t>案例二：1970年代美国滞胀与沃尔克冲击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" y="2240280"/>
            <a:ext cx="5486400" cy="8412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用一个真实案例理解：总供给冲击、通胀预期、菲利普斯曲线、实际利率、央行可信度与政策代价</a:t>
            </a:r>
            <a:endParaRPr lang="en-US" sz="1800" dirty="0"/>
          </a:p>
        </p:txBody>
      </p:sp>
      <p:pic>
        <p:nvPicPr>
          <p:cNvPr id="5" name="Image 0" descr="/mnt/data/oil_crisis_gas_station.png">    </p:cNvPr>
          <p:cNvPicPr>
            <a:picLocks noChangeAspect="1"/>
          </p:cNvPicPr>
          <p:nvPr/>
        </p:nvPicPr>
        <p:blipFill>
          <a:blip r:embed="rId1"/>
          <a:srcRect l="0" r="0" t="6772" b="6772"/>
          <a:stretch/>
        </p:blipFill>
        <p:spPr>
          <a:xfrm>
            <a:off x="6675120" y="640080"/>
            <a:ext cx="4846320" cy="2788920"/>
          </a:xfrm>
          <a:prstGeom prst="rect">
            <a:avLst/>
          </a:prstGeom>
        </p:spPr>
      </p:pic>
      <p:pic>
        <p:nvPicPr>
          <p:cNvPr id="6" name="Image 1" descr="/mnt/data/paul_volcker.png">    </p:cNvPr>
          <p:cNvPicPr>
            <a:picLocks noChangeAspect="1"/>
          </p:cNvPicPr>
          <p:nvPr/>
        </p:nvPicPr>
        <p:blipFill>
          <a:blip r:embed="rId2"/>
          <a:srcRect l="5680" r="5680" t="0" b="0"/>
          <a:stretch/>
        </p:blipFill>
        <p:spPr>
          <a:xfrm>
            <a:off x="6675120" y="3703320"/>
            <a:ext cx="2331720" cy="178308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9281160" y="3703320"/>
            <a:ext cx="2240280" cy="1783080"/>
          </a:xfrm>
          <a:prstGeom prst="roundRect">
            <a:avLst>
              <a:gd name="adj" fmla="val 9231"/>
            </a:avLst>
          </a:prstGeom>
          <a:solidFill>
            <a:srgbClr val="12263D"/>
          </a:solidFill>
          <a:ln w="8890">
            <a:solidFill>
              <a:srgbClr val="334155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9528048" y="3886200"/>
            <a:ext cx="1737360" cy="12801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高通胀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+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高失业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=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滞胀</a:t>
            </a:r>
            <a:endParaRPr lang="en-US" sz="2400" dirty="0"/>
          </a:p>
        </p:txBody>
      </p:sp>
      <p:sp>
        <p:nvSpPr>
          <p:cNvPr id="9" name="Text 5"/>
          <p:cNvSpPr/>
          <p:nvPr/>
        </p:nvSpPr>
        <p:spPr>
          <a:xfrm>
            <a:off x="704088" y="6016752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PDF讲义 + PPT课件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9052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72033"/>
                </a:solidFill>
              </a:rPr>
              <a:t>一页总览：这个案例解决什么问题？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30352" y="859536"/>
            <a:ext cx="9829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637085"/>
                </a:solidFill>
              </a:rPr>
              <a:t>2008年案例是总需求坍塌；1970年代滞胀则让我们理解“供给冲击+预期失锚”为何更难处理。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9921240" y="38404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37085"/>
                </a:solidFill>
              </a:rPr>
              <a:t>宏观经济学案例课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02920" y="1207008"/>
            <a:ext cx="11201400" cy="0"/>
          </a:xfrm>
          <a:prstGeom prst="line">
            <a:avLst/>
          </a:prstGeom>
          <a:noFill/>
          <a:ln w="11430">
            <a:solidFill>
              <a:srgbClr val="D6D3C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1600200"/>
            <a:ext cx="2331720" cy="3291840"/>
          </a:xfrm>
          <a:prstGeom prst="roundRect">
            <a:avLst>
              <a:gd name="adj" fmla="val 7059"/>
            </a:avLst>
          </a:prstGeom>
          <a:solidFill>
            <a:srgbClr val="FEF3C7"/>
          </a:solidFill>
          <a:ln w="889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1965960"/>
            <a:ext cx="1965960" cy="347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总供给冲击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77824" y="2834640"/>
            <a:ext cx="1901952" cy="822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油价上涨推高成本，SRAS左移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493008" y="1600200"/>
            <a:ext cx="2331720" cy="3291840"/>
          </a:xfrm>
          <a:prstGeom prst="roundRect">
            <a:avLst>
              <a:gd name="adj" fmla="val 7059"/>
            </a:avLst>
          </a:prstGeom>
          <a:solidFill>
            <a:srgbClr val="FEE2E2"/>
          </a:solidFill>
          <a:ln w="8890">
            <a:solidFill>
              <a:srgbClr val="DC262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75888" y="1965960"/>
            <a:ext cx="1965960" cy="347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C262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滞胀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712464" y="2834640"/>
            <a:ext cx="1901952" cy="822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GDP下行、失业上升、通胀上升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327648" y="1600200"/>
            <a:ext cx="2331720" cy="3291840"/>
          </a:xfrm>
          <a:prstGeom prst="roundRect">
            <a:avLst>
              <a:gd name="adj" fmla="val 7059"/>
            </a:avLst>
          </a:prstGeom>
          <a:solidFill>
            <a:srgbClr val="EDE9FE"/>
          </a:solidFill>
          <a:ln w="889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10528" y="1965960"/>
            <a:ext cx="1965960" cy="347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C3A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通胀预期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547104" y="2834640"/>
            <a:ext cx="1901952" cy="822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工资与定价把通胀自我维持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9162288" y="1600200"/>
            <a:ext cx="2331720" cy="3291840"/>
          </a:xfrm>
          <a:prstGeom prst="roundRect">
            <a:avLst>
              <a:gd name="adj" fmla="val 7059"/>
            </a:avLst>
          </a:prstGeom>
          <a:solidFill>
            <a:srgbClr val="DBEAFE"/>
          </a:solidFill>
          <a:ln w="889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345168" y="1965960"/>
            <a:ext cx="1965960" cy="347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563E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沃尔克冲击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9381744" y="2834640"/>
            <a:ext cx="1901952" cy="822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高利率重置预期，代价是衰退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1737360" y="5577840"/>
            <a:ext cx="8732520" cy="502920"/>
          </a:xfrm>
          <a:prstGeom prst="roundRect">
            <a:avLst>
              <a:gd name="adj" fmla="val 29091"/>
            </a:avLst>
          </a:prstGeom>
          <a:solidFill>
            <a:srgbClr val="0F2742"/>
          </a:solidFill>
          <a:ln w="8890">
            <a:solidFill>
              <a:srgbClr val="0F274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737360" y="5586984"/>
            <a:ext cx="8732520" cy="4846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核心升级：经济不好，并不一定应该刺激；先判断是需求问题还是供给问题。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11274552" y="642823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CA3AF"/>
                </a:solidFill>
              </a:rPr>
              <a:t>01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9052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72033"/>
                </a:solidFill>
              </a:rPr>
              <a:t>时间线：从“大通胀”到“沃尔克冲击”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30352" y="859536"/>
            <a:ext cx="9829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637085"/>
                </a:solidFill>
              </a:rPr>
              <a:t>滞胀不是一天发生的，背后是长期宽松、能源冲击、预期失控和强力紧缩的连续过程。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9921240" y="38404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37085"/>
                </a:solidFill>
              </a:rPr>
              <a:t>宏观经济学案例课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02920" y="1207008"/>
            <a:ext cx="11201400" cy="0"/>
          </a:xfrm>
          <a:prstGeom prst="line">
            <a:avLst/>
          </a:prstGeom>
          <a:noFill/>
          <a:ln w="11430">
            <a:solidFill>
              <a:srgbClr val="D6D3C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3246120"/>
            <a:ext cx="10378440" cy="0"/>
          </a:xfrm>
          <a:prstGeom prst="line">
            <a:avLst/>
          </a:prstGeom>
          <a:noFill/>
          <a:ln w="25400">
            <a:solidFill>
              <a:srgbClr val="0F274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2331720"/>
            <a:ext cx="1005840" cy="502920"/>
          </a:xfrm>
          <a:prstGeom prst="roundRect">
            <a:avLst>
              <a:gd name="adj" fmla="val 21818"/>
            </a:avLst>
          </a:prstGeom>
          <a:solidFill>
            <a:srgbClr val="0F2742"/>
          </a:solidFill>
          <a:ln w="8890">
            <a:solidFill>
              <a:srgbClr val="0F274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04088" y="2478024"/>
            <a:ext cx="877824" cy="164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1965-69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051560" y="3154680"/>
            <a:ext cx="182880" cy="1828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3749040"/>
            <a:ext cx="1737360" cy="7132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财政与货币偏宽松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越战+福利支出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108960" y="2331720"/>
            <a:ext cx="1005840" cy="502920"/>
          </a:xfrm>
          <a:prstGeom prst="roundRect">
            <a:avLst>
              <a:gd name="adj" fmla="val 21818"/>
            </a:avLst>
          </a:prstGeom>
          <a:solidFill>
            <a:srgbClr val="0F2742"/>
          </a:solidFill>
          <a:ln w="8890">
            <a:solidFill>
              <a:srgbClr val="0F274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72968" y="2478024"/>
            <a:ext cx="877824" cy="164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1971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520440" y="3154680"/>
            <a:ext cx="182880" cy="1828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0" y="3749040"/>
            <a:ext cx="1737360" cy="7132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布雷顿森林体系结束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价格管制尝试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577840" y="2331720"/>
            <a:ext cx="1005840" cy="502920"/>
          </a:xfrm>
          <a:prstGeom prst="roundRect">
            <a:avLst>
              <a:gd name="adj" fmla="val 21818"/>
            </a:avLst>
          </a:prstGeom>
          <a:solidFill>
            <a:srgbClr val="0F2742"/>
          </a:solidFill>
          <a:ln w="8890">
            <a:solidFill>
              <a:srgbClr val="0F274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41848" y="2478024"/>
            <a:ext cx="877824" cy="164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1973-74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989320" y="3154680"/>
            <a:ext cx="182880" cy="1828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212080" y="3749040"/>
            <a:ext cx="1737360" cy="7132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第一次石油危机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油价冲击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046720" y="2331720"/>
            <a:ext cx="1005840" cy="502920"/>
          </a:xfrm>
          <a:prstGeom prst="roundRect">
            <a:avLst>
              <a:gd name="adj" fmla="val 21818"/>
            </a:avLst>
          </a:prstGeom>
          <a:solidFill>
            <a:srgbClr val="0F2742"/>
          </a:solidFill>
          <a:ln w="8890">
            <a:solidFill>
              <a:srgbClr val="0F274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10728" y="2478024"/>
            <a:ext cx="877824" cy="164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1979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458200" y="3154680"/>
            <a:ext cx="182880" cy="1828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80960" y="3749040"/>
            <a:ext cx="1737360" cy="7132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第二次石油冲击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Volcker上任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10515600" y="2331720"/>
            <a:ext cx="1005840" cy="502920"/>
          </a:xfrm>
          <a:prstGeom prst="roundRect">
            <a:avLst>
              <a:gd name="adj" fmla="val 21818"/>
            </a:avLst>
          </a:prstGeom>
          <a:solidFill>
            <a:srgbClr val="0F2742"/>
          </a:solidFill>
          <a:ln w="8890">
            <a:solidFill>
              <a:srgbClr val="0F274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579608" y="2478024"/>
            <a:ext cx="877824" cy="164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1980-82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10927080" y="3154680"/>
            <a:ext cx="182880" cy="1828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149840" y="3749040"/>
            <a:ext cx="1737360" cy="7132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高利率+深度衰退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通胀回落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22960" y="6035040"/>
            <a:ext cx="1042416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3708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资料来源：Federal Reserve History 对 Great Inflation、1973-74与1978-79 oil shocks、Volcker anti-inflation measures 的历史梳理。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11274552" y="642823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CA3AF"/>
                </a:solidFill>
              </a:rPr>
              <a:t>02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9052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72033"/>
                </a:solidFill>
              </a:rPr>
              <a:t>数据图像：高通胀与高失业同时出现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30352" y="859536"/>
            <a:ext cx="9829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637085"/>
                </a:solidFill>
              </a:rPr>
              <a:t>1970年代后期，美国通胀与失业同时处于高位，传统“失业高则通胀低”的直觉失效。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9921240" y="38404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37085"/>
                </a:solidFill>
              </a:rPr>
              <a:t>宏观经济学案例课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02920" y="1207008"/>
            <a:ext cx="11201400" cy="0"/>
          </a:xfrm>
          <a:prstGeom prst="line">
            <a:avLst/>
          </a:prstGeom>
          <a:noFill/>
          <a:ln w="11430">
            <a:solidFill>
              <a:srgbClr val="D6D3C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5212080"/>
            <a:ext cx="5120640" cy="0"/>
          </a:xfrm>
          <a:prstGeom prst="line">
            <a:avLst/>
          </a:prstGeom>
          <a:noFill/>
          <a:ln w="12700">
            <a:solidFill>
              <a:srgbClr val="1720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68680" y="5212080"/>
            <a:ext cx="0" cy="-3520440"/>
          </a:xfrm>
          <a:prstGeom prst="line">
            <a:avLst/>
          </a:prstGeom>
          <a:noFill/>
          <a:ln w="12700">
            <a:solidFill>
              <a:srgbClr val="1720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68680" y="4331970"/>
            <a:ext cx="512064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21208" y="4258818"/>
            <a:ext cx="274320" cy="1371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63708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5%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868680" y="3451860"/>
            <a:ext cx="512064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21208" y="3378708"/>
            <a:ext cx="274320" cy="1371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63708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10%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868680" y="2571750"/>
            <a:ext cx="512064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1208" y="2498598"/>
            <a:ext cx="274320" cy="1371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63708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15%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868680" y="1691640"/>
            <a:ext cx="512064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21208" y="1618488"/>
            <a:ext cx="274320" cy="1371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63708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20%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868680" y="4191152"/>
            <a:ext cx="731520" cy="440055"/>
          </a:xfrm>
          <a:prstGeom prst="line">
            <a:avLst/>
          </a:prstGeom>
          <a:noFill/>
          <a:ln w="25400">
            <a:solidFill>
              <a:srgbClr val="DC262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68680" y="4349572"/>
            <a:ext cx="731520" cy="-123215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600200" y="4631207"/>
            <a:ext cx="731520" cy="-1355369"/>
          </a:xfrm>
          <a:prstGeom prst="line">
            <a:avLst/>
          </a:prstGeom>
          <a:noFill/>
          <a:ln w="25400">
            <a:solidFill>
              <a:srgbClr val="DC262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600200" y="4226357"/>
            <a:ext cx="731520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331720" y="3275838"/>
            <a:ext cx="731520" cy="915314"/>
          </a:xfrm>
          <a:prstGeom prst="line">
            <a:avLst/>
          </a:prstGeom>
          <a:noFill/>
          <a:ln w="25400">
            <a:solidFill>
              <a:srgbClr val="DC262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331720" y="4226357"/>
            <a:ext cx="731520" cy="-369646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063240" y="4191152"/>
            <a:ext cx="731520" cy="-316840"/>
          </a:xfrm>
          <a:prstGeom prst="line">
            <a:avLst/>
          </a:prstGeom>
          <a:noFill/>
          <a:ln w="25400">
            <a:solidFill>
              <a:srgbClr val="DC262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063240" y="3856711"/>
            <a:ext cx="731520" cy="281635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794760" y="3874313"/>
            <a:ext cx="731520" cy="-1038530"/>
          </a:xfrm>
          <a:prstGeom prst="line">
            <a:avLst/>
          </a:prstGeom>
          <a:noFill/>
          <a:ln w="25400">
            <a:solidFill>
              <a:srgbClr val="DC262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794760" y="4138346"/>
            <a:ext cx="731520" cy="-193624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26280" y="2835783"/>
            <a:ext cx="731520" cy="1302563"/>
          </a:xfrm>
          <a:prstGeom prst="line">
            <a:avLst/>
          </a:prstGeom>
          <a:noFill/>
          <a:ln w="25400">
            <a:solidFill>
              <a:srgbClr val="DC262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26280" y="3944722"/>
            <a:ext cx="731520" cy="-440055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257800" y="4138346"/>
            <a:ext cx="731520" cy="316840"/>
          </a:xfrm>
          <a:prstGeom prst="line">
            <a:avLst/>
          </a:prstGeom>
          <a:noFill/>
          <a:ln w="25400">
            <a:solidFill>
              <a:srgbClr val="DC262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257800" y="3504667"/>
            <a:ext cx="731520" cy="387248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04088" y="5321808"/>
            <a:ext cx="329184" cy="1188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63708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1970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2167128" y="5321808"/>
            <a:ext cx="329184" cy="1188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63708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1974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3630168" y="5321808"/>
            <a:ext cx="329184" cy="1188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63708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1978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5093208" y="5321808"/>
            <a:ext cx="329184" cy="1188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63708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1982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6537960" y="1691640"/>
            <a:ext cx="4480560" cy="3520440"/>
          </a:xfrm>
          <a:prstGeom prst="roundRect">
            <a:avLst>
              <a:gd name="adj" fmla="val 4156"/>
            </a:avLst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58000" y="2029968"/>
            <a:ext cx="3840480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最反直觉的宏观状态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7360920" y="2743200"/>
            <a:ext cx="2788920" cy="11887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C262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增长停滞</a:t>
            </a:r>
            <a:endParaRPr lang="en-US" sz="3000" dirty="0"/>
          </a:p>
          <a:p>
            <a:pPr algn="ctr" indent="0" marL="0">
              <a:buNone/>
            </a:pPr>
            <a:r>
              <a:rPr lang="en-US" sz="3000" b="1" dirty="0">
                <a:solidFill>
                  <a:srgbClr val="DC262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失业上升</a:t>
            </a:r>
            <a:endParaRPr lang="en-US" sz="3000" dirty="0"/>
          </a:p>
          <a:p>
            <a:pPr algn="ctr" indent="0" marL="0">
              <a:buNone/>
            </a:pPr>
            <a:r>
              <a:rPr lang="en-US" sz="3000" b="1" dirty="0">
                <a:solidFill>
                  <a:srgbClr val="DC262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通胀上升</a:t>
            </a:r>
            <a:endParaRPr lang="en-US" sz="3000" dirty="0"/>
          </a:p>
        </p:txBody>
      </p:sp>
      <p:sp>
        <p:nvSpPr>
          <p:cNvPr id="37" name="Text 35"/>
          <p:cNvSpPr/>
          <p:nvPr/>
        </p:nvSpPr>
        <p:spPr>
          <a:xfrm>
            <a:off x="6995160" y="4709160"/>
            <a:ext cx="3566160" cy="30175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这就是 Stagflation：stagnation + inflation。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914400" y="6035040"/>
            <a:ext cx="10241280" cy="23774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3708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图中为课堂示意数据；通胀峰值与Great Inflation区间可参见 Federal Reserve History 与 FRED/BLS 数据。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11274552" y="642823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CA3AF"/>
                </a:solidFill>
              </a:rPr>
              <a:t>03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9052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72033"/>
                </a:solidFill>
              </a:rPr>
              <a:t>1973年石油危机：供给冲击不是普通涨价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30352" y="859536"/>
            <a:ext cx="9829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637085"/>
                </a:solidFill>
              </a:rPr>
              <a:t>石油是交通、化工、电力和工业生产的基础投入品；油价冲击会同时伤害产出和价格。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9921240" y="38404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37085"/>
                </a:solidFill>
              </a:rPr>
              <a:t>宏观经济学案例课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02920" y="1207008"/>
            <a:ext cx="11201400" cy="0"/>
          </a:xfrm>
          <a:prstGeom prst="line">
            <a:avLst/>
          </a:prstGeom>
          <a:noFill/>
          <a:ln w="11430">
            <a:solidFill>
              <a:srgbClr val="D6D3C9"/>
            </a:solidFill>
            <a:prstDash val="solid"/>
          </a:ln>
        </p:spPr>
      </p:sp>
      <p:pic>
        <p:nvPicPr>
          <p:cNvPr id="6" name="Image 0" descr="/mnt/data/oil_crisis_gas_station.png">    </p:cNvPr>
          <p:cNvPicPr>
            <a:picLocks noChangeAspect="1"/>
          </p:cNvPicPr>
          <p:nvPr/>
        </p:nvPicPr>
        <p:blipFill>
          <a:blip r:embed="rId1"/>
          <a:srcRect l="9845" r="9845" t="0" b="0"/>
          <a:stretch/>
        </p:blipFill>
        <p:spPr>
          <a:xfrm>
            <a:off x="685800" y="1508760"/>
            <a:ext cx="5074920" cy="42062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355080" y="1508760"/>
            <a:ext cx="4983480" cy="4206240"/>
          </a:xfrm>
          <a:prstGeom prst="roundRect">
            <a:avLst>
              <a:gd name="adj" fmla="val 3913"/>
            </a:avLst>
          </a:prstGeom>
          <a:solidFill>
            <a:srgbClr val="FEF3C7"/>
          </a:solidFill>
          <a:ln w="8890">
            <a:solidFill>
              <a:srgbClr val="F59E0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720840" y="1828800"/>
            <a:ext cx="4251960" cy="347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59E0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成本传导链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903720" y="2514600"/>
            <a:ext cx="3886200" cy="22402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油价 ↑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→ 运输/能源成本 ↑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→ 企业利润 ↓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→ 减产与裁员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→ 价格转嫁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→ Y↓ 且 P↑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11274552" y="642823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CA3AF"/>
                </a:solidFill>
              </a:rPr>
              <a:t>04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9052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72033"/>
                </a:solidFill>
              </a:rPr>
              <a:t>关键分界：总需求冲击 vs 总供给冲击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30352" y="859536"/>
            <a:ext cx="9829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637085"/>
                </a:solidFill>
              </a:rPr>
              <a:t>宏观政策第一步：不是急着开药方，而是判断病因。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9921240" y="38404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37085"/>
                </a:solidFill>
              </a:rPr>
              <a:t>宏观经济学案例课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02920" y="1207008"/>
            <a:ext cx="11201400" cy="0"/>
          </a:xfrm>
          <a:prstGeom prst="line">
            <a:avLst/>
          </a:prstGeom>
          <a:noFill/>
          <a:ln w="11430">
            <a:solidFill>
              <a:srgbClr val="D6D3C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1481328"/>
            <a:ext cx="5074920" cy="4480560"/>
          </a:xfrm>
          <a:prstGeom prst="roundRect">
            <a:avLst>
              <a:gd name="adj" fmla="val 3673"/>
            </a:avLst>
          </a:prstGeom>
          <a:solidFill>
            <a:srgbClr val="DBEAFE"/>
          </a:solidFill>
          <a:ln w="889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43000" y="1828800"/>
            <a:ext cx="4526280" cy="347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2563E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需求冲击：AD左移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1325880" y="2514600"/>
            <a:ext cx="4160520" cy="18288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例：2008金融危机</a:t>
            </a:r>
            <a:endParaRPr lang="en-US" sz="2000" dirty="0"/>
          </a:p>
          <a:p>
            <a:pPr algn="ctr" indent="0" marL="0">
              <a:buNone/>
            </a:pP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结果：Y↓，通胀压力↓</a:t>
            </a:r>
            <a:endParaRPr lang="en-US" sz="2000" dirty="0"/>
          </a:p>
          <a:p>
            <a:pPr algn="ctr" indent="0" marL="0">
              <a:buNone/>
            </a:pP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政策：财政/货币托需求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通常更有效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6263640" y="1481328"/>
            <a:ext cx="5074920" cy="4480560"/>
          </a:xfrm>
          <a:prstGeom prst="roundRect">
            <a:avLst>
              <a:gd name="adj" fmla="val 3673"/>
            </a:avLst>
          </a:prstGeom>
          <a:solidFill>
            <a:srgbClr val="FEE2E2"/>
          </a:solidFill>
          <a:ln w="8890">
            <a:solidFill>
              <a:srgbClr val="DC262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37960" y="1828800"/>
            <a:ext cx="4526280" cy="347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DC262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供给冲击：SRAS左移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6720840" y="2514600"/>
            <a:ext cx="4160520" cy="18288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例：1970年代油价冲击</a:t>
            </a:r>
            <a:endParaRPr lang="en-US" sz="2000" dirty="0"/>
          </a:p>
          <a:p>
            <a:pPr algn="ctr" indent="0" marL="0">
              <a:buNone/>
            </a:pP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结果：Y↓，P↑</a:t>
            </a:r>
            <a:endParaRPr lang="en-US" sz="2000" dirty="0"/>
          </a:p>
          <a:p>
            <a:pPr algn="ctr" indent="0" marL="0">
              <a:buNone/>
            </a:pP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政策：刺激需求可能加剧通胀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权衡更痛苦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274552" y="642823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CA3AF"/>
                </a:solidFill>
              </a:rPr>
              <a:t>05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9052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72033"/>
                </a:solidFill>
              </a:rPr>
              <a:t>AD-AS模型：为什么滞胀会同时“衰退+通胀”？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30352" y="859536"/>
            <a:ext cx="9829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637085"/>
                </a:solidFill>
              </a:rPr>
              <a:t>当短期总供给曲线左移，经济同时面对更低产出和更高物价。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9921240" y="38404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37085"/>
                </a:solidFill>
              </a:rPr>
              <a:t>宏观经济学案例课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02920" y="1207008"/>
            <a:ext cx="11201400" cy="0"/>
          </a:xfrm>
          <a:prstGeom prst="line">
            <a:avLst/>
          </a:prstGeom>
          <a:noFill/>
          <a:ln w="11430">
            <a:solidFill>
              <a:srgbClr val="D6D3C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7280" y="5532120"/>
            <a:ext cx="4526280" cy="0"/>
          </a:xfrm>
          <a:prstGeom prst="line">
            <a:avLst/>
          </a:prstGeom>
          <a:noFill/>
          <a:ln w="12700">
            <a:solidFill>
              <a:srgbClr val="1720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7280" y="5532120"/>
            <a:ext cx="0" cy="-3840480"/>
          </a:xfrm>
          <a:prstGeom prst="line">
            <a:avLst/>
          </a:prstGeom>
          <a:noFill/>
          <a:ln w="12700">
            <a:solidFill>
              <a:srgbClr val="1720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577840" y="5650992"/>
            <a:ext cx="228600" cy="164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68680" y="1508760"/>
            <a:ext cx="228600" cy="164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417320" y="5074920"/>
            <a:ext cx="3840480" cy="-269748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212080" y="2286000"/>
            <a:ext cx="365760" cy="164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463040" y="4937760"/>
            <a:ext cx="3703320" cy="-2331720"/>
          </a:xfrm>
          <a:prstGeom prst="line">
            <a:avLst/>
          </a:prstGeom>
          <a:noFill/>
          <a:ln w="25400">
            <a:solidFill>
              <a:srgbClr val="0596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56048" y="2651760"/>
            <a:ext cx="594360" cy="164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SRAS₀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234440" y="4160520"/>
            <a:ext cx="3703320" cy="-2331720"/>
          </a:xfrm>
          <a:prstGeom prst="line">
            <a:avLst/>
          </a:prstGeom>
          <a:noFill/>
          <a:ln w="25400">
            <a:solidFill>
              <a:srgbClr val="DC262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0" y="1847088"/>
            <a:ext cx="594360" cy="164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SRAS₁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566160" y="3611880"/>
            <a:ext cx="0" cy="68580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3685032" y="3611880"/>
            <a:ext cx="502920" cy="164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P↑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767328" y="4800600"/>
            <a:ext cx="-640080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3017520" y="4892040"/>
            <a:ext cx="502920" cy="164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Y↓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400800" y="1828800"/>
            <a:ext cx="4572000" cy="32918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20840" y="2148840"/>
            <a:ext cx="3886200" cy="31089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直觉解释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784848" y="2788920"/>
            <a:ext cx="3794760" cy="16459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750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同样的需求曲线下，生产成本突然上升：</a:t>
            </a:r>
            <a:endParaRPr lang="en-US" sz="1750" dirty="0"/>
          </a:p>
          <a:p>
            <a:pPr algn="ctr" indent="0" marL="0">
              <a:buNone/>
            </a:pPr>
            <a:endParaRPr lang="en-US" sz="1750" dirty="0"/>
          </a:p>
          <a:p>
            <a:pPr algn="ctr" indent="0" marL="0">
              <a:buNone/>
            </a:pPr>
            <a:r>
              <a:rPr lang="en-US" sz="1750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企业愿意供应的产量减少</a:t>
            </a:r>
            <a:endParaRPr lang="en-US" sz="1750" dirty="0"/>
          </a:p>
          <a:p>
            <a:pPr algn="ctr" indent="0" marL="0">
              <a:buNone/>
            </a:pPr>
            <a:r>
              <a:rPr lang="en-US" sz="1750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但销售价格提高</a:t>
            </a:r>
            <a:endParaRPr lang="en-US" sz="1750" dirty="0"/>
          </a:p>
          <a:p>
            <a:pPr algn="ctr" indent="0" marL="0">
              <a:buNone/>
            </a:pPr>
            <a:r>
              <a:rPr lang="en-US" sz="1750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于是“少产出 + 高物价”同时出现。</a:t>
            </a:r>
            <a:endParaRPr lang="en-US" sz="1750" dirty="0"/>
          </a:p>
        </p:txBody>
      </p:sp>
      <p:sp>
        <p:nvSpPr>
          <p:cNvPr id="23" name="Text 21"/>
          <p:cNvSpPr/>
          <p:nvPr/>
        </p:nvSpPr>
        <p:spPr>
          <a:xfrm>
            <a:off x="11274552" y="642823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CA3AF"/>
                </a:solidFill>
              </a:rPr>
              <a:t>06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9052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72033"/>
                </a:solidFill>
              </a:rPr>
              <a:t>政策困境：保增长还是压通胀？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30352" y="859536"/>
            <a:ext cx="9829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637085"/>
                </a:solidFill>
              </a:rPr>
              <a:t>滞胀时期的政策难点，在于两个目标互相牵制。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9921240" y="38404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37085"/>
                </a:solidFill>
              </a:rPr>
              <a:t>宏观经济学案例课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02920" y="1207008"/>
            <a:ext cx="11201400" cy="0"/>
          </a:xfrm>
          <a:prstGeom prst="line">
            <a:avLst/>
          </a:prstGeom>
          <a:noFill/>
          <a:ln w="11430">
            <a:solidFill>
              <a:srgbClr val="D6D3C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1691640"/>
            <a:ext cx="4389120" cy="3383280"/>
          </a:xfrm>
          <a:prstGeom prst="roundRect">
            <a:avLst>
              <a:gd name="adj" fmla="val 4865"/>
            </a:avLst>
          </a:prstGeom>
          <a:solidFill>
            <a:srgbClr val="D1FAE5"/>
          </a:solidFill>
          <a:ln w="8890">
            <a:solidFill>
              <a:srgbClr val="05966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34440" y="2057400"/>
            <a:ext cx="3749040" cy="32918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596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如果刺激需求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600200" y="2788920"/>
            <a:ext cx="3017520" cy="1325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G↑ / i↓</a:t>
            </a:r>
            <a:endParaRPr lang="en-US" sz="2500" dirty="0"/>
          </a:p>
          <a:p>
            <a:pPr algn="ctr" indent="0" marL="0">
              <a:buNone/>
            </a:pPr>
            <a:r>
              <a:rPr lang="en-US" sz="2500" b="1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AD↑</a:t>
            </a:r>
            <a:endParaRPr lang="en-US" sz="2500" dirty="0"/>
          </a:p>
          <a:p>
            <a:pPr algn="ctr" indent="0" marL="0">
              <a:buNone/>
            </a:pPr>
            <a:r>
              <a:rPr lang="en-US" sz="2500" b="1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失业可能下降</a:t>
            </a:r>
            <a:endParaRPr lang="en-US" sz="2500" dirty="0"/>
          </a:p>
          <a:p>
            <a:pPr algn="ctr" indent="0" marL="0">
              <a:buNone/>
            </a:pPr>
            <a:r>
              <a:rPr lang="en-US" sz="2500" b="1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但通胀更高</a:t>
            </a:r>
            <a:endParaRPr lang="en-US" sz="2500" dirty="0"/>
          </a:p>
        </p:txBody>
      </p:sp>
      <p:sp>
        <p:nvSpPr>
          <p:cNvPr id="9" name="Shape 7"/>
          <p:cNvSpPr/>
          <p:nvPr/>
        </p:nvSpPr>
        <p:spPr>
          <a:xfrm>
            <a:off x="6858000" y="1691640"/>
            <a:ext cx="4389120" cy="3383280"/>
          </a:xfrm>
          <a:prstGeom prst="roundRect">
            <a:avLst>
              <a:gd name="adj" fmla="val 4865"/>
            </a:avLst>
          </a:prstGeom>
          <a:solidFill>
            <a:srgbClr val="FEE2E2"/>
          </a:solidFill>
          <a:ln w="8890">
            <a:solidFill>
              <a:srgbClr val="DC262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78040" y="2057400"/>
            <a:ext cx="3749040" cy="32918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C262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如果紧缩需求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7452360" y="2788920"/>
            <a:ext cx="3246120" cy="11430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i↑ / AD↓</a:t>
            </a:r>
            <a:endParaRPr lang="en-US" sz="2500" dirty="0"/>
          </a:p>
          <a:p>
            <a:pPr algn="ctr" indent="0" marL="0">
              <a:buNone/>
            </a:pPr>
            <a:r>
              <a:rPr lang="en-US" sz="2500" b="1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通胀可能下降</a:t>
            </a:r>
            <a:endParaRPr lang="en-US" sz="2500" dirty="0"/>
          </a:p>
          <a:p>
            <a:pPr algn="ctr" indent="0" marL="0">
              <a:buNone/>
            </a:pPr>
            <a:r>
              <a:rPr lang="en-US" sz="2500" b="1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但GDP和就业更差</a:t>
            </a:r>
            <a:endParaRPr lang="en-US" sz="2500" dirty="0"/>
          </a:p>
        </p:txBody>
      </p:sp>
      <p:sp>
        <p:nvSpPr>
          <p:cNvPr id="12" name="Shape 10"/>
          <p:cNvSpPr/>
          <p:nvPr/>
        </p:nvSpPr>
        <p:spPr>
          <a:xfrm>
            <a:off x="5440680" y="3017520"/>
            <a:ext cx="1005840" cy="411480"/>
          </a:xfrm>
          <a:prstGeom prst="rightArrow">
            <a:avLst/>
          </a:prstGeom>
          <a:solidFill>
            <a:srgbClr val="0F2742"/>
          </a:solidFill>
          <a:ln w="12700">
            <a:solidFill>
              <a:srgbClr val="0F2742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331720" y="5532120"/>
            <a:ext cx="7589520" cy="502920"/>
          </a:xfrm>
          <a:prstGeom prst="roundRect">
            <a:avLst>
              <a:gd name="adj" fmla="val 29091"/>
            </a:avLst>
          </a:prstGeom>
          <a:solidFill>
            <a:srgbClr val="0F2742"/>
          </a:solidFill>
          <a:ln w="8890">
            <a:solidFill>
              <a:srgbClr val="0F274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331720" y="5541264"/>
            <a:ext cx="7589520" cy="4846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宏观政策不是“消灭代价”，而是在不同代价之间选择。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11274552" y="642823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CA3AF"/>
                </a:solidFill>
              </a:rPr>
              <a:t>07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9052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72033"/>
                </a:solidFill>
              </a:rPr>
              <a:t>菲利普斯曲线：为什么传统经验失效？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30352" y="859536"/>
            <a:ext cx="9829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637085"/>
                </a:solidFill>
              </a:rPr>
              <a:t>过去观察到的“低失业-高通胀”短期权衡，在供给冲击和预期变化中会整体移动。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9921240" y="38404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37085"/>
                </a:solidFill>
              </a:rPr>
              <a:t>宏观经济学案例课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02920" y="1207008"/>
            <a:ext cx="11201400" cy="0"/>
          </a:xfrm>
          <a:prstGeom prst="line">
            <a:avLst/>
          </a:prstGeom>
          <a:noFill/>
          <a:ln w="11430">
            <a:solidFill>
              <a:srgbClr val="D6D3C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7280" y="5486400"/>
            <a:ext cx="4389120" cy="0"/>
          </a:xfrm>
          <a:prstGeom prst="line">
            <a:avLst/>
          </a:prstGeom>
          <a:noFill/>
          <a:ln w="12700">
            <a:solidFill>
              <a:srgbClr val="1720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7280" y="5486400"/>
            <a:ext cx="0" cy="-3657600"/>
          </a:xfrm>
          <a:prstGeom prst="line">
            <a:avLst/>
          </a:prstGeom>
          <a:noFill/>
          <a:ln w="12700">
            <a:solidFill>
              <a:srgbClr val="1720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4944" y="1600200"/>
            <a:ext cx="566928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通胀π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074920" y="5623560"/>
            <a:ext cx="685800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失业率u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508760" y="3520440"/>
            <a:ext cx="3337560" cy="141732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73168" y="4983480"/>
            <a:ext cx="411480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PC₀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737360" y="1691640"/>
            <a:ext cx="3291840" cy="1325880"/>
          </a:xfrm>
          <a:prstGeom prst="line">
            <a:avLst/>
          </a:prstGeom>
          <a:noFill/>
          <a:ln w="25400">
            <a:solidFill>
              <a:srgbClr val="DC262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92624" y="3090672"/>
            <a:ext cx="411480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PC₁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343400" y="2743200"/>
            <a:ext cx="457200" cy="182880"/>
          </a:xfrm>
          <a:prstGeom prst="rightArrow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0" y="2331720"/>
            <a:ext cx="2148840" cy="21031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预期/供给冲击使曲线外移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0" y="1783080"/>
            <a:ext cx="4572000" cy="356616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20840" y="2121408"/>
            <a:ext cx="3886200" cy="29260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DC262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错误理解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6967728" y="2651760"/>
            <a:ext cx="3429000" cy="5029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政府可以长期用更高通胀换更低失业。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720840" y="3749040"/>
            <a:ext cx="3886200" cy="29260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563E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1970年代教训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6967728" y="4251960"/>
            <a:ext cx="3429000" cy="5029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当通胀预期上升，可能出现高失业和高通胀并存。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1274552" y="642823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CA3AF"/>
                </a:solidFill>
              </a:rPr>
              <a:t>08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9052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72033"/>
                </a:solidFill>
              </a:rPr>
              <a:t>预期扩展菲利普斯曲线：把“人脑”放进模型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30352" y="859536"/>
            <a:ext cx="9829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637085"/>
                </a:solidFill>
              </a:rPr>
              <a:t>通胀不是纯粹的货币数量问题，还是工资谈判和企业定价的预期问题。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9921240" y="38404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37085"/>
                </a:solidFill>
              </a:rPr>
              <a:t>宏观经济学案例课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02920" y="1207008"/>
            <a:ext cx="11201400" cy="0"/>
          </a:xfrm>
          <a:prstGeom prst="line">
            <a:avLst/>
          </a:prstGeom>
          <a:noFill/>
          <a:ln w="11430">
            <a:solidFill>
              <a:srgbClr val="D6D3C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0120" y="1691640"/>
            <a:ext cx="4754880" cy="4023360"/>
          </a:xfrm>
          <a:prstGeom prst="roundRect">
            <a:avLst>
              <a:gd name="adj" fmla="val 4091"/>
            </a:avLst>
          </a:prstGeom>
          <a:solidFill>
            <a:srgbClr val="EDE9FE"/>
          </a:solidFill>
          <a:ln w="8890">
            <a:solidFill>
              <a:srgbClr val="7C3A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61872" y="2176272"/>
            <a:ext cx="4160520" cy="5943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7C3A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π = πᵉ - α(u-uₙ) + s</a:t>
            </a:r>
            <a:endParaRPr lang="en-US" sz="3100" dirty="0"/>
          </a:p>
        </p:txBody>
      </p:sp>
      <p:sp>
        <p:nvSpPr>
          <p:cNvPr id="8" name="Text 6"/>
          <p:cNvSpPr/>
          <p:nvPr/>
        </p:nvSpPr>
        <p:spPr>
          <a:xfrm>
            <a:off x="1481328" y="3218688"/>
            <a:ext cx="3657600" cy="11430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π：实际通胀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πᵉ：预期通胀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u-uₙ：失业缺口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s：供给冲击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6446520" y="1691640"/>
            <a:ext cx="4754880" cy="4023360"/>
          </a:xfrm>
          <a:prstGeom prst="roundRect">
            <a:avLst>
              <a:gd name="adj" fmla="val 4091"/>
            </a:avLst>
          </a:prstGeom>
          <a:solidFill>
            <a:srgbClr val="FEF3C7"/>
          </a:solidFill>
          <a:ln w="889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766560" y="2130552"/>
            <a:ext cx="4114800" cy="347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59E0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1970年代的问题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6995160" y="2788920"/>
            <a:ext cx="3611880" cy="1417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油价冲击：s ↑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过去高通胀：πᵉ ↑</a:t>
            </a:r>
            <a:endParaRPr lang="en-US" sz="2200" dirty="0"/>
          </a:p>
          <a:p>
            <a:pPr algn="ctr" indent="0" marL="0">
              <a:buNone/>
            </a:pP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所以即使失业率很高，通胀仍然很高。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1274552" y="642823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CA3AF"/>
                </a:solidFill>
              </a:rPr>
              <a:t>09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9052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72033"/>
                </a:solidFill>
              </a:rPr>
              <a:t>工资-价格螺旋：通胀如何自我维持？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30352" y="859536"/>
            <a:ext cx="9829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637085"/>
                </a:solidFill>
              </a:rPr>
              <a:t>当所有人都相信未来还会涨价，定价和工资合同会提前把通胀写进去。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9921240" y="38404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37085"/>
                </a:solidFill>
              </a:rPr>
              <a:t>宏观经济学案例课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02920" y="1207008"/>
            <a:ext cx="11201400" cy="0"/>
          </a:xfrm>
          <a:prstGeom prst="line">
            <a:avLst/>
          </a:prstGeom>
          <a:noFill/>
          <a:ln w="11430">
            <a:solidFill>
              <a:srgbClr val="D6D3C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56632" y="1371600"/>
            <a:ext cx="2048256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184648" y="1517904"/>
            <a:ext cx="1792224" cy="21945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物价上涨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184648" y="1810512"/>
            <a:ext cx="1792224" cy="164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3708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购买力下降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8317805" y="2635270"/>
            <a:ext cx="2048256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445821" y="2781574"/>
            <a:ext cx="1792224" cy="21945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工人要求涨薪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8445821" y="3074182"/>
            <a:ext cx="1792224" cy="164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3708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工资合同调整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7072148" y="4679930"/>
            <a:ext cx="2048256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200164" y="4826234"/>
            <a:ext cx="1792224" cy="21945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企业成本上升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7200164" y="5118842"/>
            <a:ext cx="1792224" cy="164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3708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利润受挤压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041116" y="4679930"/>
            <a:ext cx="2048256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169132" y="4826234"/>
            <a:ext cx="1792224" cy="21945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企业提高价格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3169132" y="5118842"/>
            <a:ext cx="1792224" cy="164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3708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向消费者转嫁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1795459" y="2635270"/>
            <a:ext cx="2048256" cy="731520"/>
          </a:xfrm>
          <a:prstGeom prst="roundRect">
            <a:avLst>
              <a:gd name="adj" fmla="val 15000"/>
            </a:avLst>
          </a:prstGeom>
          <a:solidFill>
            <a:srgbClr val="FEE2E2"/>
          </a:solidFill>
          <a:ln w="8890">
            <a:solidFill>
              <a:srgbClr val="DC262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923475" y="2781574"/>
            <a:ext cx="1792224" cy="21945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通胀预期更强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1923475" y="3074182"/>
            <a:ext cx="1792224" cy="164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3708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下一轮更快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047488" y="3246120"/>
            <a:ext cx="2103120" cy="594360"/>
          </a:xfrm>
          <a:prstGeom prst="roundRect">
            <a:avLst>
              <a:gd name="adj" fmla="val 24615"/>
            </a:avLst>
          </a:prstGeom>
          <a:solidFill>
            <a:srgbClr val="DC2626"/>
          </a:solidFill>
          <a:ln w="8890">
            <a:solidFill>
              <a:srgbClr val="DC262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47488" y="3255264"/>
            <a:ext cx="2103120" cy="5760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预期失锚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11274552" y="642823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CA3AF"/>
                </a:solidFill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9052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72033"/>
                </a:solidFill>
              </a:rPr>
              <a:t>实际利率：为什么名义利率高也可能不够紧？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30352" y="859536"/>
            <a:ext cx="9829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637085"/>
                </a:solidFill>
              </a:rPr>
              <a:t>借钱的真实成本，要扣掉预期通胀。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9921240" y="38404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37085"/>
                </a:solidFill>
              </a:rPr>
              <a:t>宏观经济学案例课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02920" y="1207008"/>
            <a:ext cx="11201400" cy="0"/>
          </a:xfrm>
          <a:prstGeom prst="line">
            <a:avLst/>
          </a:prstGeom>
          <a:noFill/>
          <a:ln w="11430">
            <a:solidFill>
              <a:srgbClr val="D6D3C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1600200"/>
            <a:ext cx="5166360" cy="429768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71600" y="2148840"/>
            <a:ext cx="4160520" cy="5943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563E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 = i - πᵉ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1828800" y="3246120"/>
            <a:ext cx="3246120" cy="9144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r：实际利率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i：名义利率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πᵉ：预期通胀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6492240" y="1600200"/>
            <a:ext cx="4800600" cy="4297680"/>
          </a:xfrm>
          <a:prstGeom prst="roundRect">
            <a:avLst>
              <a:gd name="adj" fmla="val 3830"/>
            </a:avLst>
          </a:prstGeom>
          <a:solidFill>
            <a:srgbClr val="FEE2E2"/>
          </a:solidFill>
          <a:ln w="8890">
            <a:solidFill>
              <a:srgbClr val="DC262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12280" y="2011680"/>
            <a:ext cx="4160520" cy="31089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C262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例子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6903720" y="2651760"/>
            <a:ext cx="3977640" cy="16002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名义贷款利率 i = 10%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预期通胀 πᵉ = 12%</a:t>
            </a:r>
            <a:endParaRPr lang="en-US" sz="2200" dirty="0"/>
          </a:p>
          <a:p>
            <a:pPr algn="ctr" indent="0" marL="0">
              <a:buNone/>
            </a:pP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实际利率 r = -2%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借钱并不贵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1274552" y="642823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CA3AF"/>
                </a:solidFill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9052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72033"/>
                </a:solidFill>
              </a:rPr>
              <a:t>沃尔克冲击：用极高利率重置通胀预期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30352" y="859536"/>
            <a:ext cx="9829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637085"/>
                </a:solidFill>
              </a:rPr>
              <a:t>1979年后，美联储把反通胀置于优先位置，联邦基金利率在1981年前后升至极高水平。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9921240" y="38404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37085"/>
                </a:solidFill>
              </a:rPr>
              <a:t>宏观经济学案例课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02920" y="1207008"/>
            <a:ext cx="11201400" cy="0"/>
          </a:xfrm>
          <a:prstGeom prst="line">
            <a:avLst/>
          </a:prstGeom>
          <a:noFill/>
          <a:ln w="11430">
            <a:solidFill>
              <a:srgbClr val="D6D3C9"/>
            </a:solidFill>
            <a:prstDash val="solid"/>
          </a:ln>
        </p:spPr>
      </p:sp>
      <p:pic>
        <p:nvPicPr>
          <p:cNvPr id="6" name="Image 0" descr="/mnt/data/paul_volcker.png">    </p:cNvPr>
          <p:cNvPicPr>
            <a:picLocks noChangeAspect="1"/>
          </p:cNvPicPr>
          <p:nvPr/>
        </p:nvPicPr>
        <p:blipFill>
          <a:blip r:embed="rId1"/>
          <a:srcRect l="19951" r="19951" t="0" b="0"/>
          <a:stretch/>
        </p:blipFill>
        <p:spPr>
          <a:xfrm>
            <a:off x="731520" y="1508760"/>
            <a:ext cx="3931920" cy="44348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257800" y="1508760"/>
            <a:ext cx="5715000" cy="4434840"/>
          </a:xfrm>
          <a:prstGeom prst="roundRect">
            <a:avLst>
              <a:gd name="adj" fmla="val 3711"/>
            </a:avLst>
          </a:prstGeom>
          <a:solidFill>
            <a:srgbClr val="DBEAFE"/>
          </a:solidFill>
          <a:ln w="8890">
            <a:solidFill>
              <a:srgbClr val="2563E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623560" y="1874520"/>
            <a:ext cx="4983480" cy="347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2563E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政策逻辑</a:t>
            </a:r>
            <a:endParaRPr lang="en-US" sz="2500" dirty="0"/>
          </a:p>
        </p:txBody>
      </p:sp>
      <p:sp>
        <p:nvSpPr>
          <p:cNvPr id="9" name="Text 6"/>
          <p:cNvSpPr/>
          <p:nvPr/>
        </p:nvSpPr>
        <p:spPr>
          <a:xfrm>
            <a:off x="5742432" y="2578608"/>
            <a:ext cx="4754880" cy="1965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若公众不相信央行会压通胀，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b="1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工资和价格仍会按高通胀定价。</a:t>
            </a:r>
            <a:endParaRPr lang="en-US" sz="1900" dirty="0"/>
          </a:p>
          <a:p>
            <a:pPr algn="ctr" indent="0" marL="0">
              <a:buNone/>
            </a:pPr>
            <a:endParaRPr lang="en-US" sz="1900" dirty="0"/>
          </a:p>
          <a:p>
            <a:pPr algn="ctr" indent="0" marL="0">
              <a:buNone/>
            </a:pPr>
            <a:r>
              <a:rPr lang="en-US" sz="1900" b="1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因此必须让实际利率转正且足够高，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b="1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让需求降温，并让市场相信：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b="1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“这次央行是真的”。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5440680" y="6053328"/>
            <a:ext cx="534924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3708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资料来源：Federal Reserve History；St. Louis Fed 对Great Inflation的历史回顾。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11274552" y="642823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CA3AF"/>
                </a:solidFill>
              </a:rPr>
              <a:t>12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9052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72033"/>
                </a:solidFill>
              </a:rPr>
              <a:t>高利率如何压通胀：先压需求，再压预期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30352" y="859536"/>
            <a:ext cx="9829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637085"/>
                </a:solidFill>
              </a:rPr>
              <a:t>紧缩货币政策并不是免费工具，传导过程伴随房地产、投资、就业和消费收缩。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9921240" y="38404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37085"/>
                </a:solidFill>
              </a:rPr>
              <a:t>宏观经济学案例课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02920" y="1207008"/>
            <a:ext cx="11201400" cy="0"/>
          </a:xfrm>
          <a:prstGeom prst="line">
            <a:avLst/>
          </a:prstGeom>
          <a:noFill/>
          <a:ln w="11430">
            <a:solidFill>
              <a:srgbClr val="D6D3C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2331720"/>
            <a:ext cx="1417320" cy="960120"/>
          </a:xfrm>
          <a:prstGeom prst="roundRect">
            <a:avLst>
              <a:gd name="adj" fmla="val 11429"/>
            </a:avLst>
          </a:prstGeom>
          <a:solidFill>
            <a:srgbClr val="FEE2E2"/>
          </a:solidFill>
          <a:ln w="8890">
            <a:solidFill>
              <a:srgbClr val="DC26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2587752"/>
            <a:ext cx="123444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利率↑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94360" y="2926080"/>
            <a:ext cx="1234440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3708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融资成本上升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039112" y="2679192"/>
            <a:ext cx="292608" cy="228600"/>
          </a:xfrm>
          <a:prstGeom prst="rightArrow">
            <a:avLst/>
          </a:prstGeom>
          <a:solidFill>
            <a:srgbClr val="637085"/>
          </a:solidFill>
          <a:ln w="12700">
            <a:solidFill>
              <a:srgbClr val="637085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377440" y="2331720"/>
            <a:ext cx="1417320" cy="960120"/>
          </a:xfrm>
          <a:prstGeom prst="roundRect">
            <a:avLst>
              <a:gd name="adj" fmla="val 11429"/>
            </a:avLst>
          </a:prstGeom>
          <a:solidFill>
            <a:srgbClr val="FEE2E2"/>
          </a:solidFill>
          <a:ln w="8890">
            <a:solidFill>
              <a:srgbClr val="DC262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68880" y="2587752"/>
            <a:ext cx="123444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房贷/车贷↓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2468880" y="2926080"/>
            <a:ext cx="1234440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3708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耐用品需求下降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913632" y="2679192"/>
            <a:ext cx="292608" cy="228600"/>
          </a:xfrm>
          <a:prstGeom prst="rightArrow">
            <a:avLst/>
          </a:prstGeom>
          <a:solidFill>
            <a:srgbClr val="637085"/>
          </a:solidFill>
          <a:ln w="12700">
            <a:solidFill>
              <a:srgbClr val="637085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251960" y="2331720"/>
            <a:ext cx="1417320" cy="960120"/>
          </a:xfrm>
          <a:prstGeom prst="roundRect">
            <a:avLst>
              <a:gd name="adj" fmla="val 11429"/>
            </a:avLst>
          </a:prstGeom>
          <a:solidFill>
            <a:srgbClr val="FEE2E2"/>
          </a:solidFill>
          <a:ln w="8890">
            <a:solidFill>
              <a:srgbClr val="DC262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43400" y="2587752"/>
            <a:ext cx="123444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企业投资↓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343400" y="2926080"/>
            <a:ext cx="1234440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3708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扩产推迟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788152" y="2679192"/>
            <a:ext cx="292608" cy="228600"/>
          </a:xfrm>
          <a:prstGeom prst="rightArrow">
            <a:avLst/>
          </a:prstGeom>
          <a:solidFill>
            <a:srgbClr val="637085"/>
          </a:solidFill>
          <a:ln w="12700">
            <a:solidFill>
              <a:srgbClr val="637085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26480" y="2331720"/>
            <a:ext cx="1417320" cy="960120"/>
          </a:xfrm>
          <a:prstGeom prst="roundRect">
            <a:avLst>
              <a:gd name="adj" fmla="val 11429"/>
            </a:avLst>
          </a:prstGeom>
          <a:solidFill>
            <a:srgbClr val="FEE2E2"/>
          </a:solidFill>
          <a:ln w="8890">
            <a:solidFill>
              <a:srgbClr val="DC262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17920" y="2587752"/>
            <a:ext cx="123444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就业和收入↓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6217920" y="2926080"/>
            <a:ext cx="1234440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3708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消费降温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7662672" y="2679192"/>
            <a:ext cx="292608" cy="228600"/>
          </a:xfrm>
          <a:prstGeom prst="rightArrow">
            <a:avLst/>
          </a:prstGeom>
          <a:solidFill>
            <a:srgbClr val="637085"/>
          </a:solidFill>
          <a:ln w="12700">
            <a:solidFill>
              <a:srgbClr val="637085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001000" y="2331720"/>
            <a:ext cx="1417320" cy="960120"/>
          </a:xfrm>
          <a:prstGeom prst="roundRect">
            <a:avLst>
              <a:gd name="adj" fmla="val 11429"/>
            </a:avLst>
          </a:prstGeom>
          <a:solidFill>
            <a:srgbClr val="D1FAE5"/>
          </a:solidFill>
          <a:ln w="8890">
            <a:solidFill>
              <a:srgbClr val="05966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092440" y="2587752"/>
            <a:ext cx="123444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涨价能力↓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8092440" y="2926080"/>
            <a:ext cx="1234440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3708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通胀回落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9537192" y="2679192"/>
            <a:ext cx="292608" cy="228600"/>
          </a:xfrm>
          <a:prstGeom prst="rightArrow">
            <a:avLst/>
          </a:prstGeom>
          <a:solidFill>
            <a:srgbClr val="637085"/>
          </a:solidFill>
          <a:ln w="12700">
            <a:solidFill>
              <a:srgbClr val="637085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875520" y="2331720"/>
            <a:ext cx="1417320" cy="960120"/>
          </a:xfrm>
          <a:prstGeom prst="roundRect">
            <a:avLst>
              <a:gd name="adj" fmla="val 11429"/>
            </a:avLst>
          </a:prstGeom>
          <a:solidFill>
            <a:srgbClr val="D1FAE5"/>
          </a:solidFill>
          <a:ln w="8890">
            <a:solidFill>
              <a:srgbClr val="05966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966960" y="2587752"/>
            <a:ext cx="123444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预期重置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9966960" y="2926080"/>
            <a:ext cx="1234440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3708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可信度恢复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1280160" y="4480560"/>
            <a:ext cx="9555480" cy="868680"/>
          </a:xfrm>
          <a:prstGeom prst="roundRect">
            <a:avLst>
              <a:gd name="adj" fmla="val 16842"/>
            </a:avLst>
          </a:prstGeom>
          <a:solidFill>
            <a:srgbClr val="FEF3C7"/>
          </a:solidFill>
          <a:ln w="8890">
            <a:solidFill>
              <a:srgbClr val="F59E0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572768" y="4773168"/>
            <a:ext cx="8961120" cy="29260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真正的代价：1980年代初美国经历严重衰退，失业率升至两位数附近；通胀最终被压下去，但不是无痛完成。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11274552" y="642823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CA3AF"/>
                </a:solidFill>
              </a:rPr>
              <a:t>13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9052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72033"/>
                </a:solidFill>
              </a:rPr>
              <a:t>牺牲率：降低通胀要付出多少产出和就业？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30352" y="859536"/>
            <a:ext cx="9829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637085"/>
                </a:solidFill>
              </a:rPr>
              <a:t>央行可信度越低，压低通胀预期所需的经济痛苦通常越大。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9921240" y="38404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37085"/>
                </a:solidFill>
              </a:rPr>
              <a:t>宏观经济学案例课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02920" y="1207008"/>
            <a:ext cx="11201400" cy="0"/>
          </a:xfrm>
          <a:prstGeom prst="line">
            <a:avLst/>
          </a:prstGeom>
          <a:noFill/>
          <a:ln w="11430">
            <a:solidFill>
              <a:srgbClr val="D6D3C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1691640"/>
            <a:ext cx="4572000" cy="3383280"/>
          </a:xfrm>
          <a:prstGeom prst="roundRect">
            <a:avLst>
              <a:gd name="adj" fmla="val 4865"/>
            </a:avLst>
          </a:prstGeom>
          <a:solidFill>
            <a:srgbClr val="FEE2E2"/>
          </a:solidFill>
          <a:ln w="8890">
            <a:solidFill>
              <a:srgbClr val="DC26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34440" y="2057400"/>
            <a:ext cx="3931920" cy="32918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C262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可信度低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325880" y="2743200"/>
            <a:ext cx="3749040" cy="1325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公众不相信央行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工资价格仍按高通胀定价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必须制造更强需求收缩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牺牲率高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6720840" y="1691640"/>
            <a:ext cx="4572000" cy="3383280"/>
          </a:xfrm>
          <a:prstGeom prst="roundRect">
            <a:avLst>
              <a:gd name="adj" fmla="val 4865"/>
            </a:avLst>
          </a:prstGeom>
          <a:solidFill>
            <a:srgbClr val="D1FAE5"/>
          </a:solidFill>
          <a:ln w="8890">
            <a:solidFill>
              <a:srgbClr val="05966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040880" y="2057400"/>
            <a:ext cx="3931920" cy="32918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596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可信度高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7132320" y="2743200"/>
            <a:ext cx="3749040" cy="1325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公众相信通胀会回落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预期较快调整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较小衰退即可压通胀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牺牲率低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274552" y="642823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CA3AF"/>
                </a:solidFill>
              </a:rPr>
              <a:t>14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9052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72033"/>
                </a:solidFill>
              </a:rPr>
              <a:t>央行可信度与时间不一致问题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30352" y="859536"/>
            <a:ext cx="9829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637085"/>
                </a:solidFill>
              </a:rPr>
              <a:t>今天承诺反通胀，明天面对失业压力又想刺激；公众预见这种反悔，就会提前抬高通胀预期。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9921240" y="38404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37085"/>
                </a:solidFill>
              </a:rPr>
              <a:t>宏观经济学案例课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02920" y="1207008"/>
            <a:ext cx="11201400" cy="0"/>
          </a:xfrm>
          <a:prstGeom prst="line">
            <a:avLst/>
          </a:prstGeom>
          <a:noFill/>
          <a:ln w="11430">
            <a:solidFill>
              <a:srgbClr val="D6D3C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554480"/>
            <a:ext cx="3337560" cy="4297680"/>
          </a:xfrm>
          <a:prstGeom prst="roundRect">
            <a:avLst>
              <a:gd name="adj" fmla="val 4932"/>
            </a:avLst>
          </a:prstGeom>
          <a:solidFill>
            <a:srgbClr val="DBEAFE"/>
          </a:solidFill>
          <a:ln w="889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1920240"/>
            <a:ext cx="2788920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563E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今天的承诺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234440" y="2834640"/>
            <a:ext cx="2514600" cy="6858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“绝不制造通胀”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希望稳定预期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407408" y="3310128"/>
            <a:ext cx="822960" cy="320040"/>
          </a:xfrm>
          <a:prstGeom prst="rightArrow">
            <a:avLst/>
          </a:prstGeom>
          <a:solidFill>
            <a:srgbClr val="637085"/>
          </a:solidFill>
          <a:ln w="12700">
            <a:solidFill>
              <a:srgbClr val="637085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394960" y="1554480"/>
            <a:ext cx="3337560" cy="4297680"/>
          </a:xfrm>
          <a:prstGeom prst="roundRect">
            <a:avLst>
              <a:gd name="adj" fmla="val 4932"/>
            </a:avLst>
          </a:prstGeom>
          <a:solidFill>
            <a:srgbClr val="FEF3C7"/>
          </a:solidFill>
          <a:ln w="889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0" y="1920240"/>
            <a:ext cx="2788920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明天的诱惑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989320" y="2743200"/>
            <a:ext cx="2148840" cy="10058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失业上升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政治压力上升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想再刺激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8942832" y="3310128"/>
            <a:ext cx="822960" cy="320040"/>
          </a:xfrm>
          <a:prstGeom prst="rightArrow">
            <a:avLst/>
          </a:prstGeom>
          <a:solidFill>
            <a:srgbClr val="637085"/>
          </a:solidFill>
          <a:ln w="12700">
            <a:solidFill>
              <a:srgbClr val="637085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921240" y="1554480"/>
            <a:ext cx="1691640" cy="4297680"/>
          </a:xfrm>
          <a:prstGeom prst="roundRect">
            <a:avLst>
              <a:gd name="adj" fmla="val 9730"/>
            </a:avLst>
          </a:prstGeom>
          <a:solidFill>
            <a:srgbClr val="FEE2E2"/>
          </a:solidFill>
          <a:ln w="8890">
            <a:solidFill>
              <a:srgbClr val="DC262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076688" y="2103120"/>
            <a:ext cx="1371600" cy="29260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DC262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公众预期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0104120" y="2971800"/>
            <a:ext cx="1325880" cy="6858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“你会反悔”</a:t>
            </a:r>
            <a:endParaRPr lang="en-US" sz="2000" dirty="0"/>
          </a:p>
          <a:p>
            <a:pPr algn="ctr" indent="0" marL="0">
              <a:buNone/>
            </a:pP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πᵉ↑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1274552" y="642823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CA3AF"/>
                </a:solidFill>
              </a:rPr>
              <a:t>15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9052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72033"/>
                </a:solidFill>
              </a:rPr>
              <a:t>与2008年案例对比：两种衰退，两套逻辑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30352" y="859536"/>
            <a:ext cx="9829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637085"/>
                </a:solidFill>
              </a:rPr>
              <a:t>“经济下行”只是表象，背后的冲击来源决定政策方向。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9921240" y="38404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37085"/>
                </a:solidFill>
              </a:rPr>
              <a:t>宏观经济学案例课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02920" y="1207008"/>
            <a:ext cx="11201400" cy="0"/>
          </a:xfrm>
          <a:prstGeom prst="line">
            <a:avLst/>
          </a:prstGeom>
          <a:noFill/>
          <a:ln w="11430">
            <a:solidFill>
              <a:srgbClr val="D6D3C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508760"/>
            <a:ext cx="2743200" cy="502920"/>
          </a:xfrm>
          <a:prstGeom prst="roundRect">
            <a:avLst>
              <a:gd name="adj" fmla="val 14545"/>
            </a:avLst>
          </a:prstGeom>
          <a:solidFill>
            <a:srgbClr val="0F2742"/>
          </a:solidFill>
          <a:ln w="8890">
            <a:solidFill>
              <a:srgbClr val="0F274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664208"/>
            <a:ext cx="2377440" cy="164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维度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566160" y="1508760"/>
            <a:ext cx="3749040" cy="502920"/>
          </a:xfrm>
          <a:prstGeom prst="roundRect">
            <a:avLst>
              <a:gd name="adj" fmla="val 14545"/>
            </a:avLst>
          </a:prstGeom>
          <a:solidFill>
            <a:srgbClr val="2563EB"/>
          </a:solidFill>
          <a:ln w="889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749040" y="1664208"/>
            <a:ext cx="3383280" cy="164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2008金融危机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406640" y="1508760"/>
            <a:ext cx="4023360" cy="502920"/>
          </a:xfrm>
          <a:prstGeom prst="roundRect">
            <a:avLst>
              <a:gd name="adj" fmla="val 14545"/>
            </a:avLst>
          </a:prstGeom>
          <a:solidFill>
            <a:srgbClr val="DC2626"/>
          </a:solidFill>
          <a:ln w="8890">
            <a:solidFill>
              <a:srgbClr val="DC262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589520" y="1664208"/>
            <a:ext cx="3657600" cy="164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1970年代滞胀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31520" y="2148840"/>
            <a:ext cx="2743200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566160" y="2148840"/>
            <a:ext cx="3749040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406640" y="2148840"/>
            <a:ext cx="4023360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2286000"/>
            <a:ext cx="2377440" cy="14630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核心冲击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749040" y="2286000"/>
            <a:ext cx="3383280" cy="14630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总需求下降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7589520" y="2286000"/>
            <a:ext cx="3657600" cy="14630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总供给下降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731520" y="2862072"/>
            <a:ext cx="2743200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566160" y="2862072"/>
            <a:ext cx="3749040" cy="475488"/>
          </a:xfrm>
          <a:prstGeom prst="roundRect">
            <a:avLst>
              <a:gd name="adj" fmla="val 9615"/>
            </a:avLst>
          </a:prstGeom>
          <a:solidFill>
            <a:srgbClr val="DBEAFE"/>
          </a:solidFill>
          <a:ln w="8890">
            <a:solidFill>
              <a:srgbClr val="2563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406640" y="2862072"/>
            <a:ext cx="4023360" cy="475488"/>
          </a:xfrm>
          <a:prstGeom prst="roundRect">
            <a:avLst>
              <a:gd name="adj" fmla="val 9615"/>
            </a:avLst>
          </a:prstGeom>
          <a:solidFill>
            <a:srgbClr val="FEE2E2"/>
          </a:solidFill>
          <a:ln w="8890">
            <a:solidFill>
              <a:srgbClr val="DC262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2999232"/>
            <a:ext cx="2377440" cy="14630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典型表现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3749040" y="2999232"/>
            <a:ext cx="3383280" cy="14630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Y↓，通胀压力↓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7589520" y="2999232"/>
            <a:ext cx="3657600" cy="14630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Y↓，P↑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731520" y="3575304"/>
            <a:ext cx="2743200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566160" y="3575304"/>
            <a:ext cx="3749040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406640" y="3575304"/>
            <a:ext cx="4023360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3712464"/>
            <a:ext cx="2377440" cy="14630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政策倾向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3749040" y="3712464"/>
            <a:ext cx="3383280" cy="14630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财政+货币托需求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7589520" y="3712464"/>
            <a:ext cx="3657600" cy="14630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压通胀预期+改善供给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731520" y="4288536"/>
            <a:ext cx="2743200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566160" y="4288536"/>
            <a:ext cx="3749040" cy="475488"/>
          </a:xfrm>
          <a:prstGeom prst="roundRect">
            <a:avLst>
              <a:gd name="adj" fmla="val 9615"/>
            </a:avLst>
          </a:prstGeom>
          <a:solidFill>
            <a:srgbClr val="DBEAFE"/>
          </a:solidFill>
          <a:ln w="8890">
            <a:solidFill>
              <a:srgbClr val="2563E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406640" y="4288536"/>
            <a:ext cx="4023360" cy="475488"/>
          </a:xfrm>
          <a:prstGeom prst="roundRect">
            <a:avLst>
              <a:gd name="adj" fmla="val 9615"/>
            </a:avLst>
          </a:prstGeom>
          <a:solidFill>
            <a:srgbClr val="FEE2E2"/>
          </a:solidFill>
          <a:ln w="8890">
            <a:solidFill>
              <a:srgbClr val="DC262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14400" y="4425696"/>
            <a:ext cx="2377440" cy="14630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最大风险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3749040" y="4425696"/>
            <a:ext cx="3383280" cy="14630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刺激过度→债务/资产泡沫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7589520" y="4425696"/>
            <a:ext cx="3657600" cy="14630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刺激需求→通胀更高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731520" y="5001768"/>
            <a:ext cx="2743200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566160" y="5001768"/>
            <a:ext cx="3749040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406640" y="5001768"/>
            <a:ext cx="4023360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14400" y="5138928"/>
            <a:ext cx="2377440" cy="14630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关键词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3749040" y="5138928"/>
            <a:ext cx="3383280" cy="14630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产出缺口、乘数、信贷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7589520" y="5138928"/>
            <a:ext cx="3657600" cy="14630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油价、预期、实际利率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11274552" y="642823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CA3AF"/>
                </a:solidFill>
              </a:rPr>
              <a:t>16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9052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72033"/>
                </a:solidFill>
              </a:rPr>
              <a:t>金融市场视角：滞胀为什么难处理？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30352" y="859536"/>
            <a:ext cx="9829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637085"/>
                </a:solidFill>
              </a:rPr>
              <a:t>滞胀把“增长下行”和“利率上行”结合起来，对股债都不友好。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9921240" y="38404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37085"/>
                </a:solidFill>
              </a:rPr>
              <a:t>宏观经济学案例课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02920" y="1207008"/>
            <a:ext cx="11201400" cy="0"/>
          </a:xfrm>
          <a:prstGeom prst="line">
            <a:avLst/>
          </a:prstGeom>
          <a:noFill/>
          <a:ln w="11430">
            <a:solidFill>
              <a:srgbClr val="D6D3C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828800"/>
            <a:ext cx="2240280" cy="3337560"/>
          </a:xfrm>
          <a:prstGeom prst="roundRect">
            <a:avLst>
              <a:gd name="adj" fmla="val 7347"/>
            </a:avLst>
          </a:prstGeom>
          <a:solidFill>
            <a:srgbClr val="FEE2E2"/>
          </a:solidFill>
          <a:ln w="8890">
            <a:solidFill>
              <a:srgbClr val="DC26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2240280"/>
            <a:ext cx="1783080" cy="32918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C262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股票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033272" y="3154680"/>
            <a:ext cx="1737360" cy="7772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盈利承压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估值受利率压制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566160" y="1828800"/>
            <a:ext cx="2240280" cy="3337560"/>
          </a:xfrm>
          <a:prstGeom prst="roundRect">
            <a:avLst>
              <a:gd name="adj" fmla="val 7347"/>
            </a:avLst>
          </a:prstGeom>
          <a:solidFill>
            <a:srgbClr val="FEF3C7"/>
          </a:solidFill>
          <a:ln w="889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794760" y="2240280"/>
            <a:ext cx="1783080" cy="32918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59E0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债券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822192" y="3154680"/>
            <a:ext cx="1737360" cy="7772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通胀和加息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推高收益率、压低价格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355080" y="1828800"/>
            <a:ext cx="2240280" cy="3337560"/>
          </a:xfrm>
          <a:prstGeom prst="roundRect">
            <a:avLst>
              <a:gd name="adj" fmla="val 7347"/>
            </a:avLst>
          </a:prstGeom>
          <a:solidFill>
            <a:srgbClr val="DBEAFE"/>
          </a:solidFill>
          <a:ln w="889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0" y="2240280"/>
            <a:ext cx="1783080" cy="32918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563E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现金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611112" y="3154680"/>
            <a:ext cx="1737360" cy="7772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名义安全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但购买力被通胀侵蚀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9144000" y="1828800"/>
            <a:ext cx="2240280" cy="3337560"/>
          </a:xfrm>
          <a:prstGeom prst="roundRect">
            <a:avLst>
              <a:gd name="adj" fmla="val 7347"/>
            </a:avLst>
          </a:prstGeom>
          <a:solidFill>
            <a:srgbClr val="D1FAE5"/>
          </a:solidFill>
          <a:ln w="8890">
            <a:solidFill>
              <a:srgbClr val="05966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372600" y="2240280"/>
            <a:ext cx="1783080" cy="32918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596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商品/能源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400032" y="3154680"/>
            <a:ext cx="1737360" cy="7772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可能阶段性受益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但波动和政策风险高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417320" y="5806440"/>
            <a:ext cx="9326880" cy="29260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投资启示：同样是“经济差”，需求衰退和滞胀衰退的资产定价逻辑完全不同。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274552" y="642823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CA3AF"/>
                </a:solidFill>
              </a:rPr>
              <a:t>17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9052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72033"/>
                </a:solidFill>
              </a:rPr>
              <a:t>为什么今天仍要研究1970年代？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30352" y="859536"/>
            <a:ext cx="9829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637085"/>
                </a:solidFill>
              </a:rPr>
              <a:t>疫情后全球通胀提醒我们：需求刺激与供给瓶颈叠加时，通胀会迅速复杂化。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9921240" y="38404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37085"/>
                </a:solidFill>
              </a:rPr>
              <a:t>宏观经济学案例课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02920" y="1207008"/>
            <a:ext cx="11201400" cy="0"/>
          </a:xfrm>
          <a:prstGeom prst="line">
            <a:avLst/>
          </a:prstGeom>
          <a:noFill/>
          <a:ln w="11430">
            <a:solidFill>
              <a:srgbClr val="D6D3C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1691640"/>
            <a:ext cx="4983480" cy="4023360"/>
          </a:xfrm>
          <a:prstGeom prst="roundRect">
            <a:avLst>
              <a:gd name="adj" fmla="val 4091"/>
            </a:avLst>
          </a:prstGeom>
          <a:solidFill>
            <a:srgbClr val="D1FAE5"/>
          </a:solidFill>
          <a:ln w="8890">
            <a:solidFill>
              <a:srgbClr val="05966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88720" y="2057400"/>
            <a:ext cx="4343400" cy="32918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596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疫情初期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463040" y="2880360"/>
            <a:ext cx="3794760" cy="9144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需求坍塌</a:t>
            </a:r>
            <a:endParaRPr lang="en-US" sz="2500" dirty="0"/>
          </a:p>
          <a:p>
            <a:pPr algn="ctr" indent="0" marL="0">
              <a:buNone/>
            </a:pPr>
            <a:r>
              <a:rPr lang="en-US" sz="2500" b="1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财政与货币强刺激</a:t>
            </a:r>
            <a:endParaRPr lang="en-US" sz="2500" dirty="0"/>
          </a:p>
          <a:p>
            <a:pPr algn="ctr" indent="0" marL="0">
              <a:buNone/>
            </a:pPr>
            <a:r>
              <a:rPr lang="en-US" sz="2500" b="1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AD被托住</a:t>
            </a:r>
            <a:endParaRPr lang="en-US" sz="2500" dirty="0"/>
          </a:p>
        </p:txBody>
      </p:sp>
      <p:sp>
        <p:nvSpPr>
          <p:cNvPr id="9" name="Shape 7"/>
          <p:cNvSpPr/>
          <p:nvPr/>
        </p:nvSpPr>
        <p:spPr>
          <a:xfrm>
            <a:off x="6355080" y="1691640"/>
            <a:ext cx="4983480" cy="4023360"/>
          </a:xfrm>
          <a:prstGeom prst="roundRect">
            <a:avLst>
              <a:gd name="adj" fmla="val 4091"/>
            </a:avLst>
          </a:prstGeom>
          <a:solidFill>
            <a:srgbClr val="FEE2E2"/>
          </a:solidFill>
          <a:ln w="8890">
            <a:solidFill>
              <a:srgbClr val="DC262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75120" y="2057400"/>
            <a:ext cx="4343400" cy="32918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C262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随后几年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6949440" y="2880360"/>
            <a:ext cx="3794760" cy="9144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供应链堵塞</a:t>
            </a:r>
            <a:endParaRPr lang="en-US" sz="2500" dirty="0"/>
          </a:p>
          <a:p>
            <a:pPr algn="ctr" indent="0" marL="0">
              <a:buNone/>
            </a:pPr>
            <a:r>
              <a:rPr lang="en-US" sz="2500" b="1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劳动力与能源约束</a:t>
            </a:r>
            <a:endParaRPr lang="en-US" sz="2500" dirty="0"/>
          </a:p>
          <a:p>
            <a:pPr algn="ctr" indent="0" marL="0">
              <a:buNone/>
            </a:pPr>
            <a:r>
              <a:rPr lang="en-US" sz="2500" b="1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AS受损</a:t>
            </a:r>
            <a:endParaRPr lang="en-US" sz="2500" dirty="0"/>
          </a:p>
        </p:txBody>
      </p:sp>
      <p:sp>
        <p:nvSpPr>
          <p:cNvPr id="12" name="Shape 10"/>
          <p:cNvSpPr/>
          <p:nvPr/>
        </p:nvSpPr>
        <p:spPr>
          <a:xfrm>
            <a:off x="3520440" y="5989320"/>
            <a:ext cx="5303520" cy="411480"/>
          </a:xfrm>
          <a:prstGeom prst="roundRect">
            <a:avLst>
              <a:gd name="adj" fmla="val 35556"/>
            </a:avLst>
          </a:prstGeom>
          <a:solidFill>
            <a:srgbClr val="0F2742"/>
          </a:solidFill>
          <a:ln w="8890">
            <a:solidFill>
              <a:srgbClr val="0F274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20440" y="5998464"/>
            <a:ext cx="5303520" cy="3931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AD↑ + AS↓ 是制造通胀的危险组合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11274552" y="642823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CA3AF"/>
                </a:solidFill>
              </a:rPr>
              <a:t>18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9052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72033"/>
                </a:solidFill>
              </a:rPr>
              <a:t>通用宏观分析框架：看到“经济不好”先问什么？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30352" y="859536"/>
            <a:ext cx="9829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637085"/>
                </a:solidFill>
              </a:rPr>
              <a:t>这套步骤可以分析滞胀、衰退、通缩、房地产下行和政策转向。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9921240" y="38404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37085"/>
                </a:solidFill>
              </a:rPr>
              <a:t>宏观经济学案例课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02920" y="1207008"/>
            <a:ext cx="11201400" cy="0"/>
          </a:xfrm>
          <a:prstGeom prst="line">
            <a:avLst/>
          </a:prstGeom>
          <a:noFill/>
          <a:ln w="11430">
            <a:solidFill>
              <a:srgbClr val="D6D3C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920240"/>
            <a:ext cx="1874520" cy="2651760"/>
          </a:xfrm>
          <a:prstGeom prst="roundRect">
            <a:avLst>
              <a:gd name="adj" fmla="val 7805"/>
            </a:avLst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71600" y="2148840"/>
            <a:ext cx="502920" cy="502920"/>
          </a:xfrm>
          <a:prstGeom prst="roundRect">
            <a:avLst>
              <a:gd name="adj" fmla="val 29091"/>
            </a:avLst>
          </a:prstGeom>
          <a:solidFill>
            <a:srgbClr val="0F2742"/>
          </a:solidFill>
          <a:ln w="8890">
            <a:solidFill>
              <a:srgbClr val="0F274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71600" y="2157984"/>
            <a:ext cx="502920" cy="4846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850392" y="2880360"/>
            <a:ext cx="1554480" cy="29260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冲击来源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41248" y="3584448"/>
            <a:ext cx="1572768" cy="32918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AD还是AS？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2679192" y="3017520"/>
            <a:ext cx="237744" cy="182880"/>
          </a:xfrm>
          <a:prstGeom prst="rightArrow">
            <a:avLst/>
          </a:prstGeom>
          <a:solidFill>
            <a:srgbClr val="637085"/>
          </a:solidFill>
          <a:ln w="12700">
            <a:solidFill>
              <a:srgbClr val="637085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971800" y="1920240"/>
            <a:ext cx="1874520" cy="2651760"/>
          </a:xfrm>
          <a:prstGeom prst="roundRect">
            <a:avLst>
              <a:gd name="adj" fmla="val 7805"/>
            </a:avLst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0" y="2148840"/>
            <a:ext cx="502920" cy="502920"/>
          </a:xfrm>
          <a:prstGeom prst="roundRect">
            <a:avLst>
              <a:gd name="adj" fmla="val 29091"/>
            </a:avLst>
          </a:prstGeom>
          <a:solidFill>
            <a:srgbClr val="0F2742"/>
          </a:solidFill>
          <a:ln w="8890">
            <a:solidFill>
              <a:srgbClr val="0F274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0" y="2157984"/>
            <a:ext cx="502920" cy="4846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3136392" y="2880360"/>
            <a:ext cx="1554480" cy="29260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产出缺口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127248" y="3584448"/>
            <a:ext cx="1572768" cy="32918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Y与Y*的距离？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4965192" y="3017520"/>
            <a:ext cx="237744" cy="182880"/>
          </a:xfrm>
          <a:prstGeom prst="rightArrow">
            <a:avLst/>
          </a:prstGeom>
          <a:solidFill>
            <a:srgbClr val="637085"/>
          </a:solidFill>
          <a:ln w="12700">
            <a:solidFill>
              <a:srgbClr val="637085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257800" y="1920240"/>
            <a:ext cx="1874520" cy="2651760"/>
          </a:xfrm>
          <a:prstGeom prst="roundRect">
            <a:avLst>
              <a:gd name="adj" fmla="val 7805"/>
            </a:avLst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943600" y="2148840"/>
            <a:ext cx="502920" cy="502920"/>
          </a:xfrm>
          <a:prstGeom prst="roundRect">
            <a:avLst>
              <a:gd name="adj" fmla="val 29091"/>
            </a:avLst>
          </a:prstGeom>
          <a:solidFill>
            <a:srgbClr val="0F2742"/>
          </a:solidFill>
          <a:ln w="8890">
            <a:solidFill>
              <a:srgbClr val="0F274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0" y="2157984"/>
            <a:ext cx="502920" cy="4846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5422392" y="2880360"/>
            <a:ext cx="1554480" cy="29260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通胀预期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413248" y="3584448"/>
            <a:ext cx="1572768" cy="32918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πᵉ是否失锚？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7251192" y="3017520"/>
            <a:ext cx="237744" cy="182880"/>
          </a:xfrm>
          <a:prstGeom prst="rightArrow">
            <a:avLst/>
          </a:prstGeom>
          <a:solidFill>
            <a:srgbClr val="637085"/>
          </a:solidFill>
          <a:ln w="12700">
            <a:solidFill>
              <a:srgbClr val="637085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543800" y="1920240"/>
            <a:ext cx="1874520" cy="2651760"/>
          </a:xfrm>
          <a:prstGeom prst="roundRect">
            <a:avLst>
              <a:gd name="adj" fmla="val 7805"/>
            </a:avLst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229600" y="2148840"/>
            <a:ext cx="502920" cy="502920"/>
          </a:xfrm>
          <a:prstGeom prst="roundRect">
            <a:avLst>
              <a:gd name="adj" fmla="val 29091"/>
            </a:avLst>
          </a:prstGeom>
          <a:solidFill>
            <a:srgbClr val="0F2742"/>
          </a:solidFill>
          <a:ln w="8890">
            <a:solidFill>
              <a:srgbClr val="0F274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29600" y="2157984"/>
            <a:ext cx="502920" cy="4846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7708392" y="2880360"/>
            <a:ext cx="1554480" cy="29260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实际利率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7699248" y="3584448"/>
            <a:ext cx="1572768" cy="32918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r=i-πᵉ是否紧？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9537192" y="3017520"/>
            <a:ext cx="237744" cy="182880"/>
          </a:xfrm>
          <a:prstGeom prst="rightArrow">
            <a:avLst/>
          </a:prstGeom>
          <a:solidFill>
            <a:srgbClr val="637085"/>
          </a:solidFill>
          <a:ln w="12700">
            <a:solidFill>
              <a:srgbClr val="637085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829800" y="1920240"/>
            <a:ext cx="1874520" cy="2651760"/>
          </a:xfrm>
          <a:prstGeom prst="roundRect">
            <a:avLst>
              <a:gd name="adj" fmla="val 7805"/>
            </a:avLst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0515600" y="2148840"/>
            <a:ext cx="502920" cy="502920"/>
          </a:xfrm>
          <a:prstGeom prst="roundRect">
            <a:avLst>
              <a:gd name="adj" fmla="val 29091"/>
            </a:avLst>
          </a:prstGeom>
          <a:solidFill>
            <a:srgbClr val="0F2742"/>
          </a:solidFill>
          <a:ln w="8890">
            <a:solidFill>
              <a:srgbClr val="0F274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515600" y="2157984"/>
            <a:ext cx="502920" cy="4846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5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9994392" y="2880360"/>
            <a:ext cx="1554480" cy="29260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政策代价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9985248" y="3584448"/>
            <a:ext cx="1572768" cy="32918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债务、失业、资产价格？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1828800" y="5669280"/>
            <a:ext cx="8503920" cy="32918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宏观经济学的价值：把新闻中的“现象”拆成冲击、传导、政策、预期和副作用。</a:t>
            </a:r>
            <a:endParaRPr lang="en-US" sz="1700" dirty="0"/>
          </a:p>
        </p:txBody>
      </p:sp>
      <p:sp>
        <p:nvSpPr>
          <p:cNvPr id="36" name="Text 34"/>
          <p:cNvSpPr/>
          <p:nvPr/>
        </p:nvSpPr>
        <p:spPr>
          <a:xfrm>
            <a:off x="11274552" y="642823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CA3AF"/>
                </a:solidFill>
              </a:rPr>
              <a:t>19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9052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72033"/>
                </a:solidFill>
              </a:rPr>
              <a:t>案例因果链：1970年代滞胀如何形成并被终结？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30352" y="859536"/>
            <a:ext cx="9829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637085"/>
                </a:solidFill>
              </a:rPr>
              <a:t>把复杂历史压缩成一条可复用的机制链。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9921240" y="38404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37085"/>
                </a:solidFill>
              </a:rPr>
              <a:t>宏观经济学案例课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02920" y="1207008"/>
            <a:ext cx="11201400" cy="0"/>
          </a:xfrm>
          <a:prstGeom prst="line">
            <a:avLst/>
          </a:prstGeom>
          <a:noFill/>
          <a:ln w="11430">
            <a:solidFill>
              <a:srgbClr val="D6D3C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417320"/>
            <a:ext cx="3063240" cy="822960"/>
          </a:xfrm>
          <a:prstGeom prst="roundRect">
            <a:avLst>
              <a:gd name="adj" fmla="val 13333"/>
            </a:avLst>
          </a:prstGeom>
          <a:solidFill>
            <a:srgbClr val="FEF3C7"/>
          </a:solidFill>
          <a:ln w="889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1832" y="1673352"/>
            <a:ext cx="274320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长期宽松与需求偏热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3959352" y="1719072"/>
            <a:ext cx="320040" cy="219456"/>
          </a:xfrm>
          <a:prstGeom prst="rightArrow">
            <a:avLst/>
          </a:prstGeom>
          <a:solidFill>
            <a:srgbClr val="637085"/>
          </a:solidFill>
          <a:ln w="12700">
            <a:solidFill>
              <a:srgbClr val="637085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44568" y="1417320"/>
            <a:ext cx="3063240" cy="822960"/>
          </a:xfrm>
          <a:prstGeom prst="roundRect">
            <a:avLst>
              <a:gd name="adj" fmla="val 13333"/>
            </a:avLst>
          </a:prstGeom>
          <a:solidFill>
            <a:srgbClr val="FEF3C7"/>
          </a:solidFill>
          <a:ln w="889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09160" y="1673352"/>
            <a:ext cx="274320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1973油价冲击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7726680" y="1719072"/>
            <a:ext cx="320040" cy="219456"/>
          </a:xfrm>
          <a:prstGeom prst="rightArrow">
            <a:avLst/>
          </a:prstGeom>
          <a:solidFill>
            <a:srgbClr val="637085"/>
          </a:solidFill>
          <a:ln w="12700">
            <a:solidFill>
              <a:srgbClr val="637085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311896" y="1417320"/>
            <a:ext cx="3063240" cy="822960"/>
          </a:xfrm>
          <a:prstGeom prst="roundRect">
            <a:avLst>
              <a:gd name="adj" fmla="val 13333"/>
            </a:avLst>
          </a:prstGeom>
          <a:solidFill>
            <a:srgbClr val="FEE2E2"/>
          </a:solidFill>
          <a:ln w="8890">
            <a:solidFill>
              <a:srgbClr val="DC262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76488" y="1673352"/>
            <a:ext cx="274320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成本上升：SRAS左移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777240" y="2926080"/>
            <a:ext cx="3063240" cy="822960"/>
          </a:xfrm>
          <a:prstGeom prst="roundRect">
            <a:avLst>
              <a:gd name="adj" fmla="val 13333"/>
            </a:avLst>
          </a:prstGeom>
          <a:solidFill>
            <a:srgbClr val="FEE2E2"/>
          </a:solidFill>
          <a:ln w="8890">
            <a:solidFill>
              <a:srgbClr val="DC262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41832" y="3182112"/>
            <a:ext cx="274320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通胀与失业同时上升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3959352" y="3227832"/>
            <a:ext cx="320040" cy="219456"/>
          </a:xfrm>
          <a:prstGeom prst="rightArrow">
            <a:avLst/>
          </a:prstGeom>
          <a:solidFill>
            <a:srgbClr val="637085"/>
          </a:solidFill>
          <a:ln w="12700">
            <a:solidFill>
              <a:srgbClr val="637085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44568" y="2926080"/>
            <a:ext cx="3063240" cy="822960"/>
          </a:xfrm>
          <a:prstGeom prst="roundRect">
            <a:avLst>
              <a:gd name="adj" fmla="val 13333"/>
            </a:avLst>
          </a:prstGeom>
          <a:solidFill>
            <a:srgbClr val="FEE2E2"/>
          </a:solidFill>
          <a:ln w="8890">
            <a:solidFill>
              <a:srgbClr val="DC262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09160" y="3182112"/>
            <a:ext cx="274320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通胀预期失锚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7726680" y="3227832"/>
            <a:ext cx="320040" cy="219456"/>
          </a:xfrm>
          <a:prstGeom prst="rightArrow">
            <a:avLst/>
          </a:prstGeom>
          <a:solidFill>
            <a:srgbClr val="637085"/>
          </a:solidFill>
          <a:ln w="12700">
            <a:solidFill>
              <a:srgbClr val="637085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311896" y="2926080"/>
            <a:ext cx="3063240" cy="822960"/>
          </a:xfrm>
          <a:prstGeom prst="roundRect">
            <a:avLst>
              <a:gd name="adj" fmla="val 13333"/>
            </a:avLst>
          </a:prstGeom>
          <a:solidFill>
            <a:srgbClr val="FEE2E2"/>
          </a:solidFill>
          <a:ln w="8890">
            <a:solidFill>
              <a:srgbClr val="DC262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476488" y="3182112"/>
            <a:ext cx="274320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1979第二次油价冲击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777240" y="4434840"/>
            <a:ext cx="3063240" cy="822960"/>
          </a:xfrm>
          <a:prstGeom prst="roundRect">
            <a:avLst>
              <a:gd name="adj" fmla="val 13333"/>
            </a:avLst>
          </a:prstGeom>
          <a:solidFill>
            <a:srgbClr val="DBEAFE"/>
          </a:solidFill>
          <a:ln w="8890">
            <a:solidFill>
              <a:srgbClr val="2563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41832" y="4690872"/>
            <a:ext cx="274320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沃尔克高利率紧缩</a:t>
            </a:r>
            <a:endParaRPr lang="en-US" sz="1450" dirty="0"/>
          </a:p>
        </p:txBody>
      </p:sp>
      <p:sp>
        <p:nvSpPr>
          <p:cNvPr id="24" name="Shape 22"/>
          <p:cNvSpPr/>
          <p:nvPr/>
        </p:nvSpPr>
        <p:spPr>
          <a:xfrm>
            <a:off x="3959352" y="4736592"/>
            <a:ext cx="320040" cy="219456"/>
          </a:xfrm>
          <a:prstGeom prst="rightArrow">
            <a:avLst/>
          </a:prstGeom>
          <a:solidFill>
            <a:srgbClr val="637085"/>
          </a:solidFill>
          <a:ln w="12700">
            <a:solidFill>
              <a:srgbClr val="637085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44568" y="4434840"/>
            <a:ext cx="3063240" cy="822960"/>
          </a:xfrm>
          <a:prstGeom prst="roundRect">
            <a:avLst>
              <a:gd name="adj" fmla="val 13333"/>
            </a:avLst>
          </a:prstGeom>
          <a:solidFill>
            <a:srgbClr val="DBEAFE"/>
          </a:solidFill>
          <a:ln w="8890">
            <a:solidFill>
              <a:srgbClr val="2563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09160" y="4690872"/>
            <a:ext cx="274320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衰退压需求</a:t>
            </a:r>
            <a:endParaRPr lang="en-US" sz="1450" dirty="0"/>
          </a:p>
        </p:txBody>
      </p:sp>
      <p:sp>
        <p:nvSpPr>
          <p:cNvPr id="27" name="Shape 25"/>
          <p:cNvSpPr/>
          <p:nvPr/>
        </p:nvSpPr>
        <p:spPr>
          <a:xfrm>
            <a:off x="7726680" y="4736592"/>
            <a:ext cx="320040" cy="219456"/>
          </a:xfrm>
          <a:prstGeom prst="rightArrow">
            <a:avLst/>
          </a:prstGeom>
          <a:solidFill>
            <a:srgbClr val="637085"/>
          </a:solidFill>
          <a:ln w="12700">
            <a:solidFill>
              <a:srgbClr val="637085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311896" y="4434840"/>
            <a:ext cx="3063240" cy="822960"/>
          </a:xfrm>
          <a:prstGeom prst="roundRect">
            <a:avLst>
              <a:gd name="adj" fmla="val 13333"/>
            </a:avLst>
          </a:prstGeom>
          <a:solidFill>
            <a:srgbClr val="DBEAFE"/>
          </a:solidFill>
          <a:ln w="8890">
            <a:solidFill>
              <a:srgbClr val="2563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476488" y="4690872"/>
            <a:ext cx="274320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预期重置，通胀回落</a:t>
            </a:r>
            <a:endParaRPr lang="en-US" sz="1450" dirty="0"/>
          </a:p>
        </p:txBody>
      </p:sp>
      <p:sp>
        <p:nvSpPr>
          <p:cNvPr id="30" name="Text 28"/>
          <p:cNvSpPr/>
          <p:nvPr/>
        </p:nvSpPr>
        <p:spPr>
          <a:xfrm>
            <a:off x="11274552" y="642823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CA3AF"/>
                </a:solidFill>
              </a:rPr>
              <a:t>20</a:t>
            </a:r>
            <a:endParaRPr lang="en-US" sz="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9052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72033"/>
                </a:solidFill>
              </a:rPr>
              <a:t>参考资料与延伸阅读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30352" y="859536"/>
            <a:ext cx="9829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637085"/>
                </a:solidFill>
              </a:rPr>
              <a:t>用于核对历史事实、数据和宏观概念。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9921240" y="38404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37085"/>
                </a:solidFill>
              </a:rPr>
              <a:t>宏观经济学案例课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02920" y="1207008"/>
            <a:ext cx="11201400" cy="0"/>
          </a:xfrm>
          <a:prstGeom prst="line">
            <a:avLst/>
          </a:prstGeom>
          <a:noFill/>
          <a:ln w="11430">
            <a:solidFill>
              <a:srgbClr val="D6D3C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554480"/>
            <a:ext cx="10515600" cy="448056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43000" y="1920240"/>
            <a:ext cx="9875520" cy="3108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Federal Reserve History: The Great Inflation; Oil Shock of 1973-74; Oil Shock of 1978-79; Volcker anti-inflation measures; Recession of 1981-82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Federal Reserve Bank of St. Louis / FRED: CPI inflation, Federal Funds Effective Rate, unemployment-related data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U.S. Bureau of Labor Statistics: Consumer Price Index historical materials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标准宏观经济学框架：AD-AS、菲利普斯曲线、实际利率、预期与央行可信度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建议下一案例：日本1990年代资产负债表衰退 - 房地产泡沫、银行坏账、债务通缩、零利率与QE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1274552" y="642823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CA3AF"/>
                </a:solidFill>
              </a:rPr>
              <a:t>21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宏观经济学案例课件：滞胀与沃尔克冲击</dc:title>
  <dc:subject>宏观经济学：1970年代美国滞胀与沃尔克冲击</dc:subject>
  <dc:creator>OpenAI</dc:creator>
  <cp:lastModifiedBy>OpenAI</cp:lastModifiedBy>
  <cp:revision>1</cp:revision>
  <dcterms:created xsi:type="dcterms:W3CDTF">2026-08-20T08:06:12Z</dcterms:created>
  <dcterms:modified xsi:type="dcterms:W3CDTF">2026-08-20T08:06:12Z</dcterms:modified>
</cp:coreProperties>
</file>